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8" r:id="rId9"/>
    <p:sldId id="274" r:id="rId10"/>
    <p:sldId id="281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53" y="7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3110" cy="6858000"/>
          </a:xfrm>
          <a:custGeom>
            <a:avLst/>
            <a:gdLst/>
            <a:ahLst/>
            <a:cxnLst/>
            <a:rect l="l" t="t" r="r" b="b"/>
            <a:pathLst>
              <a:path w="12183110" h="6858000">
                <a:moveTo>
                  <a:pt x="0" y="6857999"/>
                </a:moveTo>
                <a:lnTo>
                  <a:pt x="12182855" y="6858000"/>
                </a:lnTo>
                <a:lnTo>
                  <a:pt x="12182856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18515" y="3047"/>
            <a:ext cx="11555095" cy="108585"/>
          </a:xfrm>
          <a:custGeom>
            <a:avLst/>
            <a:gdLst/>
            <a:ahLst/>
            <a:cxnLst/>
            <a:rect l="l" t="t" r="r" b="b"/>
            <a:pathLst>
              <a:path w="11555095" h="108585">
                <a:moveTo>
                  <a:pt x="11554968" y="0"/>
                </a:moveTo>
                <a:lnTo>
                  <a:pt x="0" y="0"/>
                </a:lnTo>
                <a:lnTo>
                  <a:pt x="0" y="108203"/>
                </a:lnTo>
                <a:lnTo>
                  <a:pt x="11554968" y="108203"/>
                </a:lnTo>
                <a:lnTo>
                  <a:pt x="115549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350250" cy="332740"/>
          </a:xfrm>
          <a:custGeom>
            <a:avLst/>
            <a:gdLst/>
            <a:ahLst/>
            <a:cxnLst/>
            <a:rect l="l" t="t" r="r" b="b"/>
            <a:pathLst>
              <a:path w="8350250" h="332740">
                <a:moveTo>
                  <a:pt x="0" y="332231"/>
                </a:moveTo>
                <a:lnTo>
                  <a:pt x="8349996" y="332231"/>
                </a:lnTo>
                <a:lnTo>
                  <a:pt x="8349996" y="0"/>
                </a:lnTo>
                <a:lnTo>
                  <a:pt x="0" y="0"/>
                </a:lnTo>
                <a:lnTo>
                  <a:pt x="0" y="33223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349995" y="0"/>
            <a:ext cx="3842385" cy="332740"/>
          </a:xfrm>
          <a:custGeom>
            <a:avLst/>
            <a:gdLst/>
            <a:ahLst/>
            <a:cxnLst/>
            <a:rect l="l" t="t" r="r" b="b"/>
            <a:pathLst>
              <a:path w="3842384" h="332740">
                <a:moveTo>
                  <a:pt x="3842004" y="0"/>
                </a:moveTo>
                <a:lnTo>
                  <a:pt x="0" y="0"/>
                </a:lnTo>
                <a:lnTo>
                  <a:pt x="0" y="332231"/>
                </a:lnTo>
                <a:lnTo>
                  <a:pt x="3842004" y="332231"/>
                </a:lnTo>
                <a:lnTo>
                  <a:pt x="3842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30708"/>
            <a:ext cx="12192000" cy="71755"/>
          </a:xfrm>
          <a:custGeom>
            <a:avLst/>
            <a:gdLst/>
            <a:ahLst/>
            <a:cxnLst/>
            <a:rect l="l" t="t" r="r" b="b"/>
            <a:pathLst>
              <a:path w="12192000" h="71754">
                <a:moveTo>
                  <a:pt x="12192000" y="0"/>
                </a:moveTo>
                <a:lnTo>
                  <a:pt x="0" y="0"/>
                </a:lnTo>
                <a:lnTo>
                  <a:pt x="0" y="71628"/>
                </a:lnTo>
                <a:lnTo>
                  <a:pt x="12192000" y="71628"/>
                </a:lnTo>
                <a:lnTo>
                  <a:pt x="12192000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0472" y="404240"/>
            <a:ext cx="5961253" cy="659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680" y="1767839"/>
            <a:ext cx="5191125" cy="1932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523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" y="0"/>
            <a:ext cx="10079736" cy="4224528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3150107" y="1139952"/>
            <a:ext cx="5892165" cy="194310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48615" rIns="0" bIns="0" rtlCol="0">
            <a:spAutoFit/>
          </a:bodyPr>
          <a:lstStyle/>
          <a:p>
            <a:pPr marL="927100" marR="546100" indent="-212090">
              <a:lnSpc>
                <a:spcPct val="150000"/>
              </a:lnSpc>
              <a:spcBef>
                <a:spcPts val="2745"/>
              </a:spcBef>
            </a:pPr>
            <a:r>
              <a:rPr sz="2400" b="1" spc="235" dirty="0">
                <a:solidFill>
                  <a:srgbClr val="FFFFFF"/>
                </a:solidFill>
                <a:latin typeface="Lucida Sans"/>
                <a:cs typeface="Lucida Sans"/>
              </a:rPr>
              <a:t>The</a:t>
            </a:r>
            <a:r>
              <a:rPr sz="2400" b="1" spc="-10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400" b="1" spc="114" dirty="0">
                <a:solidFill>
                  <a:srgbClr val="FFFFFF"/>
                </a:solidFill>
                <a:latin typeface="Lucida Sans"/>
                <a:cs typeface="Lucida Sans"/>
              </a:rPr>
              <a:t>innovating</a:t>
            </a:r>
            <a:r>
              <a:rPr sz="2400" b="1" spc="-8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400" b="1" spc="150" dirty="0">
                <a:solidFill>
                  <a:srgbClr val="FFFFFF"/>
                </a:solidFill>
                <a:latin typeface="Lucida Sans"/>
                <a:cs typeface="Lucida Sans"/>
              </a:rPr>
              <a:t>pioneer</a:t>
            </a:r>
            <a:r>
              <a:rPr sz="2400" b="1" spc="-8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400" b="1" spc="110" dirty="0">
                <a:solidFill>
                  <a:srgbClr val="FFFFFF"/>
                </a:solidFill>
                <a:latin typeface="Lucida Sans"/>
                <a:cs typeface="Lucida Sans"/>
              </a:rPr>
              <a:t>for </a:t>
            </a:r>
            <a:r>
              <a:rPr sz="2400" b="1" spc="310" dirty="0">
                <a:solidFill>
                  <a:srgbClr val="FFFFFF"/>
                </a:solidFill>
                <a:latin typeface="Lucida Sans"/>
                <a:cs typeface="Lucida Sans"/>
              </a:rPr>
              <a:t>a</a:t>
            </a:r>
            <a:r>
              <a:rPr sz="2400" b="1" spc="-6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400" b="1" spc="155" dirty="0">
                <a:solidFill>
                  <a:srgbClr val="FFFFFF"/>
                </a:solidFill>
                <a:latin typeface="Lucida Sans"/>
                <a:cs typeface="Lucida Sans"/>
              </a:rPr>
              <a:t>sustainable</a:t>
            </a:r>
            <a:r>
              <a:rPr sz="2400" b="1" spc="-10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400" b="1" spc="190" dirty="0">
                <a:solidFill>
                  <a:srgbClr val="FFFFFF"/>
                </a:solidFill>
                <a:latin typeface="Lucida Sans"/>
                <a:cs typeface="Lucida Sans"/>
              </a:rPr>
              <a:t>tomorrow</a:t>
            </a:r>
            <a:endParaRPr sz="2400">
              <a:latin typeface="Lucida Sans"/>
              <a:cs typeface="Lucida San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39724" y="4226052"/>
            <a:ext cx="10503535" cy="2632075"/>
            <a:chOff x="839724" y="4226052"/>
            <a:chExt cx="10503535" cy="2632075"/>
          </a:xfrm>
        </p:grpSpPr>
        <p:sp>
          <p:nvSpPr>
            <p:cNvPr id="4" name="object 4"/>
            <p:cNvSpPr/>
            <p:nvPr/>
          </p:nvSpPr>
          <p:spPr>
            <a:xfrm>
              <a:off x="1056132" y="5995416"/>
              <a:ext cx="10079990" cy="862965"/>
            </a:xfrm>
            <a:custGeom>
              <a:avLst/>
              <a:gdLst/>
              <a:ahLst/>
              <a:cxnLst/>
              <a:rect l="l" t="t" r="r" b="b"/>
              <a:pathLst>
                <a:path w="10079990" h="862965">
                  <a:moveTo>
                    <a:pt x="10079736" y="0"/>
                  </a:moveTo>
                  <a:lnTo>
                    <a:pt x="0" y="0"/>
                  </a:lnTo>
                  <a:lnTo>
                    <a:pt x="0" y="862584"/>
                  </a:lnTo>
                  <a:lnTo>
                    <a:pt x="10079736" y="862584"/>
                  </a:lnTo>
                  <a:lnTo>
                    <a:pt x="100797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9724" y="4226051"/>
              <a:ext cx="10503535" cy="1769745"/>
            </a:xfrm>
            <a:custGeom>
              <a:avLst/>
              <a:gdLst/>
              <a:ahLst/>
              <a:cxnLst/>
              <a:rect l="l" t="t" r="r" b="b"/>
              <a:pathLst>
                <a:path w="10503535" h="1769745">
                  <a:moveTo>
                    <a:pt x="214884" y="0"/>
                  </a:moveTo>
                  <a:lnTo>
                    <a:pt x="0" y="0"/>
                  </a:lnTo>
                  <a:lnTo>
                    <a:pt x="0" y="1769364"/>
                  </a:lnTo>
                  <a:lnTo>
                    <a:pt x="214884" y="1769364"/>
                  </a:lnTo>
                  <a:lnTo>
                    <a:pt x="214884" y="0"/>
                  </a:lnTo>
                  <a:close/>
                </a:path>
                <a:path w="10503535" h="1769745">
                  <a:moveTo>
                    <a:pt x="10503408" y="0"/>
                  </a:moveTo>
                  <a:lnTo>
                    <a:pt x="10290048" y="0"/>
                  </a:lnTo>
                  <a:lnTo>
                    <a:pt x="10290048" y="1769364"/>
                  </a:lnTo>
                  <a:lnTo>
                    <a:pt x="10503408" y="1769364"/>
                  </a:lnTo>
                  <a:lnTo>
                    <a:pt x="105034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75816" y="5224272"/>
              <a:ext cx="2526665" cy="0"/>
            </a:xfrm>
            <a:custGeom>
              <a:avLst/>
              <a:gdLst/>
              <a:ahLst/>
              <a:cxnLst/>
              <a:rect l="l" t="t" r="r" b="b"/>
              <a:pathLst>
                <a:path w="2526665">
                  <a:moveTo>
                    <a:pt x="0" y="0"/>
                  </a:moveTo>
                  <a:lnTo>
                    <a:pt x="252615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86611" y="4801615"/>
            <a:ext cx="25190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60" dirty="0">
                <a:latin typeface="Malgun Gothic"/>
                <a:cs typeface="Malgun Gothic"/>
              </a:rPr>
              <a:t>2026년</a:t>
            </a:r>
            <a:r>
              <a:rPr sz="2200" b="1" spc="-480" dirty="0">
                <a:latin typeface="Malgun Gothic"/>
                <a:cs typeface="Malgun Gothic"/>
              </a:rPr>
              <a:t> </a:t>
            </a:r>
            <a:r>
              <a:rPr sz="2200" b="1" spc="-240" dirty="0">
                <a:latin typeface="Malgun Gothic"/>
                <a:cs typeface="Malgun Gothic"/>
              </a:rPr>
              <a:t>2분기</a:t>
            </a:r>
            <a:r>
              <a:rPr sz="2200" b="1" spc="-484" dirty="0">
                <a:latin typeface="Malgun Gothic"/>
                <a:cs typeface="Malgun Gothic"/>
              </a:rPr>
              <a:t> </a:t>
            </a:r>
            <a:r>
              <a:rPr sz="2200" b="1" spc="-350" dirty="0">
                <a:latin typeface="Malgun Gothic"/>
                <a:cs typeface="Malgun Gothic"/>
              </a:rPr>
              <a:t>실적발표</a:t>
            </a:r>
            <a:endParaRPr sz="2200">
              <a:latin typeface="Malgun Gothic"/>
              <a:cs typeface="Malgun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1619" y="6249923"/>
            <a:ext cx="1641348" cy="32765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899142" y="6312204"/>
            <a:ext cx="9340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30" dirty="0">
                <a:latin typeface="Malgun Gothic"/>
                <a:cs typeface="Malgun Gothic"/>
              </a:rPr>
              <a:t>Investor</a:t>
            </a:r>
            <a:r>
              <a:rPr sz="900" b="1" spc="-114" dirty="0">
                <a:latin typeface="Malgun Gothic"/>
                <a:cs typeface="Malgun Gothic"/>
              </a:rPr>
              <a:t> </a:t>
            </a:r>
            <a:r>
              <a:rPr sz="900" b="1" spc="-30" dirty="0">
                <a:latin typeface="Malgun Gothic"/>
                <a:cs typeface="Malgun Gothic"/>
              </a:rPr>
              <a:t>Relations</a:t>
            </a:r>
            <a:endParaRPr sz="9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208279" y="70866"/>
            <a:ext cx="1760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algun Gothic"/>
                <a:cs typeface="Malgun Gothic"/>
              </a:rPr>
              <a:t>Financials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spc="-210" dirty="0">
                <a:latin typeface="Malgun Gothic"/>
                <a:cs typeface="Malgun Gothic"/>
              </a:rPr>
              <a:t>&gt;</a:t>
            </a:r>
            <a:r>
              <a:rPr sz="1200" spc="-175" dirty="0">
                <a:latin typeface="Malgun Gothic"/>
                <a:cs typeface="Malgun Gothic"/>
              </a:rPr>
              <a:t> </a:t>
            </a:r>
            <a:r>
              <a:rPr sz="1200" b="1" spc="-60" dirty="0">
                <a:solidFill>
                  <a:srgbClr val="626366"/>
                </a:solidFill>
                <a:latin typeface="Malgun Gothic"/>
                <a:cs typeface="Malgun Gothic"/>
              </a:rPr>
              <a:t>2Q26</a:t>
            </a:r>
            <a:r>
              <a:rPr sz="1200" b="1" spc="-120" dirty="0">
                <a:solidFill>
                  <a:srgbClr val="626366"/>
                </a:solidFill>
                <a:latin typeface="Malgun Gothic"/>
                <a:cs typeface="Malgun Gothic"/>
              </a:rPr>
              <a:t> </a:t>
            </a:r>
            <a:r>
              <a:rPr sz="1200" spc="-160" dirty="0">
                <a:solidFill>
                  <a:srgbClr val="626366"/>
                </a:solidFill>
                <a:latin typeface="Malgun Gothic"/>
                <a:cs typeface="Malgun Gothic"/>
              </a:rPr>
              <a:t>손익현황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907526" y="65988"/>
            <a:ext cx="27679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한화에어로스페이스</a:t>
            </a:r>
            <a:r>
              <a:rPr sz="1200" spc="-18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2026년</a:t>
            </a:r>
            <a:r>
              <a:rPr sz="1200" spc="-1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Malgun Gothic"/>
                <a:cs typeface="Malgun Gothic"/>
              </a:rPr>
              <a:t>2분기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실적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발표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44959" y="74422"/>
            <a:ext cx="1047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FFFFFF"/>
                </a:solidFill>
                <a:latin typeface="Malgun Gothic"/>
                <a:cs typeface="Malgun Gothic"/>
              </a:rPr>
              <a:t>6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20472" y="657605"/>
            <a:ext cx="25704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latin typeface="Malgun Gothic"/>
                <a:cs typeface="Malgun Gothic"/>
              </a:rPr>
              <a:t>2Q26</a:t>
            </a:r>
            <a:r>
              <a:rPr sz="2500" spc="-340" dirty="0">
                <a:latin typeface="Malgun Gothic"/>
                <a:cs typeface="Malgun Gothic"/>
              </a:rPr>
              <a:t> </a:t>
            </a:r>
            <a:r>
              <a:rPr sz="2500" spc="-275" dirty="0">
                <a:latin typeface="Malgun Gothic"/>
                <a:cs typeface="Malgun Gothic"/>
              </a:rPr>
              <a:t>손익현황</a:t>
            </a:r>
            <a:r>
              <a:rPr sz="2500" spc="-320" dirty="0">
                <a:latin typeface="Malgun Gothic"/>
                <a:cs typeface="Malgun Gothic"/>
              </a:rPr>
              <a:t> </a:t>
            </a:r>
            <a:r>
              <a:rPr sz="2500" spc="-25" dirty="0">
                <a:latin typeface="Malgun Gothic"/>
                <a:cs typeface="Malgun Gothic"/>
              </a:rPr>
              <a:t>(Ⅰ)</a:t>
            </a:r>
            <a:endParaRPr sz="2500">
              <a:latin typeface="Malgun Gothic"/>
              <a:cs typeface="Malgun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17931" y="1144524"/>
            <a:ext cx="11687175" cy="97790"/>
            <a:chOff x="217931" y="1144524"/>
            <a:chExt cx="11687175" cy="97790"/>
          </a:xfrm>
        </p:grpSpPr>
        <p:sp>
          <p:nvSpPr>
            <p:cNvPr id="17" name="object 17"/>
            <p:cNvSpPr/>
            <p:nvPr/>
          </p:nvSpPr>
          <p:spPr>
            <a:xfrm>
              <a:off x="217931" y="1239012"/>
              <a:ext cx="11687175" cy="0"/>
            </a:xfrm>
            <a:custGeom>
              <a:avLst/>
              <a:gdLst/>
              <a:ahLst/>
              <a:cxnLst/>
              <a:rect l="l" t="t" r="r" b="b"/>
              <a:pathLst>
                <a:path w="11687175">
                  <a:moveTo>
                    <a:pt x="0" y="0"/>
                  </a:moveTo>
                  <a:lnTo>
                    <a:pt x="1168666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7931" y="1144524"/>
              <a:ext cx="1979930" cy="82550"/>
            </a:xfrm>
            <a:custGeom>
              <a:avLst/>
              <a:gdLst/>
              <a:ahLst/>
              <a:cxnLst/>
              <a:rect l="l" t="t" r="r" b="b"/>
              <a:pathLst>
                <a:path w="1979930" h="82550">
                  <a:moveTo>
                    <a:pt x="1979676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1979676" y="82296"/>
                  </a:lnTo>
                  <a:lnTo>
                    <a:pt x="1979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20472" y="1585924"/>
            <a:ext cx="24384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75" dirty="0">
                <a:latin typeface="Malgun Gothic"/>
                <a:cs typeface="Malgun Gothic"/>
              </a:rPr>
              <a:t>매출액</a:t>
            </a:r>
            <a:r>
              <a:rPr sz="1600" b="1" spc="-325" dirty="0">
                <a:latin typeface="Malgun Gothic"/>
                <a:cs typeface="Malgun Gothic"/>
              </a:rPr>
              <a:t> </a:t>
            </a:r>
            <a:r>
              <a:rPr sz="1600" b="1" spc="-265" dirty="0">
                <a:latin typeface="Malgun Gothic"/>
                <a:cs typeface="Malgun Gothic"/>
              </a:rPr>
              <a:t>전년</a:t>
            </a:r>
            <a:r>
              <a:rPr sz="1600" b="1" spc="-395" dirty="0">
                <a:latin typeface="Malgun Gothic"/>
                <a:cs typeface="Malgun Gothic"/>
              </a:rPr>
              <a:t> </a:t>
            </a:r>
            <a:r>
              <a:rPr sz="1600" b="1" spc="-245" dirty="0">
                <a:latin typeface="Malgun Gothic"/>
                <a:cs typeface="Malgun Gothic"/>
              </a:rPr>
              <a:t>동기대비</a:t>
            </a:r>
            <a:r>
              <a:rPr sz="1600" b="1" spc="-325" dirty="0">
                <a:latin typeface="Malgun Gothic"/>
                <a:cs typeface="Malgun Gothic"/>
              </a:rPr>
              <a:t> </a:t>
            </a:r>
            <a:r>
              <a:rPr sz="1600" b="1" spc="-75" dirty="0">
                <a:solidFill>
                  <a:srgbClr val="88BCFA"/>
                </a:solidFill>
                <a:latin typeface="Malgun Gothic"/>
                <a:cs typeface="Malgun Gothic"/>
              </a:rPr>
              <a:t>47</a:t>
            </a:r>
            <a:r>
              <a:rPr sz="1600" b="1" spc="-38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88BCFA"/>
                </a:solidFill>
                <a:latin typeface="Malgun Gothic"/>
                <a:cs typeface="Malgun Gothic"/>
              </a:rPr>
              <a:t>%</a:t>
            </a:r>
            <a:r>
              <a:rPr sz="1600" b="1" spc="-37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1600" b="1" spc="-280" dirty="0">
                <a:latin typeface="Malgun Gothic"/>
                <a:cs typeface="Malgun Gothic"/>
              </a:rPr>
              <a:t>증가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8046" y="3126739"/>
            <a:ext cx="1507490" cy="373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4130" algn="ctr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latin typeface="Malgun Gothic"/>
                <a:cs typeface="Malgun Gothic"/>
              </a:rPr>
              <a:t>지상방산(Land</a:t>
            </a:r>
            <a:r>
              <a:rPr sz="1000" spc="-45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Systems)</a:t>
            </a:r>
            <a:endParaRPr sz="10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국내외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물량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증가에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따른</a:t>
            </a:r>
            <a:r>
              <a:rPr sz="800" spc="-12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매출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증가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88BCFA"/>
                </a:solidFill>
                <a:latin typeface="Malgun Gothic"/>
                <a:cs typeface="Malgun Gothic"/>
              </a:rPr>
              <a:t>▲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25498" y="3126486"/>
            <a:ext cx="1360805" cy="373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-60" dirty="0">
                <a:latin typeface="Malgun Gothic"/>
                <a:cs typeface="Malgun Gothic"/>
              </a:rPr>
              <a:t>항공우주(항공/엔진/우주)</a:t>
            </a:r>
            <a:endParaRPr sz="10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물량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증가에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따른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매출</a:t>
            </a:r>
            <a:r>
              <a:rPr sz="800" spc="-11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증가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88BCFA"/>
                </a:solidFill>
                <a:latin typeface="Malgun Gothic"/>
                <a:cs typeface="Malgun Gothic"/>
              </a:rPr>
              <a:t>▲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505956" y="2090927"/>
            <a:ext cx="775970" cy="1350645"/>
          </a:xfrm>
          <a:custGeom>
            <a:avLst/>
            <a:gdLst/>
            <a:ahLst/>
            <a:cxnLst/>
            <a:rect l="l" t="t" r="r" b="b"/>
            <a:pathLst>
              <a:path w="775970" h="1350645">
                <a:moveTo>
                  <a:pt x="775716" y="0"/>
                </a:moveTo>
                <a:lnTo>
                  <a:pt x="0" y="0"/>
                </a:lnTo>
                <a:lnTo>
                  <a:pt x="0" y="1350264"/>
                </a:lnTo>
                <a:lnTo>
                  <a:pt x="775716" y="1350264"/>
                </a:lnTo>
                <a:lnTo>
                  <a:pt x="775716" y="0"/>
                </a:lnTo>
                <a:close/>
              </a:path>
            </a:pathLst>
          </a:custGeom>
          <a:solidFill>
            <a:srgbClr val="C6DF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505956" y="2162302"/>
            <a:ext cx="775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Malgun Gothic"/>
                <a:cs typeface="Malgun Gothic"/>
              </a:rPr>
              <a:t>63,110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21880" y="1453896"/>
            <a:ext cx="775970" cy="1987550"/>
          </a:xfrm>
          <a:custGeom>
            <a:avLst/>
            <a:gdLst/>
            <a:ahLst/>
            <a:cxnLst/>
            <a:rect l="l" t="t" r="r" b="b"/>
            <a:pathLst>
              <a:path w="775970" h="1987550">
                <a:moveTo>
                  <a:pt x="775716" y="0"/>
                </a:moveTo>
                <a:lnTo>
                  <a:pt x="0" y="0"/>
                </a:lnTo>
                <a:lnTo>
                  <a:pt x="0" y="1987295"/>
                </a:lnTo>
                <a:lnTo>
                  <a:pt x="775716" y="1987295"/>
                </a:lnTo>
                <a:lnTo>
                  <a:pt x="775716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421880" y="1524761"/>
            <a:ext cx="775970" cy="862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Malgun Gothic"/>
                <a:cs typeface="Malgun Gothic"/>
              </a:rPr>
              <a:t>92,929</a:t>
            </a:r>
            <a:endParaRPr sz="12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endParaRPr sz="1200">
              <a:latin typeface="Malgun Gothic"/>
              <a:cs typeface="Malgun Gothic"/>
            </a:endParaRPr>
          </a:p>
          <a:p>
            <a:pPr marL="206375">
              <a:lnSpc>
                <a:spcPct val="100000"/>
              </a:lnSpc>
            </a:pPr>
            <a:r>
              <a:rPr sz="1200" b="1" spc="-20" dirty="0">
                <a:latin typeface="Malgun Gothic"/>
                <a:cs typeface="Malgun Gothic"/>
              </a:rPr>
              <a:t>+47%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108185" y="1668906"/>
            <a:ext cx="101091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85" dirty="0">
                <a:latin typeface="Malgun Gothic"/>
                <a:cs typeface="Malgun Gothic"/>
              </a:rPr>
              <a:t>매출액</a:t>
            </a:r>
            <a:r>
              <a:rPr sz="1600" b="1" spc="-225" dirty="0">
                <a:latin typeface="Malgun Gothic"/>
                <a:cs typeface="Malgun Gothic"/>
              </a:rPr>
              <a:t> </a:t>
            </a:r>
            <a:r>
              <a:rPr sz="1600" b="1" spc="-130" dirty="0">
                <a:latin typeface="Malgun Gothic"/>
                <a:cs typeface="Malgun Gothic"/>
              </a:rPr>
              <a:t>2Q26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048238" y="1900554"/>
            <a:ext cx="40703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90" dirty="0">
                <a:solidFill>
                  <a:srgbClr val="7E7E7E"/>
                </a:solidFill>
                <a:latin typeface="Malgun Gothic"/>
                <a:cs typeface="Malgun Gothic"/>
              </a:rPr>
              <a:t>단위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dirty="0">
                <a:solidFill>
                  <a:srgbClr val="7E7E7E"/>
                </a:solidFill>
                <a:latin typeface="Malgun Gothic"/>
                <a:cs typeface="Malgun Gothic"/>
              </a:rPr>
              <a:t>: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50" dirty="0">
                <a:solidFill>
                  <a:srgbClr val="7E7E7E"/>
                </a:solidFill>
                <a:latin typeface="Malgun Gothic"/>
                <a:cs typeface="Malgun Gothic"/>
              </a:rPr>
              <a:t>억원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525382" y="2129155"/>
            <a:ext cx="39116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75" dirty="0">
                <a:latin typeface="Malgun Gothic"/>
                <a:cs typeface="Malgun Gothic"/>
              </a:rPr>
              <a:t>지상방산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139237" y="2072449"/>
            <a:ext cx="2306320" cy="1421130"/>
            <a:chOff x="9139237" y="2072449"/>
            <a:chExt cx="2306320" cy="1421130"/>
          </a:xfrm>
        </p:grpSpPr>
        <p:sp>
          <p:nvSpPr>
            <p:cNvPr id="34" name="object 34"/>
            <p:cNvSpPr/>
            <p:nvPr/>
          </p:nvSpPr>
          <p:spPr>
            <a:xfrm>
              <a:off x="9144000" y="2077211"/>
              <a:ext cx="2296795" cy="1411605"/>
            </a:xfrm>
            <a:custGeom>
              <a:avLst/>
              <a:gdLst/>
              <a:ahLst/>
              <a:cxnLst/>
              <a:rect l="l" t="t" r="r" b="b"/>
              <a:pathLst>
                <a:path w="2296795" h="1411604">
                  <a:moveTo>
                    <a:pt x="0" y="0"/>
                  </a:moveTo>
                  <a:lnTo>
                    <a:pt x="2296668" y="0"/>
                  </a:lnTo>
                </a:path>
                <a:path w="2296795" h="1411604">
                  <a:moveTo>
                    <a:pt x="0" y="281939"/>
                  </a:moveTo>
                  <a:lnTo>
                    <a:pt x="2296668" y="281939"/>
                  </a:lnTo>
                </a:path>
                <a:path w="2296795" h="1411604">
                  <a:moveTo>
                    <a:pt x="0" y="563879"/>
                  </a:moveTo>
                  <a:lnTo>
                    <a:pt x="2296668" y="563879"/>
                  </a:lnTo>
                </a:path>
                <a:path w="2296795" h="1411604">
                  <a:moveTo>
                    <a:pt x="0" y="845820"/>
                  </a:moveTo>
                  <a:lnTo>
                    <a:pt x="2296668" y="845820"/>
                  </a:lnTo>
                </a:path>
                <a:path w="2296795" h="1411604">
                  <a:moveTo>
                    <a:pt x="0" y="1127760"/>
                  </a:moveTo>
                  <a:lnTo>
                    <a:pt x="2296668" y="1127760"/>
                  </a:lnTo>
                </a:path>
                <a:path w="2296795" h="1411604">
                  <a:moveTo>
                    <a:pt x="0" y="1411224"/>
                  </a:moveTo>
                  <a:lnTo>
                    <a:pt x="2296668" y="1411224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194292" y="2157983"/>
              <a:ext cx="1889760" cy="1249680"/>
            </a:xfrm>
            <a:custGeom>
              <a:avLst/>
              <a:gdLst/>
              <a:ahLst/>
              <a:cxnLst/>
              <a:rect l="l" t="t" r="r" b="b"/>
              <a:pathLst>
                <a:path w="1889759" h="1249679">
                  <a:moveTo>
                    <a:pt x="51816" y="1127760"/>
                  </a:moveTo>
                  <a:lnTo>
                    <a:pt x="0" y="1127760"/>
                  </a:lnTo>
                  <a:lnTo>
                    <a:pt x="0" y="1249680"/>
                  </a:lnTo>
                  <a:lnTo>
                    <a:pt x="51816" y="1249680"/>
                  </a:lnTo>
                  <a:lnTo>
                    <a:pt x="51816" y="1127760"/>
                  </a:lnTo>
                  <a:close/>
                </a:path>
                <a:path w="1889759" h="1249679">
                  <a:moveTo>
                    <a:pt x="307848" y="281940"/>
                  </a:moveTo>
                  <a:lnTo>
                    <a:pt x="51816" y="281940"/>
                  </a:lnTo>
                  <a:lnTo>
                    <a:pt x="51816" y="402336"/>
                  </a:lnTo>
                  <a:lnTo>
                    <a:pt x="307848" y="402336"/>
                  </a:lnTo>
                  <a:lnTo>
                    <a:pt x="307848" y="281940"/>
                  </a:lnTo>
                  <a:close/>
                </a:path>
                <a:path w="1889759" h="1249679">
                  <a:moveTo>
                    <a:pt x="428244" y="563880"/>
                  </a:moveTo>
                  <a:lnTo>
                    <a:pt x="51816" y="563880"/>
                  </a:lnTo>
                  <a:lnTo>
                    <a:pt x="51816" y="684276"/>
                  </a:lnTo>
                  <a:lnTo>
                    <a:pt x="428244" y="684276"/>
                  </a:lnTo>
                  <a:lnTo>
                    <a:pt x="428244" y="563880"/>
                  </a:lnTo>
                  <a:close/>
                </a:path>
                <a:path w="1889759" h="1249679">
                  <a:moveTo>
                    <a:pt x="763524" y="0"/>
                  </a:moveTo>
                  <a:lnTo>
                    <a:pt x="51816" y="0"/>
                  </a:lnTo>
                  <a:lnTo>
                    <a:pt x="51816" y="120396"/>
                  </a:lnTo>
                  <a:lnTo>
                    <a:pt x="763524" y="120396"/>
                  </a:lnTo>
                  <a:lnTo>
                    <a:pt x="763524" y="0"/>
                  </a:lnTo>
                  <a:close/>
                </a:path>
                <a:path w="1889759" h="1249679">
                  <a:moveTo>
                    <a:pt x="1889760" y="845820"/>
                  </a:moveTo>
                  <a:lnTo>
                    <a:pt x="51816" y="845820"/>
                  </a:lnTo>
                  <a:lnTo>
                    <a:pt x="51816" y="967740"/>
                  </a:lnTo>
                  <a:lnTo>
                    <a:pt x="1889760" y="967740"/>
                  </a:lnTo>
                  <a:lnTo>
                    <a:pt x="1889760" y="84582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0021061" y="2133345"/>
            <a:ext cx="34226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Malgun Gothic"/>
                <a:cs typeface="Malgun Gothic"/>
              </a:rPr>
              <a:t>21,075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25382" y="2411349"/>
            <a:ext cx="39116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75" dirty="0">
                <a:latin typeface="Malgun Gothic"/>
                <a:cs typeface="Malgun Gothic"/>
              </a:rPr>
              <a:t>항공우주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566275" y="2415667"/>
            <a:ext cx="28448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solidFill>
                  <a:srgbClr val="404040"/>
                </a:solidFill>
                <a:latin typeface="Malgun Gothic"/>
                <a:cs typeface="Malgun Gothic"/>
              </a:rPr>
              <a:t>7,600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574312" y="2511079"/>
            <a:ext cx="643890" cy="363220"/>
            <a:chOff x="574312" y="2511079"/>
            <a:chExt cx="643890" cy="363220"/>
          </a:xfrm>
        </p:grpSpPr>
        <p:sp>
          <p:nvSpPr>
            <p:cNvPr id="66" name="object 66"/>
            <p:cNvSpPr/>
            <p:nvPr/>
          </p:nvSpPr>
          <p:spPr>
            <a:xfrm>
              <a:off x="604841" y="2692501"/>
              <a:ext cx="450215" cy="121285"/>
            </a:xfrm>
            <a:custGeom>
              <a:avLst/>
              <a:gdLst/>
              <a:ahLst/>
              <a:cxnLst/>
              <a:rect l="l" t="t" r="r" b="b"/>
              <a:pathLst>
                <a:path w="450215" h="121285">
                  <a:moveTo>
                    <a:pt x="0" y="0"/>
                  </a:moveTo>
                  <a:lnTo>
                    <a:pt x="388291" y="0"/>
                  </a:lnTo>
                </a:path>
                <a:path w="450215" h="121285">
                  <a:moveTo>
                    <a:pt x="112403" y="115893"/>
                  </a:moveTo>
                  <a:lnTo>
                    <a:pt x="112403" y="118676"/>
                  </a:lnTo>
                  <a:lnTo>
                    <a:pt x="110112" y="120932"/>
                  </a:lnTo>
                  <a:lnTo>
                    <a:pt x="107294" y="120932"/>
                  </a:lnTo>
                  <a:lnTo>
                    <a:pt x="104467" y="120932"/>
                  </a:lnTo>
                  <a:lnTo>
                    <a:pt x="102185" y="118676"/>
                  </a:lnTo>
                  <a:lnTo>
                    <a:pt x="102185" y="115893"/>
                  </a:lnTo>
                  <a:lnTo>
                    <a:pt x="102185" y="113110"/>
                  </a:lnTo>
                  <a:lnTo>
                    <a:pt x="104467" y="110854"/>
                  </a:lnTo>
                  <a:lnTo>
                    <a:pt x="107294" y="110854"/>
                  </a:lnTo>
                  <a:lnTo>
                    <a:pt x="110112" y="110854"/>
                  </a:lnTo>
                  <a:lnTo>
                    <a:pt x="112403" y="113110"/>
                  </a:lnTo>
                  <a:lnTo>
                    <a:pt x="112403" y="115893"/>
                  </a:lnTo>
                  <a:close/>
                </a:path>
                <a:path w="450215" h="121285">
                  <a:moveTo>
                    <a:pt x="224802" y="115893"/>
                  </a:moveTo>
                  <a:lnTo>
                    <a:pt x="224802" y="118676"/>
                  </a:lnTo>
                  <a:lnTo>
                    <a:pt x="222511" y="120932"/>
                  </a:lnTo>
                  <a:lnTo>
                    <a:pt x="219693" y="120932"/>
                  </a:lnTo>
                  <a:lnTo>
                    <a:pt x="216866" y="120932"/>
                  </a:lnTo>
                  <a:lnTo>
                    <a:pt x="214584" y="118676"/>
                  </a:lnTo>
                  <a:lnTo>
                    <a:pt x="214584" y="115893"/>
                  </a:lnTo>
                  <a:lnTo>
                    <a:pt x="214584" y="113110"/>
                  </a:lnTo>
                  <a:lnTo>
                    <a:pt x="216866" y="110854"/>
                  </a:lnTo>
                  <a:lnTo>
                    <a:pt x="219693" y="110854"/>
                  </a:lnTo>
                  <a:lnTo>
                    <a:pt x="222511" y="110854"/>
                  </a:lnTo>
                  <a:lnTo>
                    <a:pt x="224802" y="113110"/>
                  </a:lnTo>
                  <a:lnTo>
                    <a:pt x="224802" y="115893"/>
                  </a:lnTo>
                  <a:close/>
                </a:path>
                <a:path w="450215" h="121285">
                  <a:moveTo>
                    <a:pt x="337201" y="115893"/>
                  </a:moveTo>
                  <a:lnTo>
                    <a:pt x="337201" y="118676"/>
                  </a:lnTo>
                  <a:lnTo>
                    <a:pt x="334910" y="120932"/>
                  </a:lnTo>
                  <a:lnTo>
                    <a:pt x="332092" y="120932"/>
                  </a:lnTo>
                  <a:lnTo>
                    <a:pt x="329265" y="120932"/>
                  </a:lnTo>
                  <a:lnTo>
                    <a:pt x="326983" y="118676"/>
                  </a:lnTo>
                  <a:lnTo>
                    <a:pt x="326983" y="115893"/>
                  </a:lnTo>
                  <a:lnTo>
                    <a:pt x="326983" y="113110"/>
                  </a:lnTo>
                  <a:lnTo>
                    <a:pt x="329265" y="110854"/>
                  </a:lnTo>
                  <a:lnTo>
                    <a:pt x="332092" y="110854"/>
                  </a:lnTo>
                  <a:lnTo>
                    <a:pt x="334910" y="110854"/>
                  </a:lnTo>
                  <a:lnTo>
                    <a:pt x="337201" y="113110"/>
                  </a:lnTo>
                  <a:lnTo>
                    <a:pt x="337201" y="115893"/>
                  </a:lnTo>
                  <a:close/>
                </a:path>
                <a:path w="450215" h="121285">
                  <a:moveTo>
                    <a:pt x="449600" y="115893"/>
                  </a:moveTo>
                  <a:lnTo>
                    <a:pt x="449600" y="118676"/>
                  </a:lnTo>
                  <a:lnTo>
                    <a:pt x="447309" y="120932"/>
                  </a:lnTo>
                  <a:lnTo>
                    <a:pt x="444491" y="120932"/>
                  </a:lnTo>
                  <a:lnTo>
                    <a:pt x="441664" y="120932"/>
                  </a:lnTo>
                  <a:lnTo>
                    <a:pt x="439382" y="118676"/>
                  </a:lnTo>
                  <a:lnTo>
                    <a:pt x="439382" y="115893"/>
                  </a:lnTo>
                  <a:lnTo>
                    <a:pt x="439382" y="113110"/>
                  </a:lnTo>
                  <a:lnTo>
                    <a:pt x="441664" y="110854"/>
                  </a:lnTo>
                  <a:lnTo>
                    <a:pt x="444491" y="110854"/>
                  </a:lnTo>
                  <a:lnTo>
                    <a:pt x="447309" y="110854"/>
                  </a:lnTo>
                  <a:lnTo>
                    <a:pt x="449600" y="113110"/>
                  </a:lnTo>
                  <a:lnTo>
                    <a:pt x="449600" y="115893"/>
                  </a:lnTo>
                  <a:close/>
                </a:path>
              </a:pathLst>
            </a:custGeom>
            <a:ln w="20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04841" y="2763047"/>
              <a:ext cx="562610" cy="100965"/>
            </a:xfrm>
            <a:custGeom>
              <a:avLst/>
              <a:gdLst/>
              <a:ahLst/>
              <a:cxnLst/>
              <a:rect l="l" t="t" r="r" b="b"/>
              <a:pathLst>
                <a:path w="562610" h="100964">
                  <a:moveTo>
                    <a:pt x="0" y="0"/>
                  </a:moveTo>
                  <a:lnTo>
                    <a:pt x="1117" y="58261"/>
                  </a:lnTo>
                  <a:lnTo>
                    <a:pt x="30177" y="99201"/>
                  </a:lnTo>
                  <a:lnTo>
                    <a:pt x="71530" y="100776"/>
                  </a:lnTo>
                  <a:lnTo>
                    <a:pt x="490472" y="100776"/>
                  </a:lnTo>
                  <a:lnTo>
                    <a:pt x="531824" y="99201"/>
                  </a:lnTo>
                  <a:lnTo>
                    <a:pt x="553058" y="88179"/>
                  </a:lnTo>
                  <a:lnTo>
                    <a:pt x="560881" y="58261"/>
                  </a:lnTo>
                  <a:lnTo>
                    <a:pt x="561999" y="0"/>
                  </a:lnTo>
                </a:path>
              </a:pathLst>
            </a:custGeom>
            <a:ln w="201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19425" y="2551408"/>
              <a:ext cx="194310" cy="90805"/>
            </a:xfrm>
            <a:custGeom>
              <a:avLst/>
              <a:gdLst/>
              <a:ahLst/>
              <a:cxnLst/>
              <a:rect l="l" t="t" r="r" b="b"/>
              <a:pathLst>
                <a:path w="194309" h="90805">
                  <a:moveTo>
                    <a:pt x="194143" y="90702"/>
                  </a:moveTo>
                  <a:lnTo>
                    <a:pt x="144177" y="16729"/>
                  </a:lnTo>
                  <a:lnTo>
                    <a:pt x="112399" y="0"/>
                  </a:lnTo>
                  <a:lnTo>
                    <a:pt x="0" y="0"/>
                  </a:lnTo>
                </a:path>
              </a:pathLst>
            </a:custGeom>
            <a:ln w="202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72697" y="2581643"/>
              <a:ext cx="245745" cy="0"/>
            </a:xfrm>
            <a:custGeom>
              <a:avLst/>
              <a:gdLst/>
              <a:ahLst/>
              <a:cxnLst/>
              <a:rect l="l" t="t" r="r" b="b"/>
              <a:pathLst>
                <a:path w="245744">
                  <a:moveTo>
                    <a:pt x="245234" y="0"/>
                  </a:moveTo>
                  <a:lnTo>
                    <a:pt x="0" y="0"/>
                  </a:lnTo>
                </a:path>
              </a:pathLst>
            </a:custGeom>
            <a:ln w="201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84405" y="2521174"/>
              <a:ext cx="603250" cy="232410"/>
            </a:xfrm>
            <a:custGeom>
              <a:avLst/>
              <a:gdLst/>
              <a:ahLst/>
              <a:cxnLst/>
              <a:rect l="l" t="t" r="r" b="b"/>
              <a:pathLst>
                <a:path w="603250" h="232410">
                  <a:moveTo>
                    <a:pt x="194148" y="30234"/>
                  </a:moveTo>
                  <a:lnTo>
                    <a:pt x="154841" y="31663"/>
                  </a:lnTo>
                  <a:lnTo>
                    <a:pt x="111381" y="92818"/>
                  </a:lnTo>
                  <a:lnTo>
                    <a:pt x="106290" y="100244"/>
                  </a:lnTo>
                  <a:lnTo>
                    <a:pt x="99158" y="107179"/>
                  </a:lnTo>
                  <a:lnTo>
                    <a:pt x="90934" y="112829"/>
                  </a:lnTo>
                  <a:lnTo>
                    <a:pt x="82566" y="116401"/>
                  </a:lnTo>
                  <a:lnTo>
                    <a:pt x="50375" y="125471"/>
                  </a:lnTo>
                  <a:lnTo>
                    <a:pt x="42274" y="129134"/>
                  </a:lnTo>
                  <a:lnTo>
                    <a:pt x="34767" y="135045"/>
                  </a:lnTo>
                  <a:lnTo>
                    <a:pt x="28677" y="142393"/>
                  </a:lnTo>
                  <a:lnTo>
                    <a:pt x="24829" y="150364"/>
                  </a:lnTo>
                  <a:lnTo>
                    <a:pt x="0" y="231794"/>
                  </a:lnTo>
                  <a:lnTo>
                    <a:pt x="602871" y="231795"/>
                  </a:lnTo>
                  <a:lnTo>
                    <a:pt x="551372" y="138674"/>
                  </a:lnTo>
                  <a:lnTo>
                    <a:pt x="521127" y="120936"/>
                  </a:lnTo>
                  <a:lnTo>
                    <a:pt x="204366" y="120936"/>
                  </a:lnTo>
                </a:path>
                <a:path w="603250" h="232410">
                  <a:moveTo>
                    <a:pt x="194148" y="30234"/>
                  </a:moveTo>
                  <a:lnTo>
                    <a:pt x="214584" y="0"/>
                  </a:lnTo>
                  <a:lnTo>
                    <a:pt x="255456" y="0"/>
                  </a:lnTo>
                  <a:lnTo>
                    <a:pt x="263391" y="1185"/>
                  </a:lnTo>
                  <a:lnTo>
                    <a:pt x="269889" y="4421"/>
                  </a:lnTo>
                  <a:lnTo>
                    <a:pt x="274280" y="9226"/>
                  </a:lnTo>
                  <a:lnTo>
                    <a:pt x="275892" y="15117"/>
                  </a:lnTo>
                  <a:lnTo>
                    <a:pt x="275892" y="30234"/>
                  </a:lnTo>
                </a:path>
              </a:pathLst>
            </a:custGeom>
            <a:ln w="20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4" name="object 6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4625" y="2263261"/>
            <a:ext cx="377403" cy="667359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3429000" y="2218054"/>
            <a:ext cx="1283335" cy="826135"/>
            <a:chOff x="3429000" y="2218054"/>
            <a:chExt cx="1283335" cy="826135"/>
          </a:xfrm>
        </p:grpSpPr>
        <p:sp>
          <p:nvSpPr>
            <p:cNvPr id="61" name="object 61"/>
            <p:cNvSpPr/>
            <p:nvPr/>
          </p:nvSpPr>
          <p:spPr>
            <a:xfrm>
              <a:off x="3429000" y="3037331"/>
              <a:ext cx="1283335" cy="0"/>
            </a:xfrm>
            <a:custGeom>
              <a:avLst/>
              <a:gdLst/>
              <a:ahLst/>
              <a:cxnLst/>
              <a:rect l="l" t="t" r="r" b="b"/>
              <a:pathLst>
                <a:path w="1283335">
                  <a:moveTo>
                    <a:pt x="0" y="0"/>
                  </a:moveTo>
                  <a:lnTo>
                    <a:pt x="1282953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5114" y="2218054"/>
              <a:ext cx="737495" cy="794763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5319297" y="2472354"/>
            <a:ext cx="523240" cy="239395"/>
            <a:chOff x="5319297" y="2472354"/>
            <a:chExt cx="523240" cy="239395"/>
          </a:xfrm>
        </p:grpSpPr>
        <p:pic>
          <p:nvPicPr>
            <p:cNvPr id="72" name="object 7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2065" y="2472354"/>
              <a:ext cx="158730" cy="110301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393997" y="2564272"/>
              <a:ext cx="448309" cy="147320"/>
            </a:xfrm>
            <a:custGeom>
              <a:avLst/>
              <a:gdLst/>
              <a:ahLst/>
              <a:cxnLst/>
              <a:rect l="l" t="t" r="r" b="b"/>
              <a:pathLst>
                <a:path w="448310" h="147319">
                  <a:moveTo>
                    <a:pt x="364147" y="0"/>
                  </a:moveTo>
                  <a:lnTo>
                    <a:pt x="140056" y="0"/>
                  </a:lnTo>
                  <a:lnTo>
                    <a:pt x="105922" y="5026"/>
                  </a:lnTo>
                  <a:lnTo>
                    <a:pt x="59138" y="19532"/>
                  </a:lnTo>
                  <a:lnTo>
                    <a:pt x="17800" y="42655"/>
                  </a:lnTo>
                  <a:lnTo>
                    <a:pt x="0" y="73533"/>
                  </a:lnTo>
                  <a:lnTo>
                    <a:pt x="17800" y="104412"/>
                  </a:lnTo>
                  <a:lnTo>
                    <a:pt x="59139" y="127535"/>
                  </a:lnTo>
                  <a:lnTo>
                    <a:pt x="105922" y="142040"/>
                  </a:lnTo>
                  <a:lnTo>
                    <a:pt x="140056" y="147067"/>
                  </a:lnTo>
                  <a:lnTo>
                    <a:pt x="364147" y="147067"/>
                  </a:lnTo>
                  <a:lnTo>
                    <a:pt x="391537" y="141575"/>
                  </a:lnTo>
                  <a:lnTo>
                    <a:pt x="414569" y="128684"/>
                  </a:lnTo>
                  <a:lnTo>
                    <a:pt x="140056" y="128684"/>
                  </a:lnTo>
                  <a:lnTo>
                    <a:pt x="106634" y="123595"/>
                  </a:lnTo>
                  <a:lnTo>
                    <a:pt x="66515" y="110518"/>
                  </a:lnTo>
                  <a:lnTo>
                    <a:pt x="32821" y="92737"/>
                  </a:lnTo>
                  <a:lnTo>
                    <a:pt x="18674" y="73533"/>
                  </a:lnTo>
                  <a:lnTo>
                    <a:pt x="32821" y="54330"/>
                  </a:lnTo>
                  <a:lnTo>
                    <a:pt x="66515" y="36548"/>
                  </a:lnTo>
                  <a:lnTo>
                    <a:pt x="106634" y="23472"/>
                  </a:lnTo>
                  <a:lnTo>
                    <a:pt x="140056" y="18383"/>
                  </a:lnTo>
                  <a:lnTo>
                    <a:pt x="414569" y="18383"/>
                  </a:lnTo>
                  <a:lnTo>
                    <a:pt x="391537" y="5492"/>
                  </a:lnTo>
                  <a:lnTo>
                    <a:pt x="364147" y="0"/>
                  </a:lnTo>
                  <a:close/>
                </a:path>
                <a:path w="448310" h="147319">
                  <a:moveTo>
                    <a:pt x="414569" y="18383"/>
                  </a:moveTo>
                  <a:lnTo>
                    <a:pt x="364147" y="18383"/>
                  </a:lnTo>
                  <a:lnTo>
                    <a:pt x="385231" y="22722"/>
                  </a:lnTo>
                  <a:lnTo>
                    <a:pt x="406491" y="34549"/>
                  </a:lnTo>
                  <a:lnTo>
                    <a:pt x="422918" y="52081"/>
                  </a:lnTo>
                  <a:lnTo>
                    <a:pt x="429507" y="73533"/>
                  </a:lnTo>
                  <a:lnTo>
                    <a:pt x="422918" y="94986"/>
                  </a:lnTo>
                  <a:lnTo>
                    <a:pt x="406491" y="112517"/>
                  </a:lnTo>
                  <a:lnTo>
                    <a:pt x="385231" y="124345"/>
                  </a:lnTo>
                  <a:lnTo>
                    <a:pt x="364147" y="128684"/>
                  </a:lnTo>
                  <a:lnTo>
                    <a:pt x="414569" y="128684"/>
                  </a:lnTo>
                  <a:lnTo>
                    <a:pt x="418839" y="126294"/>
                  </a:lnTo>
                  <a:lnTo>
                    <a:pt x="439804" y="103016"/>
                  </a:lnTo>
                  <a:lnTo>
                    <a:pt x="448181" y="73533"/>
                  </a:lnTo>
                  <a:lnTo>
                    <a:pt x="439804" y="44051"/>
                  </a:lnTo>
                  <a:lnTo>
                    <a:pt x="418839" y="20773"/>
                  </a:lnTo>
                  <a:lnTo>
                    <a:pt x="414569" y="18383"/>
                  </a:lnTo>
                  <a:close/>
                </a:path>
              </a:pathLst>
            </a:custGeom>
            <a:solidFill>
              <a:srgbClr val="04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9297" y="2573464"/>
              <a:ext cx="112049" cy="128684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618086" y="2628620"/>
              <a:ext cx="149860" cy="18415"/>
            </a:xfrm>
            <a:custGeom>
              <a:avLst/>
              <a:gdLst/>
              <a:ahLst/>
              <a:cxnLst/>
              <a:rect l="l" t="t" r="r" b="b"/>
              <a:pathLst>
                <a:path w="149860" h="18414">
                  <a:moveTo>
                    <a:pt x="37350" y="4140"/>
                  </a:moveTo>
                  <a:lnTo>
                    <a:pt x="33147" y="0"/>
                  </a:lnTo>
                  <a:lnTo>
                    <a:pt x="4203" y="0"/>
                  </a:lnTo>
                  <a:lnTo>
                    <a:pt x="0" y="4140"/>
                  </a:lnTo>
                  <a:lnTo>
                    <a:pt x="0" y="14249"/>
                  </a:lnTo>
                  <a:lnTo>
                    <a:pt x="4203" y="18389"/>
                  </a:lnTo>
                  <a:lnTo>
                    <a:pt x="28003" y="18389"/>
                  </a:lnTo>
                  <a:lnTo>
                    <a:pt x="33147" y="18389"/>
                  </a:lnTo>
                  <a:lnTo>
                    <a:pt x="37350" y="14249"/>
                  </a:lnTo>
                  <a:lnTo>
                    <a:pt x="37350" y="4140"/>
                  </a:lnTo>
                  <a:close/>
                </a:path>
                <a:path w="149860" h="18414">
                  <a:moveTo>
                    <a:pt x="93370" y="4140"/>
                  </a:moveTo>
                  <a:lnTo>
                    <a:pt x="89166" y="0"/>
                  </a:lnTo>
                  <a:lnTo>
                    <a:pt x="60223" y="0"/>
                  </a:lnTo>
                  <a:lnTo>
                    <a:pt x="56019" y="4140"/>
                  </a:lnTo>
                  <a:lnTo>
                    <a:pt x="56019" y="14249"/>
                  </a:lnTo>
                  <a:lnTo>
                    <a:pt x="60223" y="18389"/>
                  </a:lnTo>
                  <a:lnTo>
                    <a:pt x="84035" y="18389"/>
                  </a:lnTo>
                  <a:lnTo>
                    <a:pt x="89166" y="18389"/>
                  </a:lnTo>
                  <a:lnTo>
                    <a:pt x="93370" y="14249"/>
                  </a:lnTo>
                  <a:lnTo>
                    <a:pt x="93370" y="4140"/>
                  </a:lnTo>
                  <a:close/>
                </a:path>
                <a:path w="149860" h="18414">
                  <a:moveTo>
                    <a:pt x="149390" y="4140"/>
                  </a:moveTo>
                  <a:lnTo>
                    <a:pt x="145186" y="0"/>
                  </a:lnTo>
                  <a:lnTo>
                    <a:pt x="116243" y="0"/>
                  </a:lnTo>
                  <a:lnTo>
                    <a:pt x="112039" y="4140"/>
                  </a:lnTo>
                  <a:lnTo>
                    <a:pt x="112039" y="14249"/>
                  </a:lnTo>
                  <a:lnTo>
                    <a:pt x="116243" y="18389"/>
                  </a:lnTo>
                  <a:lnTo>
                    <a:pt x="140055" y="18389"/>
                  </a:lnTo>
                  <a:lnTo>
                    <a:pt x="145186" y="18389"/>
                  </a:lnTo>
                  <a:lnTo>
                    <a:pt x="149390" y="14249"/>
                  </a:lnTo>
                  <a:lnTo>
                    <a:pt x="149390" y="4140"/>
                  </a:lnTo>
                  <a:close/>
                </a:path>
              </a:pathLst>
            </a:custGeom>
            <a:solidFill>
              <a:srgbClr val="04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434196" y="2693670"/>
            <a:ext cx="4826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70" dirty="0">
                <a:latin typeface="Malgun Gothic"/>
                <a:cs typeface="Malgun Gothic"/>
              </a:rPr>
              <a:t>한화시스템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686670" y="2697861"/>
            <a:ext cx="34226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solidFill>
                  <a:srgbClr val="404040"/>
                </a:solidFill>
                <a:latin typeface="Malgun Gothic"/>
                <a:cs typeface="Malgun Gothic"/>
              </a:rPr>
              <a:t>11,176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525382" y="2975863"/>
            <a:ext cx="1127760" cy="434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0" dirty="0">
                <a:latin typeface="Malgun Gothic"/>
                <a:cs typeface="Malgun Gothic"/>
              </a:rPr>
              <a:t>한화오션</a:t>
            </a:r>
            <a:endParaRPr sz="800">
              <a:latin typeface="Malgun Gothic"/>
              <a:cs typeface="Malgun Gothic"/>
            </a:endParaRPr>
          </a:p>
          <a:p>
            <a:pPr marL="194945">
              <a:lnSpc>
                <a:spcPct val="100000"/>
              </a:lnSpc>
              <a:spcBef>
                <a:spcPts val="1290"/>
              </a:spcBef>
              <a:tabLst>
                <a:tab pos="796290" algn="l"/>
              </a:tabLst>
            </a:pPr>
            <a:r>
              <a:rPr sz="1200" spc="-37" baseline="3472" dirty="0">
                <a:latin typeface="Malgun Gothic"/>
                <a:cs typeface="Malgun Gothic"/>
              </a:rPr>
              <a:t>기타</a:t>
            </a:r>
            <a:r>
              <a:rPr sz="1200" baseline="3472" dirty="0">
                <a:latin typeface="Malgun Gothic"/>
                <a:cs typeface="Malgun Gothic"/>
              </a:rPr>
              <a:t>	</a:t>
            </a:r>
            <a:r>
              <a:rPr sz="800" spc="135" dirty="0">
                <a:solidFill>
                  <a:srgbClr val="404040"/>
                </a:solidFill>
                <a:latin typeface="Malgun Gothic"/>
                <a:cs typeface="Malgun Gothic"/>
              </a:rPr>
              <a:t>-</a:t>
            </a:r>
            <a:r>
              <a:rPr sz="800" spc="-10" dirty="0">
                <a:solidFill>
                  <a:srgbClr val="404040"/>
                </a:solidFill>
                <a:latin typeface="Malgun Gothic"/>
                <a:cs typeface="Malgun Gothic"/>
              </a:rPr>
              <a:t>1,354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241535" y="2066544"/>
            <a:ext cx="0" cy="1418590"/>
          </a:xfrm>
          <a:custGeom>
            <a:avLst/>
            <a:gdLst/>
            <a:ahLst/>
            <a:cxnLst/>
            <a:rect l="l" t="t" r="r" b="b"/>
            <a:pathLst>
              <a:path h="1418589">
                <a:moveTo>
                  <a:pt x="0" y="0"/>
                </a:moveTo>
                <a:lnTo>
                  <a:pt x="0" y="1418208"/>
                </a:lnTo>
              </a:path>
            </a:pathLst>
          </a:custGeom>
          <a:ln w="635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1110721" y="2980182"/>
            <a:ext cx="34226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solidFill>
                  <a:srgbClr val="404040"/>
                </a:solidFill>
                <a:latin typeface="Malgun Gothic"/>
                <a:cs typeface="Malgun Gothic"/>
              </a:rPr>
              <a:t>54,432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45363" y="3037332"/>
            <a:ext cx="1283335" cy="0"/>
          </a:xfrm>
          <a:custGeom>
            <a:avLst/>
            <a:gdLst/>
            <a:ahLst/>
            <a:cxnLst/>
            <a:rect l="l" t="t" r="r" b="b"/>
            <a:pathLst>
              <a:path w="1283335">
                <a:moveTo>
                  <a:pt x="0" y="0"/>
                </a:moveTo>
                <a:lnTo>
                  <a:pt x="128295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834895" y="3037332"/>
            <a:ext cx="1283335" cy="0"/>
          </a:xfrm>
          <a:custGeom>
            <a:avLst/>
            <a:gdLst/>
            <a:ahLst/>
            <a:cxnLst/>
            <a:rect l="l" t="t" r="r" b="b"/>
            <a:pathLst>
              <a:path w="1283335">
                <a:moveTo>
                  <a:pt x="0" y="0"/>
                </a:moveTo>
                <a:lnTo>
                  <a:pt x="128295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951476" y="3037332"/>
            <a:ext cx="1283335" cy="0"/>
          </a:xfrm>
          <a:custGeom>
            <a:avLst/>
            <a:gdLst/>
            <a:ahLst/>
            <a:cxnLst/>
            <a:rect l="l" t="t" r="r" b="b"/>
            <a:pathLst>
              <a:path w="1283335">
                <a:moveTo>
                  <a:pt x="0" y="0"/>
                </a:moveTo>
                <a:lnTo>
                  <a:pt x="128295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3330321" y="3058612"/>
            <a:ext cx="1428115" cy="58737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1000" spc="-50" dirty="0">
                <a:latin typeface="Malgun Gothic"/>
                <a:cs typeface="Malgun Gothic"/>
              </a:rPr>
              <a:t>한화시스템(방산/ICT/기타)</a:t>
            </a:r>
            <a:endParaRPr sz="1000">
              <a:latin typeface="Malgun Gothic"/>
              <a:cs typeface="Malgun Gothic"/>
            </a:endParaRPr>
          </a:p>
          <a:p>
            <a:pPr marL="139700" marR="110489" algn="ctr">
              <a:lnSpc>
                <a:spcPct val="120000"/>
              </a:lnSpc>
              <a:spcBef>
                <a:spcPts val="309"/>
              </a:spcBef>
            </a:pP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방산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수출</a:t>
            </a:r>
            <a:r>
              <a:rPr sz="800" spc="-11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및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10" dirty="0">
                <a:solidFill>
                  <a:srgbClr val="88BCFA"/>
                </a:solidFill>
                <a:latin typeface="Malgun Gothic"/>
                <a:cs typeface="Malgun Gothic"/>
              </a:rPr>
              <a:t>ICT</a:t>
            </a:r>
            <a:r>
              <a:rPr sz="800" spc="-10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20" dirty="0">
                <a:solidFill>
                  <a:srgbClr val="88BCFA"/>
                </a:solidFill>
                <a:latin typeface="Malgun Gothic"/>
                <a:cs typeface="Malgun Gothic"/>
              </a:rPr>
              <a:t>계열사향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매출액</a:t>
            </a:r>
            <a:r>
              <a:rPr sz="800" spc="-114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반영으로</a:t>
            </a:r>
            <a:r>
              <a:rPr sz="800" spc="-13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매출</a:t>
            </a:r>
            <a:r>
              <a:rPr sz="800" spc="-12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증가</a:t>
            </a:r>
            <a:r>
              <a:rPr sz="800" spc="-12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88BCFA"/>
                </a:solidFill>
                <a:latin typeface="Malgun Gothic"/>
                <a:cs typeface="Malgun Gothic"/>
              </a:rPr>
              <a:t>▲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877815" y="3137407"/>
            <a:ext cx="1488440" cy="527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3335" algn="ctr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Malgun Gothic"/>
                <a:cs typeface="Malgun Gothic"/>
              </a:rPr>
              <a:t>한화오션</a:t>
            </a:r>
            <a:endParaRPr sz="1000">
              <a:latin typeface="Malgun Gothic"/>
              <a:cs typeface="Malgun Gothic"/>
            </a:endParaRPr>
          </a:p>
          <a:p>
            <a:pPr marL="12700" marR="5080" algn="ctr">
              <a:lnSpc>
                <a:spcPct val="120000"/>
              </a:lnSpc>
              <a:spcBef>
                <a:spcPts val="455"/>
              </a:spcBef>
            </a:pP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생산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안정화에</a:t>
            </a:r>
            <a:r>
              <a:rPr sz="800" spc="-13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따른</a:t>
            </a:r>
            <a:r>
              <a:rPr sz="800" spc="-10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조업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효율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75" dirty="0">
                <a:solidFill>
                  <a:srgbClr val="88BCFA"/>
                </a:solidFill>
                <a:latin typeface="Malgun Gothic"/>
                <a:cs typeface="Malgun Gothic"/>
              </a:rPr>
              <a:t>개선과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건조물량</a:t>
            </a:r>
            <a:r>
              <a:rPr sz="800" spc="-13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확대에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따른</a:t>
            </a:r>
            <a:r>
              <a:rPr sz="800" spc="-12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매출</a:t>
            </a:r>
            <a:r>
              <a:rPr sz="800" spc="-12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증가</a:t>
            </a:r>
            <a:r>
              <a:rPr sz="800" spc="-10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88BCFA"/>
                </a:solidFill>
                <a:latin typeface="Malgun Gothic"/>
                <a:cs typeface="Malgun Gothic"/>
              </a:rPr>
              <a:t>▲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96202" y="3455670"/>
            <a:ext cx="3981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Malgun Gothic"/>
                <a:cs typeface="Malgun Gothic"/>
              </a:rPr>
              <a:t>2Q25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11871" y="3455670"/>
            <a:ext cx="3981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Malgun Gothic"/>
                <a:cs typeface="Malgun Gothic"/>
              </a:rPr>
              <a:t>2Q26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673465" y="3554729"/>
            <a:ext cx="30257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 indent="-10287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115570" algn="l"/>
              </a:tabLst>
            </a:pPr>
            <a:r>
              <a:rPr sz="900" spc="-105" dirty="0">
                <a:latin typeface="Malgun Gothic"/>
                <a:cs typeface="Malgun Gothic"/>
              </a:rPr>
              <a:t>기타</a:t>
            </a:r>
            <a:r>
              <a:rPr sz="900" spc="-50" dirty="0">
                <a:latin typeface="Malgun Gothic"/>
                <a:cs typeface="Malgun Gothic"/>
              </a:rPr>
              <a:t> : </a:t>
            </a:r>
            <a:r>
              <a:rPr sz="900" spc="-85" dirty="0">
                <a:latin typeface="Malgun Gothic"/>
                <a:cs typeface="Malgun Gothic"/>
              </a:rPr>
              <a:t>쎄트렉아이</a:t>
            </a:r>
            <a:r>
              <a:rPr sz="900" spc="-95" dirty="0">
                <a:latin typeface="Malgun Gothic"/>
                <a:cs typeface="Malgun Gothic"/>
              </a:rPr>
              <a:t>, </a:t>
            </a:r>
            <a:r>
              <a:rPr sz="900" spc="-20" dirty="0">
                <a:latin typeface="Malgun Gothic"/>
                <a:cs typeface="Malgun Gothic"/>
              </a:rPr>
              <a:t>HOESS(</a:t>
            </a:r>
            <a:r>
              <a:rPr sz="900" spc="-50" dirty="0">
                <a:latin typeface="Batang"/>
                <a:cs typeface="Batang"/>
              </a:rPr>
              <a:t>舊 </a:t>
            </a:r>
            <a:r>
              <a:rPr sz="900" dirty="0">
                <a:latin typeface="Malgun Gothic"/>
                <a:cs typeface="Malgun Gothic"/>
              </a:rPr>
              <a:t>Dyna-mac</a:t>
            </a:r>
            <a:r>
              <a:rPr sz="900" spc="-25" dirty="0">
                <a:latin typeface="Malgun Gothic"/>
                <a:cs typeface="Malgun Gothic"/>
              </a:rPr>
              <a:t>), </a:t>
            </a:r>
            <a:r>
              <a:rPr sz="900" dirty="0">
                <a:latin typeface="Malgun Gothic"/>
                <a:cs typeface="Malgun Gothic"/>
              </a:rPr>
              <a:t>PPA</a:t>
            </a:r>
            <a:r>
              <a:rPr sz="900" spc="-95" dirty="0">
                <a:latin typeface="Malgun Gothic"/>
                <a:cs typeface="Malgun Gothic"/>
              </a:rPr>
              <a:t> </a:t>
            </a:r>
            <a:r>
              <a:rPr sz="900" spc="-60" dirty="0">
                <a:latin typeface="Malgun Gothic"/>
                <a:cs typeface="Malgun Gothic"/>
              </a:rPr>
              <a:t>상각</a:t>
            </a:r>
            <a:r>
              <a:rPr sz="900" spc="-75" dirty="0">
                <a:latin typeface="Malgun Gothic"/>
                <a:cs typeface="Malgun Gothic"/>
              </a:rPr>
              <a:t>, </a:t>
            </a:r>
            <a:r>
              <a:rPr sz="900" spc="-45" dirty="0">
                <a:latin typeface="Malgun Gothic"/>
                <a:cs typeface="Malgun Gothic"/>
              </a:rPr>
              <a:t>연결조정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17931" y="3953255"/>
            <a:ext cx="11687175" cy="0"/>
          </a:xfrm>
          <a:custGeom>
            <a:avLst/>
            <a:gdLst/>
            <a:ahLst/>
            <a:cxnLst/>
            <a:rect l="l" t="t" r="r" b="b"/>
            <a:pathLst>
              <a:path w="11687175">
                <a:moveTo>
                  <a:pt x="0" y="0"/>
                </a:moveTo>
                <a:lnTo>
                  <a:pt x="1168666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20472" y="4371543"/>
            <a:ext cx="26396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40" dirty="0">
                <a:latin typeface="Malgun Gothic"/>
                <a:cs typeface="Malgun Gothic"/>
              </a:rPr>
              <a:t>영업이익</a:t>
            </a:r>
            <a:r>
              <a:rPr sz="1600" b="1" spc="-360" dirty="0">
                <a:latin typeface="Malgun Gothic"/>
                <a:cs typeface="Malgun Gothic"/>
              </a:rPr>
              <a:t> </a:t>
            </a:r>
            <a:r>
              <a:rPr sz="1600" b="1" spc="-220" dirty="0">
                <a:latin typeface="Malgun Gothic"/>
                <a:cs typeface="Malgun Gothic"/>
              </a:rPr>
              <a:t>전년</a:t>
            </a:r>
            <a:r>
              <a:rPr sz="1600" b="1" spc="-355" dirty="0">
                <a:latin typeface="Malgun Gothic"/>
                <a:cs typeface="Malgun Gothic"/>
              </a:rPr>
              <a:t> </a:t>
            </a:r>
            <a:r>
              <a:rPr sz="1600" b="1" spc="-220" dirty="0">
                <a:latin typeface="Malgun Gothic"/>
                <a:cs typeface="Malgun Gothic"/>
              </a:rPr>
              <a:t>동기</a:t>
            </a:r>
            <a:r>
              <a:rPr sz="1600" b="1" spc="-365" dirty="0">
                <a:latin typeface="Malgun Gothic"/>
                <a:cs typeface="Malgun Gothic"/>
              </a:rPr>
              <a:t> </a:t>
            </a:r>
            <a:r>
              <a:rPr sz="1600" b="1" spc="-220" dirty="0">
                <a:latin typeface="Malgun Gothic"/>
                <a:cs typeface="Malgun Gothic"/>
              </a:rPr>
              <a:t>대비</a:t>
            </a:r>
            <a:r>
              <a:rPr sz="1600" b="1" spc="-360" dirty="0">
                <a:latin typeface="Malgun Gothic"/>
                <a:cs typeface="Malgun Gothic"/>
              </a:rPr>
              <a:t> </a:t>
            </a:r>
            <a:r>
              <a:rPr sz="1600" b="1" spc="-60" dirty="0">
                <a:solidFill>
                  <a:srgbClr val="88BCFA"/>
                </a:solidFill>
                <a:latin typeface="Malgun Gothic"/>
                <a:cs typeface="Malgun Gothic"/>
              </a:rPr>
              <a:t>59%</a:t>
            </a:r>
            <a:r>
              <a:rPr sz="1600" b="1" spc="-39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1600" b="1" spc="-280" dirty="0">
                <a:latin typeface="Malgun Gothic"/>
                <a:cs typeface="Malgun Gothic"/>
              </a:rPr>
              <a:t>증가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62593" y="4826634"/>
            <a:ext cx="39116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75" dirty="0">
                <a:latin typeface="Malgun Gothic"/>
                <a:cs typeface="Malgun Gothic"/>
              </a:rPr>
              <a:t>지상방산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33331" y="6003035"/>
            <a:ext cx="111760" cy="123825"/>
          </a:xfrm>
          <a:custGeom>
            <a:avLst/>
            <a:gdLst/>
            <a:ahLst/>
            <a:cxnLst/>
            <a:rect l="l" t="t" r="r" b="b"/>
            <a:pathLst>
              <a:path w="111759" h="123825">
                <a:moveTo>
                  <a:pt x="111251" y="0"/>
                </a:moveTo>
                <a:lnTo>
                  <a:pt x="0" y="0"/>
                </a:lnTo>
                <a:lnTo>
                  <a:pt x="0" y="123443"/>
                </a:lnTo>
                <a:lnTo>
                  <a:pt x="111251" y="123443"/>
                </a:lnTo>
                <a:lnTo>
                  <a:pt x="111251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04376" y="4766881"/>
          <a:ext cx="2641600" cy="1435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8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019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800" dirty="0">
                          <a:latin typeface="Malgun Gothic"/>
                          <a:cs typeface="Malgun Gothic"/>
                        </a:rPr>
                        <a:t>5,330</a:t>
                      </a:r>
                      <a:r>
                        <a:rPr sz="800" spc="1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spc="-10" dirty="0">
                          <a:solidFill>
                            <a:srgbClr val="171717"/>
                          </a:solidFill>
                          <a:latin typeface="Malgun Gothic"/>
                          <a:cs typeface="Malgun Gothic"/>
                        </a:rPr>
                        <a:t>(25.3%)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8763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aseline="-6944" dirty="0">
                          <a:latin typeface="Malgun Gothic"/>
                          <a:cs typeface="Malgun Gothic"/>
                        </a:rPr>
                        <a:t>370</a:t>
                      </a:r>
                      <a:r>
                        <a:rPr sz="1200" spc="307" baseline="-694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spc="-10" dirty="0">
                          <a:solidFill>
                            <a:srgbClr val="171717"/>
                          </a:solidFill>
                          <a:latin typeface="Malgun Gothic"/>
                          <a:cs typeface="Malgun Gothic"/>
                        </a:rPr>
                        <a:t>(4.9%)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6096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687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baseline="3472" dirty="0">
                          <a:latin typeface="Malgun Gothic"/>
                          <a:cs typeface="Malgun Gothic"/>
                        </a:rPr>
                        <a:t>1,037</a:t>
                      </a:r>
                      <a:r>
                        <a:rPr sz="1200" spc="150" baseline="3472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spc="-10" dirty="0">
                          <a:solidFill>
                            <a:srgbClr val="171717"/>
                          </a:solidFill>
                          <a:latin typeface="Malgun Gothic"/>
                          <a:cs typeface="Malgun Gothic"/>
                        </a:rPr>
                        <a:t>(9.3%)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7874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800" spc="-10" dirty="0">
                          <a:latin typeface="Malgun Gothic"/>
                          <a:cs typeface="Malgun Gothic"/>
                        </a:rPr>
                        <a:t>7,361</a:t>
                      </a:r>
                      <a:r>
                        <a:rPr sz="800" spc="-10" dirty="0">
                          <a:solidFill>
                            <a:srgbClr val="171717"/>
                          </a:solidFill>
                          <a:latin typeface="Malgun Gothic"/>
                          <a:cs typeface="Malgun Gothic"/>
                        </a:rPr>
                        <a:t>(13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75565" marB="0">
                    <a:lnL w="6350">
                      <a:solidFill>
                        <a:srgbClr val="BEBEBE"/>
                      </a:solidFill>
                      <a:prstDash val="solid"/>
                    </a:lnL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800" spc="140" dirty="0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sz="800" spc="-25" dirty="0">
                          <a:latin typeface="Malgun Gothic"/>
                          <a:cs typeface="Malgun Gothic"/>
                        </a:rPr>
                        <a:t>444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7366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9244583" y="4853940"/>
            <a:ext cx="1481455" cy="123825"/>
          </a:xfrm>
          <a:custGeom>
            <a:avLst/>
            <a:gdLst/>
            <a:ahLst/>
            <a:cxnLst/>
            <a:rect l="l" t="t" r="r" b="b"/>
            <a:pathLst>
              <a:path w="1481454" h="123825">
                <a:moveTo>
                  <a:pt x="1481327" y="0"/>
                </a:moveTo>
                <a:lnTo>
                  <a:pt x="0" y="0"/>
                </a:lnTo>
                <a:lnTo>
                  <a:pt x="0" y="123443"/>
                </a:lnTo>
                <a:lnTo>
                  <a:pt x="1481327" y="123443"/>
                </a:lnTo>
                <a:lnTo>
                  <a:pt x="1481327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562593" y="5114290"/>
            <a:ext cx="39116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75" dirty="0">
                <a:latin typeface="Malgun Gothic"/>
                <a:cs typeface="Malgun Gothic"/>
              </a:rPr>
              <a:t>항공우주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244583" y="5140452"/>
            <a:ext cx="102235" cy="123825"/>
          </a:xfrm>
          <a:custGeom>
            <a:avLst/>
            <a:gdLst/>
            <a:ahLst/>
            <a:cxnLst/>
            <a:rect l="l" t="t" r="r" b="b"/>
            <a:pathLst>
              <a:path w="102234" h="123825">
                <a:moveTo>
                  <a:pt x="102107" y="0"/>
                </a:moveTo>
                <a:lnTo>
                  <a:pt x="0" y="0"/>
                </a:lnTo>
                <a:lnTo>
                  <a:pt x="0" y="123444"/>
                </a:lnTo>
                <a:lnTo>
                  <a:pt x="102107" y="123444"/>
                </a:lnTo>
                <a:lnTo>
                  <a:pt x="102107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471407" y="5401817"/>
            <a:ext cx="48260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70" dirty="0">
                <a:latin typeface="Malgun Gothic"/>
                <a:cs typeface="Malgun Gothic"/>
              </a:rPr>
              <a:t>한화시스템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44583" y="5428488"/>
            <a:ext cx="288290" cy="123825"/>
          </a:xfrm>
          <a:custGeom>
            <a:avLst/>
            <a:gdLst/>
            <a:ahLst/>
            <a:cxnLst/>
            <a:rect l="l" t="t" r="r" b="b"/>
            <a:pathLst>
              <a:path w="288290" h="123825">
                <a:moveTo>
                  <a:pt x="288035" y="0"/>
                </a:moveTo>
                <a:lnTo>
                  <a:pt x="0" y="0"/>
                </a:lnTo>
                <a:lnTo>
                  <a:pt x="0" y="123443"/>
                </a:lnTo>
                <a:lnTo>
                  <a:pt x="288035" y="123443"/>
                </a:lnTo>
                <a:lnTo>
                  <a:pt x="288035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562593" y="5689193"/>
            <a:ext cx="39116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75" dirty="0">
                <a:latin typeface="Malgun Gothic"/>
                <a:cs typeface="Malgun Gothic"/>
              </a:rPr>
              <a:t>한화오션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244583" y="5715000"/>
            <a:ext cx="2045335" cy="123825"/>
          </a:xfrm>
          <a:custGeom>
            <a:avLst/>
            <a:gdLst/>
            <a:ahLst/>
            <a:cxnLst/>
            <a:rect l="l" t="t" r="r" b="b"/>
            <a:pathLst>
              <a:path w="2045334" h="123825">
                <a:moveTo>
                  <a:pt x="2045208" y="0"/>
                </a:moveTo>
                <a:lnTo>
                  <a:pt x="0" y="0"/>
                </a:lnTo>
                <a:lnTo>
                  <a:pt x="0" y="123443"/>
                </a:lnTo>
                <a:lnTo>
                  <a:pt x="2045208" y="123443"/>
                </a:lnTo>
                <a:lnTo>
                  <a:pt x="2045208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34797" y="5904077"/>
            <a:ext cx="13417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latin typeface="Malgun Gothic"/>
                <a:cs typeface="Malgun Gothic"/>
              </a:rPr>
              <a:t>지상방산(Land</a:t>
            </a:r>
            <a:r>
              <a:rPr sz="1000" spc="-45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Systems)</a:t>
            </a:r>
            <a:endParaRPr sz="1000">
              <a:latin typeface="Malgun Gothic"/>
              <a:cs typeface="Malgun Gothic"/>
            </a:endParaRPr>
          </a:p>
          <a:p>
            <a:pPr marL="88900" algn="ctr">
              <a:lnSpc>
                <a:spcPct val="100000"/>
              </a:lnSpc>
              <a:spcBef>
                <a:spcPts val="765"/>
              </a:spcBef>
            </a:pP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국내외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매출</a:t>
            </a:r>
            <a:r>
              <a:rPr sz="800" spc="-12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증가에</a:t>
            </a:r>
            <a:r>
              <a:rPr sz="800" spc="-12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35" dirty="0">
                <a:solidFill>
                  <a:srgbClr val="88BCFA"/>
                </a:solidFill>
                <a:latin typeface="Malgun Gothic"/>
                <a:cs typeface="Malgun Gothic"/>
              </a:rPr>
              <a:t>따른</a:t>
            </a:r>
            <a:endParaRPr sz="800">
              <a:latin typeface="Malgun Gothic"/>
              <a:cs typeface="Malgun Gothic"/>
            </a:endParaRPr>
          </a:p>
          <a:p>
            <a:pPr marL="87630" algn="ctr">
              <a:lnSpc>
                <a:spcPct val="100000"/>
              </a:lnSpc>
              <a:spcBef>
                <a:spcPts val="195"/>
              </a:spcBef>
            </a:pPr>
            <a:r>
              <a:rPr sz="800" spc="-90" dirty="0">
                <a:solidFill>
                  <a:srgbClr val="88BCFA"/>
                </a:solidFill>
                <a:latin typeface="Malgun Gothic"/>
                <a:cs typeface="Malgun Gothic"/>
              </a:rPr>
              <a:t>영업이익</a:t>
            </a:r>
            <a:r>
              <a:rPr sz="800" spc="-14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0" dirty="0">
                <a:solidFill>
                  <a:srgbClr val="88BCFA"/>
                </a:solidFill>
                <a:latin typeface="Malgun Gothic"/>
                <a:cs typeface="Malgun Gothic"/>
              </a:rPr>
              <a:t>증가</a:t>
            </a:r>
            <a:r>
              <a:rPr sz="800" spc="-114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88BCFA"/>
                </a:solidFill>
                <a:latin typeface="Malgun Gothic"/>
                <a:cs typeface="Malgun Gothic"/>
              </a:rPr>
              <a:t>▲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02383" y="5815722"/>
            <a:ext cx="1405255" cy="45974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000" spc="-40" dirty="0">
                <a:latin typeface="Malgun Gothic"/>
                <a:cs typeface="Malgun Gothic"/>
              </a:rPr>
              <a:t>항공우주(항공/엔진/우주)</a:t>
            </a:r>
            <a:endParaRPr sz="1000">
              <a:latin typeface="Malgun Gothic"/>
              <a:cs typeface="Malgun Gothic"/>
            </a:endParaRPr>
          </a:p>
          <a:p>
            <a:pPr marL="22225">
              <a:lnSpc>
                <a:spcPct val="100000"/>
              </a:lnSpc>
              <a:spcBef>
                <a:spcPts val="565"/>
              </a:spcBef>
            </a:pP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매출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증가에</a:t>
            </a:r>
            <a:r>
              <a:rPr sz="800" spc="-13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따른</a:t>
            </a:r>
            <a:r>
              <a:rPr sz="800" spc="-10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영업이익</a:t>
            </a:r>
            <a:r>
              <a:rPr sz="800" spc="-13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증가</a:t>
            </a:r>
            <a:r>
              <a:rPr sz="800" spc="-12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88BCFA"/>
                </a:solidFill>
                <a:latin typeface="Malgun Gothic"/>
                <a:cs typeface="Malgun Gothic"/>
              </a:rPr>
              <a:t>▲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513576" y="4972811"/>
            <a:ext cx="775970" cy="1350645"/>
          </a:xfrm>
          <a:custGeom>
            <a:avLst/>
            <a:gdLst/>
            <a:ahLst/>
            <a:cxnLst/>
            <a:rect l="l" t="t" r="r" b="b"/>
            <a:pathLst>
              <a:path w="775970" h="1350645">
                <a:moveTo>
                  <a:pt x="775716" y="0"/>
                </a:moveTo>
                <a:lnTo>
                  <a:pt x="0" y="0"/>
                </a:lnTo>
                <a:lnTo>
                  <a:pt x="0" y="1350264"/>
                </a:lnTo>
                <a:lnTo>
                  <a:pt x="775716" y="1350264"/>
                </a:lnTo>
                <a:lnTo>
                  <a:pt x="775716" y="0"/>
                </a:lnTo>
                <a:close/>
              </a:path>
            </a:pathLst>
          </a:custGeom>
          <a:solidFill>
            <a:srgbClr val="C6DF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513576" y="4987290"/>
            <a:ext cx="775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Malgun Gothic"/>
                <a:cs typeface="Malgun Gothic"/>
              </a:rPr>
              <a:t>8,614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429500" y="4181855"/>
            <a:ext cx="775970" cy="2141220"/>
          </a:xfrm>
          <a:custGeom>
            <a:avLst/>
            <a:gdLst/>
            <a:ahLst/>
            <a:cxnLst/>
            <a:rect l="l" t="t" r="r" b="b"/>
            <a:pathLst>
              <a:path w="775970" h="2141220">
                <a:moveTo>
                  <a:pt x="775716" y="0"/>
                </a:moveTo>
                <a:lnTo>
                  <a:pt x="0" y="0"/>
                </a:lnTo>
                <a:lnTo>
                  <a:pt x="0" y="2141220"/>
                </a:lnTo>
                <a:lnTo>
                  <a:pt x="775716" y="2141220"/>
                </a:lnTo>
                <a:lnTo>
                  <a:pt x="775716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7429500" y="4186381"/>
            <a:ext cx="775970" cy="101663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325"/>
              </a:spcBef>
            </a:pPr>
            <a:r>
              <a:rPr sz="1200" b="1" spc="-10" dirty="0">
                <a:solidFill>
                  <a:srgbClr val="FFFFFF"/>
                </a:solidFill>
                <a:latin typeface="Malgun Gothic"/>
                <a:cs typeface="Malgun Gothic"/>
              </a:rPr>
              <a:t>13,655</a:t>
            </a:r>
            <a:endParaRPr sz="1200">
              <a:latin typeface="Malgun Gothic"/>
              <a:cs typeface="Malgun Gothic"/>
            </a:endParaRPr>
          </a:p>
          <a:p>
            <a:pPr marL="132080">
              <a:lnSpc>
                <a:spcPct val="100000"/>
              </a:lnSpc>
              <a:spcBef>
                <a:spcPts val="225"/>
              </a:spcBef>
            </a:pPr>
            <a:r>
              <a:rPr sz="1200" b="1" spc="-10" dirty="0">
                <a:solidFill>
                  <a:srgbClr val="FFFFFF"/>
                </a:solidFill>
                <a:latin typeface="Malgun Gothic"/>
                <a:cs typeface="Malgun Gothic"/>
              </a:rPr>
              <a:t>(14.7%)</a:t>
            </a:r>
            <a:endParaRPr sz="12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200">
              <a:latin typeface="Malgun Gothic"/>
              <a:cs typeface="Malgun Gothic"/>
            </a:endParaRPr>
          </a:p>
          <a:p>
            <a:pPr marL="183515">
              <a:lnSpc>
                <a:spcPct val="100000"/>
              </a:lnSpc>
            </a:pPr>
            <a:r>
              <a:rPr sz="1200" b="1" spc="-20" dirty="0">
                <a:latin typeface="Malgun Gothic"/>
                <a:cs typeface="Malgun Gothic"/>
              </a:rPr>
              <a:t>+59%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097518" y="4323079"/>
            <a:ext cx="14249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4" dirty="0">
                <a:latin typeface="Malgun Gothic"/>
                <a:cs typeface="Malgun Gothic"/>
              </a:rPr>
              <a:t>영업이익(률)</a:t>
            </a:r>
            <a:r>
              <a:rPr sz="1600" b="1" spc="-390" dirty="0">
                <a:latin typeface="Malgun Gothic"/>
                <a:cs typeface="Malgun Gothic"/>
              </a:rPr>
              <a:t> </a:t>
            </a:r>
            <a:r>
              <a:rPr sz="1600" b="1" spc="-130" dirty="0">
                <a:latin typeface="Malgun Gothic"/>
                <a:cs typeface="Malgun Gothic"/>
              </a:rPr>
              <a:t>2Q26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336528" y="4576317"/>
            <a:ext cx="4064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90" dirty="0">
                <a:solidFill>
                  <a:srgbClr val="7E7E7E"/>
                </a:solidFill>
                <a:latin typeface="Malgun Gothic"/>
                <a:cs typeface="Malgun Gothic"/>
              </a:rPr>
              <a:t>단위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dirty="0">
                <a:solidFill>
                  <a:srgbClr val="7E7E7E"/>
                </a:solidFill>
                <a:latin typeface="Malgun Gothic"/>
                <a:cs typeface="Malgun Gothic"/>
              </a:rPr>
              <a:t>: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55" dirty="0">
                <a:solidFill>
                  <a:srgbClr val="7E7E7E"/>
                </a:solidFill>
                <a:latin typeface="Malgun Gothic"/>
                <a:cs typeface="Malgun Gothic"/>
              </a:rPr>
              <a:t>억원</a:t>
            </a:r>
            <a:endParaRPr sz="700">
              <a:latin typeface="Malgun Gothic"/>
              <a:cs typeface="Malgun Gothic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573489" y="5169715"/>
            <a:ext cx="566420" cy="489584"/>
            <a:chOff x="573489" y="5169715"/>
            <a:chExt cx="566420" cy="489584"/>
          </a:xfrm>
        </p:grpSpPr>
        <p:pic>
          <p:nvPicPr>
            <p:cNvPr id="86" name="object 8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3110" y="5550176"/>
              <a:ext cx="383690" cy="108780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582556" y="5178814"/>
              <a:ext cx="548640" cy="426084"/>
            </a:xfrm>
            <a:custGeom>
              <a:avLst/>
              <a:gdLst/>
              <a:ahLst/>
              <a:cxnLst/>
              <a:rect l="l" t="t" r="r" b="b"/>
              <a:pathLst>
                <a:path w="548640" h="426085">
                  <a:moveTo>
                    <a:pt x="109652" y="425751"/>
                  </a:moveTo>
                  <a:lnTo>
                    <a:pt x="15168" y="363339"/>
                  </a:lnTo>
                  <a:lnTo>
                    <a:pt x="0" y="307991"/>
                  </a:lnTo>
                  <a:lnTo>
                    <a:pt x="1264" y="300258"/>
                  </a:lnTo>
                  <a:lnTo>
                    <a:pt x="66249" y="253368"/>
                  </a:lnTo>
                  <a:lnTo>
                    <a:pt x="100514" y="244581"/>
                  </a:lnTo>
                  <a:lnTo>
                    <a:pt x="539108" y="244581"/>
                  </a:lnTo>
                </a:path>
                <a:path w="548640" h="426085">
                  <a:moveTo>
                    <a:pt x="127926" y="298932"/>
                  </a:moveTo>
                  <a:lnTo>
                    <a:pt x="548245" y="298932"/>
                  </a:lnTo>
                </a:path>
                <a:path w="548640" h="426085">
                  <a:moveTo>
                    <a:pt x="137064" y="199288"/>
                  </a:moveTo>
                  <a:lnTo>
                    <a:pt x="237575" y="81527"/>
                  </a:lnTo>
                  <a:lnTo>
                    <a:pt x="237575" y="36234"/>
                  </a:lnTo>
                  <a:lnTo>
                    <a:pt x="191888" y="45292"/>
                  </a:lnTo>
                </a:path>
                <a:path w="548640" h="426085">
                  <a:moveTo>
                    <a:pt x="91377" y="163054"/>
                  </a:moveTo>
                  <a:lnTo>
                    <a:pt x="191888" y="45292"/>
                  </a:lnTo>
                  <a:lnTo>
                    <a:pt x="191888" y="0"/>
                  </a:lnTo>
                  <a:lnTo>
                    <a:pt x="146201" y="9058"/>
                  </a:lnTo>
                  <a:lnTo>
                    <a:pt x="45686" y="126819"/>
                  </a:lnTo>
                  <a:lnTo>
                    <a:pt x="173613" y="244581"/>
                  </a:lnTo>
                  <a:lnTo>
                    <a:pt x="283262" y="117761"/>
                  </a:lnTo>
                  <a:lnTo>
                    <a:pt x="283262" y="72468"/>
                  </a:lnTo>
                  <a:lnTo>
                    <a:pt x="237575" y="81527"/>
                  </a:lnTo>
                </a:path>
                <a:path w="548640" h="426085">
                  <a:moveTo>
                    <a:pt x="420322" y="208347"/>
                  </a:moveTo>
                  <a:lnTo>
                    <a:pt x="420322" y="144937"/>
                  </a:lnTo>
                </a:path>
              </a:pathLst>
            </a:custGeom>
            <a:ln w="181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38498" y="5323661"/>
              <a:ext cx="292735" cy="281305"/>
            </a:xfrm>
            <a:custGeom>
              <a:avLst/>
              <a:gdLst/>
              <a:ahLst/>
              <a:cxnLst/>
              <a:rect l="l" t="t" r="r" b="b"/>
              <a:pathLst>
                <a:path w="292734" h="281304">
                  <a:moveTo>
                    <a:pt x="219205" y="280904"/>
                  </a:moveTo>
                  <a:lnTo>
                    <a:pt x="277684" y="237425"/>
                  </a:lnTo>
                  <a:lnTo>
                    <a:pt x="292304" y="208437"/>
                  </a:lnTo>
                  <a:lnTo>
                    <a:pt x="292304" y="108793"/>
                  </a:lnTo>
                  <a:lnTo>
                    <a:pt x="262607" y="16848"/>
                  </a:lnTo>
                  <a:lnTo>
                    <a:pt x="109648" y="0"/>
                  </a:lnTo>
                  <a:lnTo>
                    <a:pt x="101576" y="1062"/>
                  </a:lnTo>
                  <a:lnTo>
                    <a:pt x="93109" y="3951"/>
                  </a:lnTo>
                  <a:lnTo>
                    <a:pt x="85260" y="8216"/>
                  </a:lnTo>
                  <a:lnTo>
                    <a:pt x="79038" y="13406"/>
                  </a:lnTo>
                  <a:lnTo>
                    <a:pt x="0" y="99644"/>
                  </a:lnTo>
                </a:path>
              </a:pathLst>
            </a:custGeom>
            <a:ln w="18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" name="object 81"/>
          <p:cNvGrpSpPr/>
          <p:nvPr/>
        </p:nvGrpSpPr>
        <p:grpSpPr>
          <a:xfrm>
            <a:off x="2268952" y="5166299"/>
            <a:ext cx="487045" cy="485140"/>
            <a:chOff x="2268952" y="5166299"/>
            <a:chExt cx="487045" cy="485140"/>
          </a:xfrm>
        </p:grpSpPr>
        <p:sp>
          <p:nvSpPr>
            <p:cNvPr id="82" name="object 82"/>
            <p:cNvSpPr/>
            <p:nvPr/>
          </p:nvSpPr>
          <p:spPr>
            <a:xfrm>
              <a:off x="2342265" y="5297737"/>
              <a:ext cx="337820" cy="342900"/>
            </a:xfrm>
            <a:custGeom>
              <a:avLst/>
              <a:gdLst/>
              <a:ahLst/>
              <a:cxnLst/>
              <a:rect l="l" t="t" r="r" b="b"/>
              <a:pathLst>
                <a:path w="337819" h="342900">
                  <a:moveTo>
                    <a:pt x="167494" y="308140"/>
                  </a:moveTo>
                  <a:lnTo>
                    <a:pt x="94316" y="339827"/>
                  </a:lnTo>
                  <a:lnTo>
                    <a:pt x="100272" y="306643"/>
                  </a:lnTo>
                  <a:lnTo>
                    <a:pt x="142526" y="270964"/>
                  </a:lnTo>
                  <a:lnTo>
                    <a:pt x="141380" y="160076"/>
                  </a:lnTo>
                  <a:lnTo>
                    <a:pt x="140842" y="100086"/>
                  </a:lnTo>
                  <a:lnTo>
                    <a:pt x="140772" y="70270"/>
                  </a:lnTo>
                  <a:lnTo>
                    <a:pt x="141030" y="49904"/>
                  </a:lnTo>
                  <a:lnTo>
                    <a:pt x="144411" y="29389"/>
                  </a:lnTo>
                  <a:lnTo>
                    <a:pt x="152322" y="13587"/>
                  </a:lnTo>
                  <a:lnTo>
                    <a:pt x="162539" y="3468"/>
                  </a:lnTo>
                  <a:lnTo>
                    <a:pt x="172837" y="0"/>
                  </a:lnTo>
                </a:path>
                <a:path w="337819" h="342900">
                  <a:moveTo>
                    <a:pt x="141154" y="107792"/>
                  </a:moveTo>
                  <a:lnTo>
                    <a:pt x="8076" y="198105"/>
                  </a:lnTo>
                  <a:lnTo>
                    <a:pt x="0" y="235539"/>
                  </a:lnTo>
                  <a:lnTo>
                    <a:pt x="141778" y="192616"/>
                  </a:lnTo>
                  <a:lnTo>
                    <a:pt x="141154" y="107792"/>
                  </a:lnTo>
                  <a:close/>
                </a:path>
                <a:path w="337819" h="342900">
                  <a:moveTo>
                    <a:pt x="167494" y="308140"/>
                  </a:moveTo>
                  <a:lnTo>
                    <a:pt x="239571" y="342322"/>
                  </a:lnTo>
                  <a:lnTo>
                    <a:pt x="234851" y="309013"/>
                  </a:lnTo>
                  <a:lnTo>
                    <a:pt x="193845" y="271837"/>
                  </a:lnTo>
                  <a:lnTo>
                    <a:pt x="198876" y="161096"/>
                  </a:lnTo>
                  <a:lnTo>
                    <a:pt x="201511" y="101181"/>
                  </a:lnTo>
                  <a:lnTo>
                    <a:pt x="202609" y="71393"/>
                  </a:lnTo>
                  <a:lnTo>
                    <a:pt x="203033" y="51031"/>
                  </a:lnTo>
                  <a:lnTo>
                    <a:pt x="200346" y="30409"/>
                  </a:lnTo>
                  <a:lnTo>
                    <a:pt x="192987" y="14335"/>
                  </a:lnTo>
                  <a:lnTo>
                    <a:pt x="183133" y="3851"/>
                  </a:lnTo>
                  <a:lnTo>
                    <a:pt x="172962" y="0"/>
                  </a:lnTo>
                </a:path>
                <a:path w="337819" h="342900">
                  <a:moveTo>
                    <a:pt x="200923" y="108784"/>
                  </a:moveTo>
                  <a:lnTo>
                    <a:pt x="330648" y="203719"/>
                  </a:lnTo>
                  <a:lnTo>
                    <a:pt x="337488" y="241393"/>
                  </a:lnTo>
                  <a:lnTo>
                    <a:pt x="197192" y="193617"/>
                  </a:lnTo>
                  <a:lnTo>
                    <a:pt x="200923" y="108784"/>
                  </a:lnTo>
                  <a:close/>
                </a:path>
              </a:pathLst>
            </a:custGeom>
            <a:ln w="224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682363" y="5177483"/>
              <a:ext cx="62230" cy="351155"/>
            </a:xfrm>
            <a:custGeom>
              <a:avLst/>
              <a:gdLst/>
              <a:ahLst/>
              <a:cxnLst/>
              <a:rect l="l" t="t" r="r" b="b"/>
              <a:pathLst>
                <a:path w="62230" h="351154">
                  <a:moveTo>
                    <a:pt x="61879" y="350553"/>
                  </a:moveTo>
                  <a:lnTo>
                    <a:pt x="0" y="0"/>
                  </a:lnTo>
                </a:path>
              </a:pathLst>
            </a:custGeom>
            <a:ln w="223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280137" y="5177483"/>
              <a:ext cx="386715" cy="351155"/>
            </a:xfrm>
            <a:custGeom>
              <a:avLst/>
              <a:gdLst/>
              <a:ahLst/>
              <a:cxnLst/>
              <a:rect l="l" t="t" r="r" b="b"/>
              <a:pathLst>
                <a:path w="386714" h="351154">
                  <a:moveTo>
                    <a:pt x="61880" y="0"/>
                  </a:moveTo>
                  <a:lnTo>
                    <a:pt x="0" y="350553"/>
                  </a:lnTo>
                </a:path>
                <a:path w="386714" h="351154">
                  <a:moveTo>
                    <a:pt x="119658" y="0"/>
                  </a:moveTo>
                  <a:lnTo>
                    <a:pt x="77536" y="246757"/>
                  </a:lnTo>
                </a:path>
                <a:path w="386714" h="351154">
                  <a:moveTo>
                    <a:pt x="344442" y="0"/>
                  </a:moveTo>
                  <a:lnTo>
                    <a:pt x="386561" y="246757"/>
                  </a:lnTo>
                </a:path>
                <a:path w="386714" h="351154">
                  <a:moveTo>
                    <a:pt x="231993" y="0"/>
                  </a:moveTo>
                  <a:lnTo>
                    <a:pt x="231993" y="46899"/>
                  </a:lnTo>
                </a:path>
              </a:pathLst>
            </a:custGeom>
            <a:ln w="224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9" name="object 89"/>
          <p:cNvGrpSpPr/>
          <p:nvPr/>
        </p:nvGrpSpPr>
        <p:grpSpPr>
          <a:xfrm>
            <a:off x="3748189" y="5215460"/>
            <a:ext cx="707390" cy="381635"/>
            <a:chOff x="3748189" y="5215460"/>
            <a:chExt cx="707390" cy="381635"/>
          </a:xfrm>
        </p:grpSpPr>
        <p:sp>
          <p:nvSpPr>
            <p:cNvPr id="90" name="object 90"/>
            <p:cNvSpPr/>
            <p:nvPr/>
          </p:nvSpPr>
          <p:spPr>
            <a:xfrm>
              <a:off x="3759411" y="5428485"/>
              <a:ext cx="685165" cy="157480"/>
            </a:xfrm>
            <a:custGeom>
              <a:avLst/>
              <a:gdLst/>
              <a:ahLst/>
              <a:cxnLst/>
              <a:rect l="l" t="t" r="r" b="b"/>
              <a:pathLst>
                <a:path w="685164" h="157479">
                  <a:moveTo>
                    <a:pt x="684584" y="0"/>
                  </a:moveTo>
                  <a:lnTo>
                    <a:pt x="467801" y="0"/>
                  </a:lnTo>
                  <a:lnTo>
                    <a:pt x="433572" y="33635"/>
                  </a:lnTo>
                  <a:lnTo>
                    <a:pt x="0" y="33635"/>
                  </a:lnTo>
                  <a:lnTo>
                    <a:pt x="1248" y="104935"/>
                  </a:lnTo>
                  <a:lnTo>
                    <a:pt x="9984" y="141548"/>
                  </a:lnTo>
                  <a:lnTo>
                    <a:pt x="33696" y="155037"/>
                  </a:lnTo>
                  <a:lnTo>
                    <a:pt x="79872" y="156964"/>
                  </a:lnTo>
                  <a:lnTo>
                    <a:pt x="559078" y="156964"/>
                  </a:lnTo>
                  <a:lnTo>
                    <a:pt x="583502" y="149781"/>
                  </a:lnTo>
                  <a:lnTo>
                    <a:pt x="617553" y="124730"/>
                  </a:lnTo>
                  <a:lnTo>
                    <a:pt x="653743" y="76554"/>
                  </a:lnTo>
                  <a:lnTo>
                    <a:pt x="684584" y="0"/>
                  </a:lnTo>
                  <a:close/>
                </a:path>
              </a:pathLst>
            </a:custGeom>
            <a:ln w="224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770820" y="5226672"/>
              <a:ext cx="593725" cy="235585"/>
            </a:xfrm>
            <a:custGeom>
              <a:avLst/>
              <a:gdLst/>
              <a:ahLst/>
              <a:cxnLst/>
              <a:rect l="l" t="t" r="r" b="b"/>
              <a:pathLst>
                <a:path w="593725" h="235585">
                  <a:moveTo>
                    <a:pt x="273836" y="44847"/>
                  </a:moveTo>
                  <a:lnTo>
                    <a:pt x="273836" y="134542"/>
                  </a:lnTo>
                </a:path>
                <a:path w="593725" h="235585">
                  <a:moveTo>
                    <a:pt x="228198" y="44847"/>
                  </a:moveTo>
                  <a:lnTo>
                    <a:pt x="319475" y="44847"/>
                  </a:lnTo>
                </a:path>
                <a:path w="593725" h="235585">
                  <a:moveTo>
                    <a:pt x="228198" y="0"/>
                  </a:moveTo>
                  <a:lnTo>
                    <a:pt x="273836" y="0"/>
                  </a:lnTo>
                </a:path>
                <a:path w="593725" h="235585">
                  <a:moveTo>
                    <a:pt x="444981" y="145754"/>
                  </a:moveTo>
                  <a:lnTo>
                    <a:pt x="251017" y="145754"/>
                  </a:lnTo>
                  <a:lnTo>
                    <a:pt x="193969" y="235449"/>
                  </a:lnTo>
                </a:path>
                <a:path w="593725" h="235585">
                  <a:moveTo>
                    <a:pt x="0" y="134542"/>
                  </a:moveTo>
                  <a:lnTo>
                    <a:pt x="68462" y="179389"/>
                  </a:lnTo>
                </a:path>
                <a:path w="593725" h="235585">
                  <a:moveTo>
                    <a:pt x="319475" y="145754"/>
                  </a:moveTo>
                  <a:lnTo>
                    <a:pt x="365114" y="56059"/>
                  </a:lnTo>
                  <a:lnTo>
                    <a:pt x="490620" y="78483"/>
                  </a:lnTo>
                  <a:lnTo>
                    <a:pt x="513439" y="134542"/>
                  </a:lnTo>
                  <a:lnTo>
                    <a:pt x="559078" y="134542"/>
                  </a:lnTo>
                  <a:lnTo>
                    <a:pt x="593307" y="201813"/>
                  </a:lnTo>
                </a:path>
              </a:pathLst>
            </a:custGeom>
            <a:ln w="226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28006" y="5372361"/>
              <a:ext cx="136650" cy="101036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35604" y="5478939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29">
                  <a:moveTo>
                    <a:pt x="11409" y="5605"/>
                  </a:moveTo>
                  <a:lnTo>
                    <a:pt x="11409" y="8698"/>
                  </a:lnTo>
                  <a:lnTo>
                    <a:pt x="8852" y="11211"/>
                  </a:lnTo>
                  <a:lnTo>
                    <a:pt x="5704" y="11211"/>
                  </a:lnTo>
                  <a:lnTo>
                    <a:pt x="2548" y="11211"/>
                  </a:lnTo>
                  <a:lnTo>
                    <a:pt x="0" y="8698"/>
                  </a:lnTo>
                  <a:lnTo>
                    <a:pt x="0" y="5605"/>
                  </a:lnTo>
                  <a:lnTo>
                    <a:pt x="0" y="2503"/>
                  </a:lnTo>
                  <a:lnTo>
                    <a:pt x="2548" y="0"/>
                  </a:lnTo>
                  <a:lnTo>
                    <a:pt x="5704" y="0"/>
                  </a:lnTo>
                  <a:lnTo>
                    <a:pt x="8851" y="0"/>
                  </a:lnTo>
                  <a:lnTo>
                    <a:pt x="11409" y="2503"/>
                  </a:lnTo>
                  <a:lnTo>
                    <a:pt x="11409" y="5605"/>
                  </a:lnTo>
                  <a:close/>
                </a:path>
              </a:pathLst>
            </a:custGeom>
            <a:ln w="226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5305631" y="5180561"/>
            <a:ext cx="636905" cy="417195"/>
            <a:chOff x="5305631" y="5180561"/>
            <a:chExt cx="636905" cy="417195"/>
          </a:xfrm>
        </p:grpSpPr>
        <p:pic>
          <p:nvPicPr>
            <p:cNvPr id="95" name="object 9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6292" y="5180561"/>
              <a:ext cx="174010" cy="222858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5314948" y="5257999"/>
              <a:ext cx="544195" cy="138430"/>
            </a:xfrm>
            <a:custGeom>
              <a:avLst/>
              <a:gdLst/>
              <a:ahLst/>
              <a:cxnLst/>
              <a:rect l="l" t="t" r="r" b="b"/>
              <a:pathLst>
                <a:path w="544195" h="138429">
                  <a:moveTo>
                    <a:pt x="73778" y="44649"/>
                  </a:moveTo>
                  <a:lnTo>
                    <a:pt x="73778" y="138113"/>
                  </a:lnTo>
                </a:path>
                <a:path w="544195" h="138429">
                  <a:moveTo>
                    <a:pt x="110717" y="138113"/>
                  </a:moveTo>
                  <a:lnTo>
                    <a:pt x="110717" y="44649"/>
                  </a:lnTo>
                  <a:lnTo>
                    <a:pt x="73778" y="44649"/>
                  </a:lnTo>
                  <a:lnTo>
                    <a:pt x="0" y="0"/>
                  </a:lnTo>
                  <a:lnTo>
                    <a:pt x="73778" y="81233"/>
                  </a:lnTo>
                  <a:lnTo>
                    <a:pt x="110717" y="81233"/>
                  </a:lnTo>
                </a:path>
                <a:path w="544195" h="138429">
                  <a:moveTo>
                    <a:pt x="543858" y="44649"/>
                  </a:moveTo>
                  <a:lnTo>
                    <a:pt x="543859" y="113567"/>
                  </a:lnTo>
                </a:path>
              </a:pathLst>
            </a:custGeom>
            <a:ln w="186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821869" y="5257999"/>
              <a:ext cx="111125" cy="114935"/>
            </a:xfrm>
            <a:custGeom>
              <a:avLst/>
              <a:gdLst/>
              <a:ahLst/>
              <a:cxnLst/>
              <a:rect l="l" t="t" r="r" b="b"/>
              <a:pathLst>
                <a:path w="111125" h="114935">
                  <a:moveTo>
                    <a:pt x="0" y="114401"/>
                  </a:moveTo>
                  <a:lnTo>
                    <a:pt x="0" y="44649"/>
                  </a:lnTo>
                  <a:lnTo>
                    <a:pt x="36938" y="44649"/>
                  </a:lnTo>
                  <a:lnTo>
                    <a:pt x="110814" y="0"/>
                  </a:lnTo>
                  <a:lnTo>
                    <a:pt x="36938" y="81233"/>
                  </a:lnTo>
                  <a:lnTo>
                    <a:pt x="0" y="81233"/>
                  </a:lnTo>
                </a:path>
              </a:pathLst>
            </a:custGeom>
            <a:ln w="186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353568" y="5375360"/>
              <a:ext cx="523875" cy="213360"/>
            </a:xfrm>
            <a:custGeom>
              <a:avLst/>
              <a:gdLst/>
              <a:ahLst/>
              <a:cxnLst/>
              <a:rect l="l" t="t" r="r" b="b"/>
              <a:pathLst>
                <a:path w="523875" h="213360">
                  <a:moveTo>
                    <a:pt x="458200" y="129683"/>
                  </a:moveTo>
                  <a:lnTo>
                    <a:pt x="523661" y="0"/>
                  </a:lnTo>
                  <a:lnTo>
                    <a:pt x="383396" y="0"/>
                  </a:lnTo>
                  <a:lnTo>
                    <a:pt x="355341" y="27791"/>
                  </a:lnTo>
                  <a:lnTo>
                    <a:pt x="9351" y="27791"/>
                  </a:lnTo>
                  <a:lnTo>
                    <a:pt x="56108" y="120420"/>
                  </a:lnTo>
                </a:path>
                <a:path w="523875" h="213360">
                  <a:moveTo>
                    <a:pt x="523661" y="138947"/>
                  </a:moveTo>
                  <a:lnTo>
                    <a:pt x="502912" y="143290"/>
                  </a:lnTo>
                  <a:lnTo>
                    <a:pt x="490931" y="152843"/>
                  </a:lnTo>
                  <a:lnTo>
                    <a:pt x="478949" y="162397"/>
                  </a:lnTo>
                  <a:lnTo>
                    <a:pt x="458200" y="166740"/>
                  </a:lnTo>
                  <a:lnTo>
                    <a:pt x="437455" y="162397"/>
                  </a:lnTo>
                  <a:lnTo>
                    <a:pt x="425474" y="152843"/>
                  </a:lnTo>
                  <a:lnTo>
                    <a:pt x="413493" y="143290"/>
                  </a:lnTo>
                  <a:lnTo>
                    <a:pt x="392747" y="138947"/>
                  </a:lnTo>
                  <a:lnTo>
                    <a:pt x="371999" y="143290"/>
                  </a:lnTo>
                  <a:lnTo>
                    <a:pt x="360017" y="152843"/>
                  </a:lnTo>
                  <a:lnTo>
                    <a:pt x="348035" y="162397"/>
                  </a:lnTo>
                  <a:lnTo>
                    <a:pt x="327287" y="166740"/>
                  </a:lnTo>
                  <a:lnTo>
                    <a:pt x="306538" y="162397"/>
                  </a:lnTo>
                  <a:lnTo>
                    <a:pt x="294556" y="152843"/>
                  </a:lnTo>
                  <a:lnTo>
                    <a:pt x="282575" y="143290"/>
                  </a:lnTo>
                  <a:lnTo>
                    <a:pt x="261826" y="138947"/>
                  </a:lnTo>
                  <a:lnTo>
                    <a:pt x="241082" y="143290"/>
                  </a:lnTo>
                  <a:lnTo>
                    <a:pt x="229102" y="152843"/>
                  </a:lnTo>
                  <a:lnTo>
                    <a:pt x="217122" y="162397"/>
                  </a:lnTo>
                  <a:lnTo>
                    <a:pt x="196373" y="166740"/>
                  </a:lnTo>
                  <a:lnTo>
                    <a:pt x="175624" y="162397"/>
                  </a:lnTo>
                  <a:lnTo>
                    <a:pt x="163643" y="152843"/>
                  </a:lnTo>
                  <a:lnTo>
                    <a:pt x="151661" y="143290"/>
                  </a:lnTo>
                  <a:lnTo>
                    <a:pt x="130912" y="138947"/>
                  </a:lnTo>
                  <a:lnTo>
                    <a:pt x="110167" y="143290"/>
                  </a:lnTo>
                  <a:lnTo>
                    <a:pt x="98186" y="152843"/>
                  </a:lnTo>
                  <a:lnTo>
                    <a:pt x="86205" y="162397"/>
                  </a:lnTo>
                  <a:lnTo>
                    <a:pt x="65459" y="166740"/>
                  </a:lnTo>
                  <a:lnTo>
                    <a:pt x="44711" y="162397"/>
                  </a:lnTo>
                  <a:lnTo>
                    <a:pt x="32729" y="152843"/>
                  </a:lnTo>
                  <a:lnTo>
                    <a:pt x="20748" y="143290"/>
                  </a:lnTo>
                  <a:lnTo>
                    <a:pt x="0" y="138947"/>
                  </a:lnTo>
                </a:path>
                <a:path w="523875" h="213360">
                  <a:moveTo>
                    <a:pt x="523661" y="185266"/>
                  </a:moveTo>
                  <a:lnTo>
                    <a:pt x="502912" y="189608"/>
                  </a:lnTo>
                  <a:lnTo>
                    <a:pt x="490931" y="199161"/>
                  </a:lnTo>
                  <a:lnTo>
                    <a:pt x="478949" y="208714"/>
                  </a:lnTo>
                  <a:lnTo>
                    <a:pt x="458200" y="213056"/>
                  </a:lnTo>
                  <a:lnTo>
                    <a:pt x="437455" y="208714"/>
                  </a:lnTo>
                  <a:lnTo>
                    <a:pt x="425474" y="199161"/>
                  </a:lnTo>
                  <a:lnTo>
                    <a:pt x="413493" y="189608"/>
                  </a:lnTo>
                  <a:lnTo>
                    <a:pt x="392747" y="185266"/>
                  </a:lnTo>
                  <a:lnTo>
                    <a:pt x="371999" y="189608"/>
                  </a:lnTo>
                  <a:lnTo>
                    <a:pt x="360017" y="199161"/>
                  </a:lnTo>
                  <a:lnTo>
                    <a:pt x="348035" y="208714"/>
                  </a:lnTo>
                  <a:lnTo>
                    <a:pt x="327287" y="213056"/>
                  </a:lnTo>
                  <a:lnTo>
                    <a:pt x="306538" y="208714"/>
                  </a:lnTo>
                  <a:lnTo>
                    <a:pt x="294556" y="199161"/>
                  </a:lnTo>
                  <a:lnTo>
                    <a:pt x="282575" y="189608"/>
                  </a:lnTo>
                  <a:lnTo>
                    <a:pt x="261826" y="185266"/>
                  </a:lnTo>
                  <a:lnTo>
                    <a:pt x="241082" y="189608"/>
                  </a:lnTo>
                  <a:lnTo>
                    <a:pt x="229102" y="199161"/>
                  </a:lnTo>
                  <a:lnTo>
                    <a:pt x="217122" y="208714"/>
                  </a:lnTo>
                  <a:lnTo>
                    <a:pt x="196373" y="213056"/>
                  </a:lnTo>
                  <a:lnTo>
                    <a:pt x="175624" y="208714"/>
                  </a:lnTo>
                  <a:lnTo>
                    <a:pt x="163643" y="199161"/>
                  </a:lnTo>
                  <a:lnTo>
                    <a:pt x="151661" y="189608"/>
                  </a:lnTo>
                  <a:lnTo>
                    <a:pt x="130912" y="185266"/>
                  </a:lnTo>
                  <a:lnTo>
                    <a:pt x="110167" y="189608"/>
                  </a:lnTo>
                  <a:lnTo>
                    <a:pt x="98186" y="199161"/>
                  </a:lnTo>
                  <a:lnTo>
                    <a:pt x="86205" y="208714"/>
                  </a:lnTo>
                  <a:lnTo>
                    <a:pt x="65459" y="213056"/>
                  </a:lnTo>
                  <a:lnTo>
                    <a:pt x="44711" y="208714"/>
                  </a:lnTo>
                  <a:lnTo>
                    <a:pt x="32729" y="199161"/>
                  </a:lnTo>
                  <a:lnTo>
                    <a:pt x="20748" y="189608"/>
                  </a:lnTo>
                  <a:lnTo>
                    <a:pt x="0" y="185266"/>
                  </a:lnTo>
                </a:path>
                <a:path w="523875" h="213360">
                  <a:moveTo>
                    <a:pt x="420794" y="46318"/>
                  </a:moveTo>
                  <a:lnTo>
                    <a:pt x="439497" y="46318"/>
                  </a:lnTo>
                </a:path>
              </a:pathLst>
            </a:custGeom>
            <a:ln w="186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11724975" y="5696508"/>
            <a:ext cx="2381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171717"/>
                </a:solidFill>
                <a:latin typeface="Malgun Gothic"/>
                <a:cs typeface="Malgun Gothic"/>
              </a:rPr>
              <a:t>.5%)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245363" y="5812535"/>
            <a:ext cx="1283335" cy="0"/>
          </a:xfrm>
          <a:custGeom>
            <a:avLst/>
            <a:gdLst/>
            <a:ahLst/>
            <a:cxnLst/>
            <a:rect l="l" t="t" r="r" b="b"/>
            <a:pathLst>
              <a:path w="1283335">
                <a:moveTo>
                  <a:pt x="0" y="0"/>
                </a:moveTo>
                <a:lnTo>
                  <a:pt x="128295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834895" y="5812535"/>
            <a:ext cx="1283335" cy="0"/>
          </a:xfrm>
          <a:custGeom>
            <a:avLst/>
            <a:gdLst/>
            <a:ahLst/>
            <a:cxnLst/>
            <a:rect l="l" t="t" r="r" b="b"/>
            <a:pathLst>
              <a:path w="1283335">
                <a:moveTo>
                  <a:pt x="0" y="0"/>
                </a:moveTo>
                <a:lnTo>
                  <a:pt x="128295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429000" y="5812535"/>
            <a:ext cx="1283335" cy="0"/>
          </a:xfrm>
          <a:custGeom>
            <a:avLst/>
            <a:gdLst/>
            <a:ahLst/>
            <a:cxnLst/>
            <a:rect l="l" t="t" r="r" b="b"/>
            <a:pathLst>
              <a:path w="1283335">
                <a:moveTo>
                  <a:pt x="0" y="0"/>
                </a:moveTo>
                <a:lnTo>
                  <a:pt x="128295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994147" y="5812535"/>
            <a:ext cx="1283335" cy="0"/>
          </a:xfrm>
          <a:custGeom>
            <a:avLst/>
            <a:gdLst/>
            <a:ahLst/>
            <a:cxnLst/>
            <a:rect l="l" t="t" r="r" b="b"/>
            <a:pathLst>
              <a:path w="1283335">
                <a:moveTo>
                  <a:pt x="0" y="0"/>
                </a:moveTo>
                <a:lnTo>
                  <a:pt x="128295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3339465" y="5815722"/>
            <a:ext cx="1427480" cy="45974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000" spc="-55" dirty="0">
                <a:latin typeface="Malgun Gothic"/>
                <a:cs typeface="Malgun Gothic"/>
              </a:rPr>
              <a:t>한화시스템(방산/ICT/기타)</a:t>
            </a:r>
            <a:endParaRPr sz="1000">
              <a:latin typeface="Malgun Gothic"/>
              <a:cs typeface="Malgun Gothic"/>
            </a:endParaRPr>
          </a:p>
          <a:p>
            <a:pPr marL="27940">
              <a:lnSpc>
                <a:spcPct val="100000"/>
              </a:lnSpc>
              <a:spcBef>
                <a:spcPts val="565"/>
              </a:spcBef>
            </a:pP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매출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증가에</a:t>
            </a:r>
            <a:r>
              <a:rPr sz="800" spc="-13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따른</a:t>
            </a:r>
            <a:r>
              <a:rPr sz="800" spc="-10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영업이익</a:t>
            </a:r>
            <a:r>
              <a:rPr sz="800" spc="-13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증가</a:t>
            </a:r>
            <a:r>
              <a:rPr sz="800" spc="-12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88BCFA"/>
                </a:solidFill>
                <a:latin typeface="Malgun Gothic"/>
                <a:cs typeface="Malgun Gothic"/>
              </a:rPr>
              <a:t>▲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046090" y="5894323"/>
            <a:ext cx="1195070" cy="537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9725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Malgun Gothic"/>
                <a:cs typeface="Malgun Gothic"/>
              </a:rPr>
              <a:t>한화오션</a:t>
            </a:r>
            <a:endParaRPr sz="1000">
              <a:latin typeface="Malgun Gothic"/>
              <a:cs typeface="Malgun Gothic"/>
            </a:endParaRPr>
          </a:p>
          <a:p>
            <a:pPr marL="12700" marR="5080" indent="43815">
              <a:lnSpc>
                <a:spcPct val="120000"/>
              </a:lnSpc>
              <a:spcBef>
                <a:spcPts val="525"/>
              </a:spcBef>
            </a:pP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원가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절감</a:t>
            </a:r>
            <a:r>
              <a:rPr sz="800" spc="-11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및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매출인식</a:t>
            </a:r>
            <a:r>
              <a:rPr sz="800" spc="-12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25" dirty="0">
                <a:solidFill>
                  <a:srgbClr val="88BCFA"/>
                </a:solidFill>
                <a:latin typeface="Malgun Gothic"/>
                <a:cs typeface="Malgun Gothic"/>
              </a:rPr>
              <a:t>선가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상승에</a:t>
            </a:r>
            <a:r>
              <a:rPr sz="800" spc="-125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따른</a:t>
            </a:r>
            <a:r>
              <a:rPr sz="800" spc="-12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영업이익</a:t>
            </a:r>
            <a:r>
              <a:rPr sz="800" spc="-13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95" dirty="0">
                <a:solidFill>
                  <a:srgbClr val="88BCFA"/>
                </a:solidFill>
                <a:latin typeface="Malgun Gothic"/>
                <a:cs typeface="Malgun Gothic"/>
              </a:rPr>
              <a:t>증가</a:t>
            </a:r>
            <a:r>
              <a:rPr sz="800" spc="-12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88BCFA"/>
                </a:solidFill>
                <a:latin typeface="Malgun Gothic"/>
                <a:cs typeface="Malgun Gothic"/>
              </a:rPr>
              <a:t>▲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45093" y="5976924"/>
            <a:ext cx="20827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65" dirty="0">
                <a:latin typeface="Malgun Gothic"/>
                <a:cs typeface="Malgun Gothic"/>
              </a:rPr>
              <a:t>기타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703821" y="6338722"/>
            <a:ext cx="3981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Malgun Gothic"/>
                <a:cs typeface="Malgun Gothic"/>
              </a:rPr>
              <a:t>2Q25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619492" y="6338722"/>
            <a:ext cx="3981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Malgun Gothic"/>
                <a:cs typeface="Malgun Gothic"/>
              </a:rPr>
              <a:t>2Q26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8673465" y="6288430"/>
            <a:ext cx="30257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 indent="-102870">
              <a:lnSpc>
                <a:spcPct val="100000"/>
              </a:lnSpc>
              <a:spcBef>
                <a:spcPts val="100"/>
              </a:spcBef>
              <a:buSzPct val="88888"/>
              <a:buChar char="•"/>
              <a:tabLst>
                <a:tab pos="115570" algn="l"/>
              </a:tabLst>
            </a:pPr>
            <a:r>
              <a:rPr sz="900" spc="-105" dirty="0">
                <a:latin typeface="Malgun Gothic"/>
                <a:cs typeface="Malgun Gothic"/>
              </a:rPr>
              <a:t>기타</a:t>
            </a:r>
            <a:r>
              <a:rPr sz="900" spc="-50" dirty="0">
                <a:latin typeface="Malgun Gothic"/>
                <a:cs typeface="Malgun Gothic"/>
              </a:rPr>
              <a:t> : </a:t>
            </a:r>
            <a:r>
              <a:rPr sz="900" spc="-85" dirty="0">
                <a:latin typeface="Malgun Gothic"/>
                <a:cs typeface="Malgun Gothic"/>
              </a:rPr>
              <a:t>쎄트렉아이</a:t>
            </a:r>
            <a:r>
              <a:rPr sz="900" spc="-95" dirty="0">
                <a:latin typeface="Malgun Gothic"/>
                <a:cs typeface="Malgun Gothic"/>
              </a:rPr>
              <a:t>, </a:t>
            </a:r>
            <a:r>
              <a:rPr sz="900" spc="-20" dirty="0">
                <a:latin typeface="Malgun Gothic"/>
                <a:cs typeface="Malgun Gothic"/>
              </a:rPr>
              <a:t>HOESS(</a:t>
            </a:r>
            <a:r>
              <a:rPr sz="900" spc="-50" dirty="0">
                <a:latin typeface="Batang"/>
                <a:cs typeface="Batang"/>
              </a:rPr>
              <a:t>舊 </a:t>
            </a:r>
            <a:r>
              <a:rPr sz="900" dirty="0">
                <a:latin typeface="Malgun Gothic"/>
                <a:cs typeface="Malgun Gothic"/>
              </a:rPr>
              <a:t>Dyna-mac</a:t>
            </a:r>
            <a:r>
              <a:rPr sz="900" spc="-25" dirty="0">
                <a:latin typeface="Malgun Gothic"/>
                <a:cs typeface="Malgun Gothic"/>
              </a:rPr>
              <a:t>), </a:t>
            </a:r>
            <a:r>
              <a:rPr sz="900" dirty="0">
                <a:latin typeface="Malgun Gothic"/>
                <a:cs typeface="Malgun Gothic"/>
              </a:rPr>
              <a:t>PPA</a:t>
            </a:r>
            <a:r>
              <a:rPr sz="900" spc="-95" dirty="0">
                <a:latin typeface="Malgun Gothic"/>
                <a:cs typeface="Malgun Gothic"/>
              </a:rPr>
              <a:t> </a:t>
            </a:r>
            <a:r>
              <a:rPr sz="900" spc="-60" dirty="0">
                <a:latin typeface="Malgun Gothic"/>
                <a:cs typeface="Malgun Gothic"/>
              </a:rPr>
              <a:t>상각</a:t>
            </a:r>
            <a:r>
              <a:rPr sz="900" spc="-75" dirty="0">
                <a:latin typeface="Malgun Gothic"/>
                <a:cs typeface="Malgun Gothic"/>
              </a:rPr>
              <a:t>, </a:t>
            </a:r>
            <a:r>
              <a:rPr sz="900" spc="-45" dirty="0">
                <a:latin typeface="Malgun Gothic"/>
                <a:cs typeface="Malgun Gothic"/>
              </a:rPr>
              <a:t>연결조정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7931" y="6678168"/>
            <a:ext cx="11687175" cy="0"/>
          </a:xfrm>
          <a:custGeom>
            <a:avLst/>
            <a:gdLst/>
            <a:ahLst/>
            <a:cxnLst/>
            <a:rect l="l" t="t" r="r" b="b"/>
            <a:pathLst>
              <a:path w="11687175">
                <a:moveTo>
                  <a:pt x="0" y="0"/>
                </a:moveTo>
                <a:lnTo>
                  <a:pt x="1168666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8279" y="70866"/>
            <a:ext cx="1760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algun Gothic"/>
                <a:cs typeface="Malgun Gothic"/>
              </a:rPr>
              <a:t>Financials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spc="-210" dirty="0">
                <a:latin typeface="Malgun Gothic"/>
                <a:cs typeface="Malgun Gothic"/>
              </a:rPr>
              <a:t>&gt;</a:t>
            </a:r>
            <a:r>
              <a:rPr sz="1200" spc="-175" dirty="0">
                <a:latin typeface="Malgun Gothic"/>
                <a:cs typeface="Malgun Gothic"/>
              </a:rPr>
              <a:t> </a:t>
            </a:r>
            <a:r>
              <a:rPr sz="1200" b="1" spc="-60" dirty="0">
                <a:solidFill>
                  <a:srgbClr val="626366"/>
                </a:solidFill>
                <a:latin typeface="Malgun Gothic"/>
                <a:cs typeface="Malgun Gothic"/>
              </a:rPr>
              <a:t>2Q26</a:t>
            </a:r>
            <a:r>
              <a:rPr sz="1200" b="1" spc="-120" dirty="0">
                <a:solidFill>
                  <a:srgbClr val="626366"/>
                </a:solidFill>
                <a:latin typeface="Malgun Gothic"/>
                <a:cs typeface="Malgun Gothic"/>
              </a:rPr>
              <a:t> </a:t>
            </a:r>
            <a:r>
              <a:rPr sz="1200" spc="-160" dirty="0">
                <a:solidFill>
                  <a:srgbClr val="626366"/>
                </a:solidFill>
                <a:latin typeface="Malgun Gothic"/>
                <a:cs typeface="Malgun Gothic"/>
              </a:rPr>
              <a:t>손익현황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907526" y="65988"/>
            <a:ext cx="29425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한화에어로스페이스</a:t>
            </a:r>
            <a:r>
              <a:rPr sz="1200" spc="-2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2026년</a:t>
            </a:r>
            <a:r>
              <a:rPr sz="1200" spc="-20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Malgun Gothic"/>
                <a:cs typeface="Malgun Gothic"/>
              </a:rPr>
              <a:t>2분기</a:t>
            </a:r>
            <a:r>
              <a:rPr sz="1200" spc="-1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실적</a:t>
            </a:r>
            <a:r>
              <a:rPr sz="1200" spc="-18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발표</a:t>
            </a:r>
            <a:r>
              <a:rPr sz="1200" spc="2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50" spc="-75" baseline="2525" dirty="0">
                <a:solidFill>
                  <a:srgbClr val="FFFFFF"/>
                </a:solidFill>
                <a:latin typeface="Malgun Gothic"/>
                <a:cs typeface="Malgun Gothic"/>
              </a:rPr>
              <a:t>7</a:t>
            </a:r>
            <a:endParaRPr sz="1650" baseline="2525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472" y="657605"/>
            <a:ext cx="25704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latin typeface="Malgun Gothic"/>
                <a:cs typeface="Malgun Gothic"/>
              </a:rPr>
              <a:t>2Q26</a:t>
            </a:r>
            <a:r>
              <a:rPr sz="2500" spc="-340" dirty="0">
                <a:latin typeface="Malgun Gothic"/>
                <a:cs typeface="Malgun Gothic"/>
              </a:rPr>
              <a:t> </a:t>
            </a:r>
            <a:r>
              <a:rPr sz="2500" spc="-275" dirty="0">
                <a:latin typeface="Malgun Gothic"/>
                <a:cs typeface="Malgun Gothic"/>
              </a:rPr>
              <a:t>손익현황</a:t>
            </a:r>
            <a:r>
              <a:rPr sz="2500" spc="-320" dirty="0">
                <a:latin typeface="Malgun Gothic"/>
                <a:cs typeface="Malgun Gothic"/>
              </a:rPr>
              <a:t> </a:t>
            </a:r>
            <a:r>
              <a:rPr sz="2500" spc="-25" dirty="0">
                <a:latin typeface="Malgun Gothic"/>
                <a:cs typeface="Malgun Gothic"/>
              </a:rPr>
              <a:t>(Ⅱ)</a:t>
            </a:r>
            <a:endParaRPr sz="2500">
              <a:latin typeface="Malgun Gothic"/>
              <a:cs typeface="Malgun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7931" y="1144524"/>
            <a:ext cx="11687175" cy="82550"/>
            <a:chOff x="217931" y="1144524"/>
            <a:chExt cx="11687175" cy="82550"/>
          </a:xfrm>
        </p:grpSpPr>
        <p:sp>
          <p:nvSpPr>
            <p:cNvPr id="6" name="object 6"/>
            <p:cNvSpPr/>
            <p:nvPr/>
          </p:nvSpPr>
          <p:spPr>
            <a:xfrm>
              <a:off x="217931" y="1144524"/>
              <a:ext cx="1979930" cy="82550"/>
            </a:xfrm>
            <a:custGeom>
              <a:avLst/>
              <a:gdLst/>
              <a:ahLst/>
              <a:cxnLst/>
              <a:rect l="l" t="t" r="r" b="b"/>
              <a:pathLst>
                <a:path w="1979930" h="82550">
                  <a:moveTo>
                    <a:pt x="1979676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1979676" y="82296"/>
                  </a:lnTo>
                  <a:lnTo>
                    <a:pt x="1979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931" y="1222248"/>
              <a:ext cx="11687175" cy="0"/>
            </a:xfrm>
            <a:custGeom>
              <a:avLst/>
              <a:gdLst/>
              <a:ahLst/>
              <a:cxnLst/>
              <a:rect l="l" t="t" r="r" b="b"/>
              <a:pathLst>
                <a:path w="11687175">
                  <a:moveTo>
                    <a:pt x="0" y="0"/>
                  </a:moveTo>
                  <a:lnTo>
                    <a:pt x="1168666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495658" y="1053846"/>
            <a:ext cx="4064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90" dirty="0">
                <a:solidFill>
                  <a:srgbClr val="7E7E7E"/>
                </a:solidFill>
                <a:latin typeface="Malgun Gothic"/>
                <a:cs typeface="Malgun Gothic"/>
              </a:rPr>
              <a:t>단위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dirty="0">
                <a:solidFill>
                  <a:srgbClr val="7E7E7E"/>
                </a:solidFill>
                <a:latin typeface="Malgun Gothic"/>
                <a:cs typeface="Malgun Gothic"/>
              </a:rPr>
              <a:t>: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55" dirty="0">
                <a:solidFill>
                  <a:srgbClr val="7E7E7E"/>
                </a:solidFill>
                <a:latin typeface="Malgun Gothic"/>
                <a:cs typeface="Malgun Gothic"/>
              </a:rPr>
              <a:t>억원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0472" y="1460703"/>
            <a:ext cx="6565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50" dirty="0">
                <a:latin typeface="Malgun Gothic"/>
                <a:cs typeface="Malgun Gothic"/>
              </a:rPr>
              <a:t>총</a:t>
            </a:r>
            <a:r>
              <a:rPr sz="1300" b="1" spc="-175" dirty="0">
                <a:latin typeface="Malgun Gothic"/>
                <a:cs typeface="Malgun Gothic"/>
              </a:rPr>
              <a:t> </a:t>
            </a:r>
            <a:r>
              <a:rPr sz="1300" b="1" spc="-114" dirty="0">
                <a:latin typeface="Malgun Gothic"/>
                <a:cs typeface="Malgun Gothic"/>
              </a:rPr>
              <a:t>매출액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6125" y="1718310"/>
            <a:ext cx="607060" cy="0"/>
          </a:xfrm>
          <a:custGeom>
            <a:avLst/>
            <a:gdLst/>
            <a:ahLst/>
            <a:cxnLst/>
            <a:rect l="l" t="t" r="r" b="b"/>
            <a:pathLst>
              <a:path w="607060">
                <a:moveTo>
                  <a:pt x="0" y="0"/>
                </a:moveTo>
                <a:lnTo>
                  <a:pt x="60669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5752" y="1473940"/>
            <a:ext cx="2183130" cy="1354455"/>
          </a:xfrm>
          <a:prstGeom prst="rect">
            <a:avLst/>
          </a:prstGeom>
        </p:spPr>
        <p:txBody>
          <a:bodyPr vert="horz" wrap="square" lIns="0" tIns="4146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265"/>
              </a:spcBef>
            </a:pPr>
            <a:r>
              <a:rPr sz="4500" b="1" spc="-10" dirty="0">
                <a:solidFill>
                  <a:srgbClr val="88BCFA"/>
                </a:solidFill>
                <a:latin typeface="Malgun Gothic"/>
                <a:cs typeface="Malgun Gothic"/>
              </a:rPr>
              <a:t>92,929</a:t>
            </a:r>
            <a:r>
              <a:rPr sz="1950" b="1" spc="-15" baseline="89743" dirty="0">
                <a:solidFill>
                  <a:srgbClr val="88BCFA"/>
                </a:solidFill>
                <a:latin typeface="Malgun Gothic"/>
                <a:cs typeface="Malgun Gothic"/>
              </a:rPr>
              <a:t>억원</a:t>
            </a:r>
            <a:endParaRPr sz="1950" baseline="89743">
              <a:latin typeface="Malgun Gothic"/>
              <a:cs typeface="Malgun Gothic"/>
            </a:endParaRPr>
          </a:p>
          <a:p>
            <a:pPr marL="64769">
              <a:lnSpc>
                <a:spcPct val="100000"/>
              </a:lnSpc>
              <a:spcBef>
                <a:spcPts val="700"/>
              </a:spcBef>
              <a:tabLst>
                <a:tab pos="764540" algn="l"/>
              </a:tabLst>
            </a:pPr>
            <a:r>
              <a:rPr sz="1000" b="1" spc="-20" dirty="0">
                <a:latin typeface="Malgun Gothic"/>
                <a:cs typeface="Malgun Gothic"/>
              </a:rPr>
              <a:t>영업이익</a:t>
            </a:r>
            <a:r>
              <a:rPr sz="1000" b="1" dirty="0">
                <a:latin typeface="Malgun Gothic"/>
                <a:cs typeface="Malgun Gothic"/>
              </a:rPr>
              <a:t>	</a:t>
            </a:r>
            <a:r>
              <a:rPr sz="1000" b="1" spc="-10" dirty="0">
                <a:latin typeface="Malgun Gothic"/>
                <a:cs typeface="Malgun Gothic"/>
              </a:rPr>
              <a:t>13,655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118104" y="1395983"/>
            <a:ext cx="0" cy="1536700"/>
          </a:xfrm>
          <a:custGeom>
            <a:avLst/>
            <a:gdLst/>
            <a:ahLst/>
            <a:cxnLst/>
            <a:rect l="l" t="t" r="r" b="b"/>
            <a:pathLst>
              <a:path h="1536700">
                <a:moveTo>
                  <a:pt x="0" y="0"/>
                </a:moveTo>
                <a:lnTo>
                  <a:pt x="0" y="1536700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21811" y="1410080"/>
            <a:ext cx="575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10" dirty="0">
                <a:latin typeface="Malgun Gothic"/>
                <a:cs typeface="Malgun Gothic"/>
              </a:rPr>
              <a:t>지상방산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6947" y="1935811"/>
            <a:ext cx="819150" cy="5715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0"/>
              </a:spcBef>
            </a:pPr>
            <a:r>
              <a:rPr sz="900" b="1" spc="-25" dirty="0">
                <a:latin typeface="Malgun Gothic"/>
                <a:cs typeface="Malgun Gothic"/>
              </a:rPr>
              <a:t>매출액</a:t>
            </a:r>
            <a:endParaRPr sz="9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000" b="1" spc="-10" dirty="0">
                <a:solidFill>
                  <a:srgbClr val="88BCFA"/>
                </a:solidFill>
                <a:latin typeface="Malgun Gothic"/>
                <a:cs typeface="Malgun Gothic"/>
              </a:rPr>
              <a:t>21,075</a:t>
            </a:r>
            <a:endParaRPr sz="2000">
              <a:latin typeface="Malgun Gothic"/>
              <a:cs typeface="Malgun Gothic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278123" y="2636834"/>
          <a:ext cx="4695824" cy="295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3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pPr marL="31750">
                        <a:lnSpc>
                          <a:spcPts val="869"/>
                        </a:lnSpc>
                        <a:tabLst>
                          <a:tab pos="549275" algn="l"/>
                        </a:tabLst>
                      </a:pPr>
                      <a:r>
                        <a:rPr sz="800" b="1" spc="-20" dirty="0">
                          <a:latin typeface="Malgun Gothic"/>
                          <a:cs typeface="Malgun Gothic"/>
                        </a:rPr>
                        <a:t>영업이익</a:t>
                      </a:r>
                      <a:r>
                        <a:rPr sz="800" b="1" dirty="0">
                          <a:latin typeface="Malgun Gothic"/>
                          <a:cs typeface="Malgun Gothic"/>
                        </a:rPr>
                        <a:t>	</a:t>
                      </a:r>
                      <a:r>
                        <a:rPr sz="800" b="1" spc="-10" dirty="0">
                          <a:latin typeface="Malgun Gothic"/>
                          <a:cs typeface="Malgun Gothic"/>
                        </a:rPr>
                        <a:t>5,330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869"/>
                        </a:lnSpc>
                      </a:pPr>
                      <a:r>
                        <a:rPr sz="800" b="1" spc="-20" dirty="0">
                          <a:latin typeface="Malgun Gothic"/>
                          <a:cs typeface="Malgun Gothic"/>
                        </a:rPr>
                        <a:t>영업이익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869"/>
                        </a:lnSpc>
                      </a:pPr>
                      <a:r>
                        <a:rPr sz="800" b="1" spc="-25" dirty="0">
                          <a:latin typeface="Malgun Gothic"/>
                          <a:cs typeface="Malgun Gothic"/>
                        </a:rPr>
                        <a:t>370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ts val="869"/>
                        </a:lnSpc>
                      </a:pPr>
                      <a:r>
                        <a:rPr sz="800" b="1" spc="-20" dirty="0">
                          <a:latin typeface="Malgun Gothic"/>
                          <a:cs typeface="Malgun Gothic"/>
                        </a:rPr>
                        <a:t>영업이익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69"/>
                        </a:lnSpc>
                      </a:pPr>
                      <a:r>
                        <a:rPr sz="800" b="1" spc="-10" dirty="0">
                          <a:latin typeface="Malgun Gothic"/>
                          <a:cs typeface="Malgun Gothic"/>
                        </a:rPr>
                        <a:t>1,037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0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b="1" spc="-35" dirty="0">
                          <a:latin typeface="Malgun Gothic"/>
                          <a:cs typeface="Malgun Gothic"/>
                        </a:rPr>
                        <a:t>영업이익률</a:t>
                      </a:r>
                      <a:r>
                        <a:rPr sz="800" b="1" spc="3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-10" dirty="0">
                          <a:latin typeface="Malgun Gothic"/>
                          <a:cs typeface="Malgun Gothic"/>
                        </a:rPr>
                        <a:t>25.3</a:t>
                      </a:r>
                      <a:r>
                        <a:rPr sz="800" b="1" spc="-1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-50" dirty="0">
                          <a:latin typeface="Malgun Gothic"/>
                          <a:cs typeface="Malgun Gothic"/>
                        </a:rPr>
                        <a:t>%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b="1" spc="-25" dirty="0">
                          <a:latin typeface="Malgun Gothic"/>
                          <a:cs typeface="Malgun Gothic"/>
                        </a:rPr>
                        <a:t>영업이익률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b="1" dirty="0">
                          <a:latin typeface="Malgun Gothic"/>
                          <a:cs typeface="Malgun Gothic"/>
                        </a:rPr>
                        <a:t>4.9</a:t>
                      </a:r>
                      <a:r>
                        <a:rPr sz="800" b="1" spc="-1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-60" dirty="0">
                          <a:latin typeface="Malgun Gothic"/>
                          <a:cs typeface="Malgun Gothic"/>
                        </a:rPr>
                        <a:t>%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b="1" spc="-10" dirty="0">
                          <a:latin typeface="Malgun Gothic"/>
                          <a:cs typeface="Malgun Gothic"/>
                        </a:rPr>
                        <a:t>영업이익률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b="1" dirty="0">
                          <a:latin typeface="Malgun Gothic"/>
                          <a:cs typeface="Malgun Gothic"/>
                        </a:rPr>
                        <a:t>9.3</a:t>
                      </a:r>
                      <a:r>
                        <a:rPr sz="800" b="1" spc="-1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-60" dirty="0">
                          <a:latin typeface="Malgun Gothic"/>
                          <a:cs typeface="Malgun Gothic"/>
                        </a:rPr>
                        <a:t>%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4986528" y="1395983"/>
            <a:ext cx="0" cy="1536700"/>
          </a:xfrm>
          <a:custGeom>
            <a:avLst/>
            <a:gdLst/>
            <a:ahLst/>
            <a:cxnLst/>
            <a:rect l="l" t="t" r="r" b="b"/>
            <a:pathLst>
              <a:path h="1536700">
                <a:moveTo>
                  <a:pt x="0" y="0"/>
                </a:moveTo>
                <a:lnTo>
                  <a:pt x="0" y="1536700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182870" y="1410080"/>
            <a:ext cx="575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10" dirty="0">
                <a:latin typeface="Malgun Gothic"/>
                <a:cs typeface="Malgun Gothic"/>
              </a:rPr>
              <a:t>항공우주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61279" y="1935811"/>
            <a:ext cx="694055" cy="5715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900" b="1" spc="-25" dirty="0">
                <a:latin typeface="Malgun Gothic"/>
                <a:cs typeface="Malgun Gothic"/>
              </a:rPr>
              <a:t>매출액</a:t>
            </a:r>
            <a:endParaRPr sz="900">
              <a:latin typeface="Malgun Gothic"/>
              <a:cs typeface="Malgun Gothic"/>
            </a:endParaRPr>
          </a:p>
          <a:p>
            <a:pPr marL="31750">
              <a:lnSpc>
                <a:spcPct val="100000"/>
              </a:lnSpc>
              <a:spcBef>
                <a:spcPts val="565"/>
              </a:spcBef>
            </a:pPr>
            <a:r>
              <a:rPr sz="2000" b="1" spc="-10" dirty="0">
                <a:solidFill>
                  <a:srgbClr val="88BCFA"/>
                </a:solidFill>
                <a:latin typeface="Malgun Gothic"/>
                <a:cs typeface="Malgun Gothic"/>
              </a:rPr>
              <a:t>7,600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873240" y="1395983"/>
            <a:ext cx="0" cy="1536700"/>
          </a:xfrm>
          <a:custGeom>
            <a:avLst/>
            <a:gdLst/>
            <a:ahLst/>
            <a:cxnLst/>
            <a:rect l="l" t="t" r="r" b="b"/>
            <a:pathLst>
              <a:path h="1536700">
                <a:moveTo>
                  <a:pt x="0" y="0"/>
                </a:moveTo>
                <a:lnTo>
                  <a:pt x="0" y="1536700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063231" y="1410080"/>
            <a:ext cx="711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14" dirty="0">
                <a:latin typeface="Malgun Gothic"/>
                <a:cs typeface="Malgun Gothic"/>
              </a:rPr>
              <a:t>한화시스템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47103" y="1935811"/>
            <a:ext cx="824865" cy="5715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900" b="1" spc="-25" dirty="0">
                <a:latin typeface="Malgun Gothic"/>
                <a:cs typeface="Malgun Gothic"/>
              </a:rPr>
              <a:t>매출액</a:t>
            </a:r>
            <a:endParaRPr sz="900">
              <a:latin typeface="Malgun Gothic"/>
              <a:cs typeface="Malgun Gothic"/>
            </a:endParaRPr>
          </a:p>
          <a:p>
            <a:pPr marL="18415">
              <a:lnSpc>
                <a:spcPct val="100000"/>
              </a:lnSpc>
              <a:spcBef>
                <a:spcPts val="565"/>
              </a:spcBef>
            </a:pPr>
            <a:r>
              <a:rPr sz="2000" b="1" spc="-10" dirty="0">
                <a:solidFill>
                  <a:srgbClr val="88BCFA"/>
                </a:solidFill>
                <a:latin typeface="Malgun Gothic"/>
                <a:cs typeface="Malgun Gothic"/>
              </a:rPr>
              <a:t>11,176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775192" y="1395983"/>
            <a:ext cx="0" cy="1536700"/>
          </a:xfrm>
          <a:custGeom>
            <a:avLst/>
            <a:gdLst/>
            <a:ahLst/>
            <a:cxnLst/>
            <a:rect l="l" t="t" r="r" b="b"/>
            <a:pathLst>
              <a:path h="1536700">
                <a:moveTo>
                  <a:pt x="0" y="0"/>
                </a:moveTo>
                <a:lnTo>
                  <a:pt x="0" y="1536700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949690" y="1410080"/>
            <a:ext cx="575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10" dirty="0">
                <a:latin typeface="Malgun Gothic"/>
                <a:cs typeface="Malgun Gothic"/>
              </a:rPr>
              <a:t>한화오션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318509" y="1678685"/>
            <a:ext cx="598170" cy="0"/>
          </a:xfrm>
          <a:custGeom>
            <a:avLst/>
            <a:gdLst/>
            <a:ahLst/>
            <a:cxnLst/>
            <a:rect l="l" t="t" r="r" b="b"/>
            <a:pathLst>
              <a:path w="598170">
                <a:moveTo>
                  <a:pt x="0" y="0"/>
                </a:moveTo>
                <a:lnTo>
                  <a:pt x="597788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86934" y="1678685"/>
            <a:ext cx="596265" cy="0"/>
          </a:xfrm>
          <a:custGeom>
            <a:avLst/>
            <a:gdLst/>
            <a:ahLst/>
            <a:cxnLst/>
            <a:rect l="l" t="t" r="r" b="b"/>
            <a:pathLst>
              <a:path w="596264">
                <a:moveTo>
                  <a:pt x="0" y="0"/>
                </a:moveTo>
                <a:lnTo>
                  <a:pt x="59575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72121" y="1678685"/>
            <a:ext cx="688340" cy="0"/>
          </a:xfrm>
          <a:custGeom>
            <a:avLst/>
            <a:gdLst/>
            <a:ahLst/>
            <a:cxnLst/>
            <a:rect l="l" t="t" r="r" b="b"/>
            <a:pathLst>
              <a:path w="688340">
                <a:moveTo>
                  <a:pt x="0" y="0"/>
                </a:moveTo>
                <a:lnTo>
                  <a:pt x="687958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974073" y="1678685"/>
            <a:ext cx="588010" cy="0"/>
          </a:xfrm>
          <a:custGeom>
            <a:avLst/>
            <a:gdLst/>
            <a:ahLst/>
            <a:cxnLst/>
            <a:rect l="l" t="t" r="r" b="b"/>
            <a:pathLst>
              <a:path w="588009">
                <a:moveTo>
                  <a:pt x="0" y="0"/>
                </a:moveTo>
                <a:lnTo>
                  <a:pt x="587628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928861" y="1947446"/>
            <a:ext cx="926465" cy="94424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260"/>
              </a:spcBef>
            </a:pPr>
            <a:r>
              <a:rPr sz="900" b="1" spc="-25" dirty="0">
                <a:latin typeface="Malgun Gothic"/>
                <a:cs typeface="Malgun Gothic"/>
              </a:rPr>
              <a:t>매출액</a:t>
            </a:r>
            <a:endParaRPr sz="900">
              <a:latin typeface="Malgun Gothic"/>
              <a:cs typeface="Malgun Gothic"/>
            </a:endParaRPr>
          </a:p>
          <a:p>
            <a:pPr marL="36195">
              <a:lnSpc>
                <a:spcPct val="100000"/>
              </a:lnSpc>
              <a:spcBef>
                <a:spcPts val="360"/>
              </a:spcBef>
            </a:pPr>
            <a:r>
              <a:rPr sz="2000" b="1" spc="-10" dirty="0">
                <a:solidFill>
                  <a:srgbClr val="88BCFA"/>
                </a:solidFill>
                <a:latin typeface="Malgun Gothic"/>
                <a:cs typeface="Malgun Gothic"/>
              </a:rPr>
              <a:t>54,432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552450" algn="l"/>
              </a:tabLst>
            </a:pPr>
            <a:r>
              <a:rPr sz="800" b="1" spc="-20" dirty="0">
                <a:latin typeface="Malgun Gothic"/>
                <a:cs typeface="Malgun Gothic"/>
              </a:rPr>
              <a:t>영업이익</a:t>
            </a:r>
            <a:r>
              <a:rPr sz="800" b="1" dirty="0">
                <a:latin typeface="Malgun Gothic"/>
                <a:cs typeface="Malgun Gothic"/>
              </a:rPr>
              <a:t>	</a:t>
            </a:r>
            <a:r>
              <a:rPr sz="800" b="1" spc="-10" dirty="0">
                <a:latin typeface="Malgun Gothic"/>
                <a:cs typeface="Malgun Gothic"/>
              </a:rPr>
              <a:t>7,361</a:t>
            </a:r>
            <a:endParaRPr sz="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  <a:tabLst>
                <a:tab pos="598170" algn="l"/>
              </a:tabLst>
            </a:pPr>
            <a:r>
              <a:rPr sz="800" b="1" spc="-10" dirty="0">
                <a:latin typeface="Malgun Gothic"/>
                <a:cs typeface="Malgun Gothic"/>
              </a:rPr>
              <a:t>영엽이익률</a:t>
            </a:r>
            <a:r>
              <a:rPr sz="800" b="1" dirty="0">
                <a:latin typeface="Malgun Gothic"/>
                <a:cs typeface="Malgun Gothic"/>
              </a:rPr>
              <a:t>	13.5</a:t>
            </a:r>
            <a:r>
              <a:rPr sz="800" b="1" spc="-150" dirty="0">
                <a:latin typeface="Malgun Gothic"/>
                <a:cs typeface="Malgun Gothic"/>
              </a:rPr>
              <a:t> </a:t>
            </a:r>
            <a:r>
              <a:rPr sz="800" b="1" spc="-50" dirty="0">
                <a:latin typeface="Malgun Gothic"/>
                <a:cs typeface="Malgun Gothic"/>
              </a:rPr>
              <a:t>%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8279" y="2905505"/>
            <a:ext cx="11487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45490" algn="l"/>
              </a:tabLst>
            </a:pPr>
            <a:r>
              <a:rPr sz="1000" b="1" spc="-10" dirty="0">
                <a:latin typeface="Malgun Gothic"/>
                <a:cs typeface="Malgun Gothic"/>
              </a:rPr>
              <a:t>영업이익률</a:t>
            </a:r>
            <a:r>
              <a:rPr sz="1000" b="1" dirty="0">
                <a:latin typeface="Malgun Gothic"/>
                <a:cs typeface="Malgun Gothic"/>
              </a:rPr>
              <a:t>	</a:t>
            </a:r>
            <a:r>
              <a:rPr sz="1000" b="1" spc="-10" dirty="0">
                <a:latin typeface="Malgun Gothic"/>
                <a:cs typeface="Malgun Gothic"/>
              </a:rPr>
              <a:t>14.7</a:t>
            </a:r>
            <a:r>
              <a:rPr sz="1000" b="1" spc="-160" dirty="0">
                <a:latin typeface="Malgun Gothic"/>
                <a:cs typeface="Malgun Gothic"/>
              </a:rPr>
              <a:t> </a:t>
            </a:r>
            <a:r>
              <a:rPr sz="1000" b="1" spc="-50" dirty="0">
                <a:latin typeface="Malgun Gothic"/>
                <a:cs typeface="Malgun Gothic"/>
              </a:rPr>
              <a:t>%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7931" y="3328415"/>
            <a:ext cx="11687175" cy="0"/>
          </a:xfrm>
          <a:custGeom>
            <a:avLst/>
            <a:gdLst/>
            <a:ahLst/>
            <a:cxnLst/>
            <a:rect l="l" t="t" r="r" b="b"/>
            <a:pathLst>
              <a:path w="11687175">
                <a:moveTo>
                  <a:pt x="0" y="0"/>
                </a:moveTo>
                <a:lnTo>
                  <a:pt x="1168666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88673" y="3545204"/>
            <a:ext cx="4064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90" dirty="0">
                <a:solidFill>
                  <a:srgbClr val="7E7E7E"/>
                </a:solidFill>
                <a:latin typeface="Malgun Gothic"/>
                <a:cs typeface="Malgun Gothic"/>
              </a:rPr>
              <a:t>단위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dirty="0">
                <a:solidFill>
                  <a:srgbClr val="7E7E7E"/>
                </a:solidFill>
                <a:latin typeface="Malgun Gothic"/>
                <a:cs typeface="Malgun Gothic"/>
              </a:rPr>
              <a:t>: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55" dirty="0">
                <a:solidFill>
                  <a:srgbClr val="7E7E7E"/>
                </a:solidFill>
                <a:latin typeface="Malgun Gothic"/>
                <a:cs typeface="Malgun Gothic"/>
              </a:rPr>
              <a:t>억원</a:t>
            </a:r>
            <a:endParaRPr sz="700">
              <a:latin typeface="Malgun Gothic"/>
              <a:cs typeface="Malgun Gothic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11924" y="3728529"/>
          <a:ext cx="11685269" cy="2425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75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7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b="1" spc="-25" dirty="0">
                          <a:latin typeface="Malgun Gothic"/>
                          <a:cs typeface="Malgun Gothic"/>
                        </a:rPr>
                        <a:t>구분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5104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b="1" spc="-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2Q26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064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1930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b="1" spc="-2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2Q25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0645" marB="0">
                    <a:lnL w="6350">
                      <a:solidFill>
                        <a:srgbClr val="7E7E7E"/>
                      </a:solidFill>
                      <a:prstDash val="sysDash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383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b="1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1000" b="1" spc="-21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YoY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064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b="1" spc="-2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1Q26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064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b="1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1000" b="1" spc="-21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QoQ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064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spc="-25" dirty="0">
                          <a:latin typeface="Malgun Gothic"/>
                          <a:cs typeface="Malgun Gothic"/>
                        </a:rPr>
                        <a:t>매출액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92,929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spc="-10" dirty="0">
                          <a:solidFill>
                            <a:srgbClr val="808080"/>
                          </a:solidFill>
                          <a:latin typeface="Malgun Gothic"/>
                          <a:cs typeface="Malgun Gothic"/>
                        </a:rPr>
                        <a:t>63,110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47%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57,510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62%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spc="-20" dirty="0">
                          <a:latin typeface="Malgun Gothic"/>
                          <a:cs typeface="Malgun Gothic"/>
                        </a:rPr>
                        <a:t>영업이익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13,655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spc="-20" dirty="0">
                          <a:solidFill>
                            <a:srgbClr val="808080"/>
                          </a:solidFill>
                          <a:latin typeface="Malgun Gothic"/>
                          <a:cs typeface="Malgun Gothic"/>
                        </a:rPr>
                        <a:t>8,614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59%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spc="-2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6,389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114%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spc="-20" dirty="0">
                          <a:latin typeface="Malgun Gothic"/>
                          <a:cs typeface="Malgun Gothic"/>
                        </a:rPr>
                        <a:t>세전이익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12,467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spc="-20" dirty="0">
                          <a:solidFill>
                            <a:srgbClr val="808080"/>
                          </a:solidFill>
                          <a:latin typeface="Malgun Gothic"/>
                          <a:cs typeface="Malgun Gothic"/>
                        </a:rPr>
                        <a:t>4,664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208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167%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spc="-2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5,549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125%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spc="-50" dirty="0">
                          <a:latin typeface="Malgun Gothic"/>
                          <a:cs typeface="Malgun Gothic"/>
                        </a:rPr>
                        <a:t>당기순이익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10,805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spc="-20" dirty="0">
                          <a:solidFill>
                            <a:srgbClr val="808080"/>
                          </a:solidFill>
                          <a:latin typeface="Malgun Gothic"/>
                          <a:cs typeface="Malgun Gothic"/>
                        </a:rPr>
                        <a:t>2,862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208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278%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spc="-2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5,263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105%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spc="-10" dirty="0">
                          <a:latin typeface="Malgun Gothic"/>
                          <a:cs typeface="Malgun Gothic"/>
                        </a:rPr>
                        <a:t>영업이익률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462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14.7%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13.6%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1.1%p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11.1</a:t>
                      </a:r>
                      <a:r>
                        <a:rPr sz="1000" spc="-7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3.6%p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spc="-10" dirty="0">
                          <a:latin typeface="Malgun Gothic"/>
                          <a:cs typeface="Malgun Gothic"/>
                        </a:rPr>
                        <a:t>세전이익률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462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13.4%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spc="-2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7.4%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6.0%p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208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9.6</a:t>
                      </a:r>
                      <a:r>
                        <a:rPr sz="1000" spc="-8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3.8%p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spc="-10" dirty="0">
                          <a:latin typeface="Malgun Gothic"/>
                          <a:cs typeface="Malgun Gothic"/>
                        </a:rPr>
                        <a:t>당기순이익률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462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11.6%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spc="-2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4.5%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7.1%p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208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9.2</a:t>
                      </a:r>
                      <a:r>
                        <a:rPr sz="1000" spc="-8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2.4%p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402590"/>
            <a:chOff x="0" y="0"/>
            <a:chExt cx="12192000" cy="40259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350250" cy="332740"/>
            </a:xfrm>
            <a:custGeom>
              <a:avLst/>
              <a:gdLst/>
              <a:ahLst/>
              <a:cxnLst/>
              <a:rect l="l" t="t" r="r" b="b"/>
              <a:pathLst>
                <a:path w="8350250" h="332740">
                  <a:moveTo>
                    <a:pt x="0" y="332231"/>
                  </a:moveTo>
                  <a:lnTo>
                    <a:pt x="8349996" y="332231"/>
                  </a:lnTo>
                  <a:lnTo>
                    <a:pt x="8349996" y="0"/>
                  </a:lnTo>
                  <a:lnTo>
                    <a:pt x="0" y="0"/>
                  </a:lnTo>
                  <a:lnTo>
                    <a:pt x="0" y="33223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349995" y="0"/>
              <a:ext cx="3842385" cy="332740"/>
            </a:xfrm>
            <a:custGeom>
              <a:avLst/>
              <a:gdLst/>
              <a:ahLst/>
              <a:cxnLst/>
              <a:rect l="l" t="t" r="r" b="b"/>
              <a:pathLst>
                <a:path w="3842384" h="332740">
                  <a:moveTo>
                    <a:pt x="3842004" y="0"/>
                  </a:moveTo>
                  <a:lnTo>
                    <a:pt x="0" y="0"/>
                  </a:lnTo>
                  <a:lnTo>
                    <a:pt x="0" y="332231"/>
                  </a:lnTo>
                  <a:lnTo>
                    <a:pt x="3842004" y="332231"/>
                  </a:lnTo>
                  <a:lnTo>
                    <a:pt x="3842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30708"/>
              <a:ext cx="12192000" cy="71755"/>
            </a:xfrm>
            <a:custGeom>
              <a:avLst/>
              <a:gdLst/>
              <a:ahLst/>
              <a:cxnLst/>
              <a:rect l="l" t="t" r="r" b="b"/>
              <a:pathLst>
                <a:path w="12192000" h="71754">
                  <a:moveTo>
                    <a:pt x="12192000" y="0"/>
                  </a:moveTo>
                  <a:lnTo>
                    <a:pt x="0" y="0"/>
                  </a:lnTo>
                  <a:lnTo>
                    <a:pt x="0" y="71628"/>
                  </a:lnTo>
                  <a:lnTo>
                    <a:pt x="12192000" y="7162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8279" y="70866"/>
            <a:ext cx="1760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algun Gothic"/>
                <a:cs typeface="Malgun Gothic"/>
              </a:rPr>
              <a:t>Financials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spc="-210" dirty="0">
                <a:latin typeface="Malgun Gothic"/>
                <a:cs typeface="Malgun Gothic"/>
              </a:rPr>
              <a:t>&gt;</a:t>
            </a:r>
            <a:r>
              <a:rPr sz="1200" spc="-175" dirty="0">
                <a:latin typeface="Malgun Gothic"/>
                <a:cs typeface="Malgun Gothic"/>
              </a:rPr>
              <a:t> </a:t>
            </a:r>
            <a:r>
              <a:rPr sz="1200" b="1" spc="-60" dirty="0">
                <a:solidFill>
                  <a:srgbClr val="626366"/>
                </a:solidFill>
                <a:latin typeface="Malgun Gothic"/>
                <a:cs typeface="Malgun Gothic"/>
              </a:rPr>
              <a:t>2Q26</a:t>
            </a:r>
            <a:r>
              <a:rPr sz="1200" b="1" spc="-120" dirty="0">
                <a:solidFill>
                  <a:srgbClr val="626366"/>
                </a:solidFill>
                <a:latin typeface="Malgun Gothic"/>
                <a:cs typeface="Malgun Gothic"/>
              </a:rPr>
              <a:t> </a:t>
            </a:r>
            <a:r>
              <a:rPr sz="1200" spc="-160" dirty="0">
                <a:solidFill>
                  <a:srgbClr val="626366"/>
                </a:solidFill>
                <a:latin typeface="Malgun Gothic"/>
                <a:cs typeface="Malgun Gothic"/>
              </a:rPr>
              <a:t>재무현황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07526" y="65988"/>
            <a:ext cx="29425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한화에어로스페이스</a:t>
            </a:r>
            <a:r>
              <a:rPr sz="1200" spc="-2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2026년</a:t>
            </a:r>
            <a:r>
              <a:rPr sz="1200" spc="-20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Malgun Gothic"/>
                <a:cs typeface="Malgun Gothic"/>
              </a:rPr>
              <a:t>2분기</a:t>
            </a:r>
            <a:r>
              <a:rPr sz="1200" spc="-1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실적</a:t>
            </a:r>
            <a:r>
              <a:rPr sz="1200" spc="-18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발표</a:t>
            </a:r>
            <a:r>
              <a:rPr sz="1200" spc="2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50" spc="-75" baseline="2525" dirty="0">
                <a:solidFill>
                  <a:srgbClr val="FFFFFF"/>
                </a:solidFill>
                <a:latin typeface="Malgun Gothic"/>
                <a:cs typeface="Malgun Gothic"/>
              </a:rPr>
              <a:t>8</a:t>
            </a:r>
            <a:endParaRPr sz="1650" baseline="2525">
              <a:latin typeface="Malgun Gothic"/>
              <a:cs typeface="Malgun Gothic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5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2Q26</a:t>
            </a:r>
            <a:r>
              <a:rPr spc="-325" dirty="0"/>
              <a:t> </a:t>
            </a:r>
            <a:r>
              <a:rPr spc="-295" dirty="0"/>
              <a:t>재무현황</a:t>
            </a:r>
          </a:p>
        </p:txBody>
      </p:sp>
      <p:sp>
        <p:nvSpPr>
          <p:cNvPr id="9" name="object 9"/>
          <p:cNvSpPr/>
          <p:nvPr/>
        </p:nvSpPr>
        <p:spPr>
          <a:xfrm>
            <a:off x="217931" y="1144524"/>
            <a:ext cx="1979930" cy="82550"/>
          </a:xfrm>
          <a:custGeom>
            <a:avLst/>
            <a:gdLst/>
            <a:ahLst/>
            <a:cxnLst/>
            <a:rect l="l" t="t" r="r" b="b"/>
            <a:pathLst>
              <a:path w="1979930" h="82550">
                <a:moveTo>
                  <a:pt x="1979676" y="0"/>
                </a:moveTo>
                <a:lnTo>
                  <a:pt x="0" y="0"/>
                </a:lnTo>
                <a:lnTo>
                  <a:pt x="0" y="82296"/>
                </a:lnTo>
                <a:lnTo>
                  <a:pt x="1979676" y="82296"/>
                </a:lnTo>
                <a:lnTo>
                  <a:pt x="19796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497436" y="1213866"/>
            <a:ext cx="40703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90" dirty="0">
                <a:solidFill>
                  <a:srgbClr val="7E7E7E"/>
                </a:solidFill>
                <a:latin typeface="Malgun Gothic"/>
                <a:cs typeface="Malgun Gothic"/>
              </a:rPr>
              <a:t>단위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dirty="0">
                <a:solidFill>
                  <a:srgbClr val="7E7E7E"/>
                </a:solidFill>
                <a:latin typeface="Malgun Gothic"/>
                <a:cs typeface="Malgun Gothic"/>
              </a:rPr>
              <a:t>:</a:t>
            </a:r>
            <a:r>
              <a:rPr sz="700" spc="-60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55" dirty="0">
                <a:solidFill>
                  <a:srgbClr val="7E7E7E"/>
                </a:solidFill>
                <a:latin typeface="Malgun Gothic"/>
                <a:cs typeface="Malgun Gothic"/>
              </a:rPr>
              <a:t>억원</a:t>
            </a:r>
            <a:endParaRPr sz="700">
              <a:latin typeface="Malgun Gothic"/>
              <a:cs typeface="Malgun Gothic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20637" y="1389951"/>
          <a:ext cx="11687175" cy="3511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1000" b="1" spc="-25" dirty="0">
                          <a:latin typeface="Malgun Gothic"/>
                          <a:cs typeface="Malgun Gothic"/>
                        </a:rPr>
                        <a:t>구분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073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74955" algn="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1000" b="1" spc="-7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2026년</a:t>
                      </a:r>
                      <a:r>
                        <a:rPr sz="1000" b="1" spc="-2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6월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0731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77495" algn="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1000" b="1" spc="-5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2025년</a:t>
                      </a:r>
                      <a:r>
                        <a:rPr sz="1000" b="1" spc="-18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말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07315" marB="0">
                    <a:lnL w="6350">
                      <a:solidFill>
                        <a:srgbClr val="7E7E7E"/>
                      </a:solidFill>
                      <a:prstDash val="sysDash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7645" algn="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1000" b="1" spc="-12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전년</a:t>
                      </a:r>
                      <a:r>
                        <a:rPr sz="1000" b="1" spc="-16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1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말</a:t>
                      </a:r>
                      <a:r>
                        <a:rPr sz="1000" b="1" spc="-17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대비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0731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09550" algn="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1000" b="1" spc="-114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전년</a:t>
                      </a:r>
                      <a:r>
                        <a:rPr sz="1000" b="1" spc="-12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1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말</a:t>
                      </a:r>
                      <a:r>
                        <a:rPr sz="1000" b="1" spc="-13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114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대비 </a:t>
                      </a:r>
                      <a:r>
                        <a:rPr sz="1000" b="1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(%)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0731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spc="-25" dirty="0">
                          <a:latin typeface="Malgun Gothic"/>
                          <a:cs typeface="Malgun Gothic"/>
                        </a:rPr>
                        <a:t>자산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0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587,420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18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08915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539,537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18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47,884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9%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spc="-110" dirty="0">
                          <a:solidFill>
                            <a:srgbClr val="A6A6A6"/>
                          </a:solidFill>
                          <a:latin typeface="Malgun Gothic"/>
                          <a:cs typeface="Malgun Gothic"/>
                        </a:rPr>
                        <a:t>└</a:t>
                      </a:r>
                      <a:r>
                        <a:rPr sz="1000" spc="-210" dirty="0">
                          <a:solidFill>
                            <a:srgbClr val="A6A6A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45" dirty="0">
                          <a:solidFill>
                            <a:srgbClr val="A6A6A6"/>
                          </a:solidFill>
                          <a:latin typeface="Malgun Gothic"/>
                          <a:cs typeface="Malgun Gothic"/>
                        </a:rPr>
                        <a:t>현금</a:t>
                      </a:r>
                      <a:r>
                        <a:rPr sz="1000" spc="-180" dirty="0">
                          <a:solidFill>
                            <a:srgbClr val="A6A6A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10" dirty="0">
                          <a:solidFill>
                            <a:srgbClr val="A6A6A6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spc="-210" dirty="0">
                          <a:solidFill>
                            <a:srgbClr val="A6A6A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40" dirty="0">
                          <a:solidFill>
                            <a:srgbClr val="A6A6A6"/>
                          </a:solidFill>
                          <a:latin typeface="Malgun Gothic"/>
                          <a:cs typeface="Malgun Gothic"/>
                        </a:rPr>
                        <a:t>현금성자산/유동성 </a:t>
                      </a:r>
                      <a:r>
                        <a:rPr sz="1000" spc="-114" dirty="0">
                          <a:solidFill>
                            <a:srgbClr val="A6A6A6"/>
                          </a:solidFill>
                          <a:latin typeface="Malgun Gothic"/>
                          <a:cs typeface="Malgun Gothic"/>
                        </a:rPr>
                        <a:t>기타금융자산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0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92,322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18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79,018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18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13,304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17%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000" spc="-25" dirty="0">
                          <a:latin typeface="Malgun Gothic"/>
                          <a:cs typeface="Malgun Gothic"/>
                        </a:rPr>
                        <a:t>부채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8915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385,049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18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371,655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18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13,394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4%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10" dirty="0">
                          <a:solidFill>
                            <a:srgbClr val="A6A6A6"/>
                          </a:solidFill>
                          <a:latin typeface="Malgun Gothic"/>
                          <a:cs typeface="Malgun Gothic"/>
                        </a:rPr>
                        <a:t>└</a:t>
                      </a:r>
                      <a:r>
                        <a:rPr sz="1000" spc="-229" dirty="0">
                          <a:solidFill>
                            <a:srgbClr val="A6A6A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A6A6A6"/>
                          </a:solidFill>
                          <a:latin typeface="Malgun Gothic"/>
                          <a:cs typeface="Malgun Gothic"/>
                        </a:rPr>
                        <a:t>차입금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0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154,448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08915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123,949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30,499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25%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10" dirty="0">
                          <a:solidFill>
                            <a:srgbClr val="A6A6A6"/>
                          </a:solidFill>
                          <a:latin typeface="Malgun Gothic"/>
                          <a:cs typeface="Malgun Gothic"/>
                        </a:rPr>
                        <a:t>└</a:t>
                      </a:r>
                      <a:r>
                        <a:rPr sz="1000" spc="-225" dirty="0">
                          <a:solidFill>
                            <a:srgbClr val="A6A6A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0" dirty="0">
                          <a:solidFill>
                            <a:srgbClr val="A6A6A6"/>
                          </a:solidFill>
                          <a:latin typeface="Malgun Gothic"/>
                          <a:cs typeface="Malgun Gothic"/>
                        </a:rPr>
                        <a:t>순차입금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0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62,126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44,931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17,195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38%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25" dirty="0">
                          <a:latin typeface="Malgun Gothic"/>
                          <a:cs typeface="Malgun Gothic"/>
                        </a:rPr>
                        <a:t>자본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0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b="1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202,371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08915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167,882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34,489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21%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20" dirty="0">
                          <a:latin typeface="Malgun Gothic"/>
                          <a:cs typeface="Malgun Gothic"/>
                        </a:rPr>
                        <a:t>유동비율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645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b="1" spc="-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108%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2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102%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16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-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645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6%p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0" dirty="0">
                          <a:latin typeface="Malgun Gothic"/>
                          <a:cs typeface="Malgun Gothic"/>
                        </a:rPr>
                        <a:t>총차입금비율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645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b="1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76%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74%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16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-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645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2%p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0" dirty="0">
                          <a:latin typeface="Malgun Gothic"/>
                          <a:cs typeface="Malgun Gothic"/>
                        </a:rPr>
                        <a:t>순차입금비율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645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b="1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31%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27%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16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-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645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4%p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6636" y="3686555"/>
            <a:ext cx="513715" cy="810895"/>
            <a:chOff x="516636" y="3686555"/>
            <a:chExt cx="513715" cy="810895"/>
          </a:xfrm>
        </p:grpSpPr>
        <p:sp>
          <p:nvSpPr>
            <p:cNvPr id="3" name="object 3"/>
            <p:cNvSpPr/>
            <p:nvPr/>
          </p:nvSpPr>
          <p:spPr>
            <a:xfrm>
              <a:off x="516636" y="4002023"/>
              <a:ext cx="513715" cy="495300"/>
            </a:xfrm>
            <a:custGeom>
              <a:avLst/>
              <a:gdLst/>
              <a:ahLst/>
              <a:cxnLst/>
              <a:rect l="l" t="t" r="r" b="b"/>
              <a:pathLst>
                <a:path w="513715" h="495300">
                  <a:moveTo>
                    <a:pt x="513588" y="0"/>
                  </a:moveTo>
                  <a:lnTo>
                    <a:pt x="0" y="0"/>
                  </a:lnTo>
                  <a:lnTo>
                    <a:pt x="0" y="495300"/>
                  </a:lnTo>
                  <a:lnTo>
                    <a:pt x="513588" y="495300"/>
                  </a:lnTo>
                  <a:lnTo>
                    <a:pt x="51358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16636" y="3686555"/>
              <a:ext cx="513715" cy="315595"/>
            </a:xfrm>
            <a:custGeom>
              <a:avLst/>
              <a:gdLst/>
              <a:ahLst/>
              <a:cxnLst/>
              <a:rect l="l" t="t" r="r" b="b"/>
              <a:pathLst>
                <a:path w="513715" h="315595">
                  <a:moveTo>
                    <a:pt x="513588" y="0"/>
                  </a:moveTo>
                  <a:lnTo>
                    <a:pt x="0" y="0"/>
                  </a:lnTo>
                  <a:lnTo>
                    <a:pt x="0" y="315468"/>
                  </a:lnTo>
                  <a:lnTo>
                    <a:pt x="513588" y="315468"/>
                  </a:lnTo>
                  <a:lnTo>
                    <a:pt x="513588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383791" y="3532632"/>
            <a:ext cx="512445" cy="965200"/>
            <a:chOff x="1383791" y="3532632"/>
            <a:chExt cx="512445" cy="965200"/>
          </a:xfrm>
        </p:grpSpPr>
        <p:sp>
          <p:nvSpPr>
            <p:cNvPr id="6" name="object 6"/>
            <p:cNvSpPr/>
            <p:nvPr/>
          </p:nvSpPr>
          <p:spPr>
            <a:xfrm>
              <a:off x="1383791" y="3950208"/>
              <a:ext cx="512445" cy="547370"/>
            </a:xfrm>
            <a:custGeom>
              <a:avLst/>
              <a:gdLst/>
              <a:ahLst/>
              <a:cxnLst/>
              <a:rect l="l" t="t" r="r" b="b"/>
              <a:pathLst>
                <a:path w="512444" h="547370">
                  <a:moveTo>
                    <a:pt x="512064" y="0"/>
                  </a:moveTo>
                  <a:lnTo>
                    <a:pt x="0" y="0"/>
                  </a:lnTo>
                  <a:lnTo>
                    <a:pt x="0" y="547115"/>
                  </a:lnTo>
                  <a:lnTo>
                    <a:pt x="512064" y="547115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3791" y="3532632"/>
              <a:ext cx="512445" cy="417830"/>
            </a:xfrm>
            <a:custGeom>
              <a:avLst/>
              <a:gdLst/>
              <a:ahLst/>
              <a:cxnLst/>
              <a:rect l="l" t="t" r="r" b="b"/>
              <a:pathLst>
                <a:path w="512444" h="417829">
                  <a:moveTo>
                    <a:pt x="512064" y="0"/>
                  </a:moveTo>
                  <a:lnTo>
                    <a:pt x="0" y="0"/>
                  </a:lnTo>
                  <a:lnTo>
                    <a:pt x="0" y="417576"/>
                  </a:lnTo>
                  <a:lnTo>
                    <a:pt x="512064" y="417576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249423" y="3081527"/>
            <a:ext cx="512445" cy="1416050"/>
            <a:chOff x="2249423" y="3081527"/>
            <a:chExt cx="512445" cy="1416050"/>
          </a:xfrm>
        </p:grpSpPr>
        <p:sp>
          <p:nvSpPr>
            <p:cNvPr id="9" name="object 9"/>
            <p:cNvSpPr/>
            <p:nvPr/>
          </p:nvSpPr>
          <p:spPr>
            <a:xfrm>
              <a:off x="2249423" y="3752087"/>
              <a:ext cx="512445" cy="745490"/>
            </a:xfrm>
            <a:custGeom>
              <a:avLst/>
              <a:gdLst/>
              <a:ahLst/>
              <a:cxnLst/>
              <a:rect l="l" t="t" r="r" b="b"/>
              <a:pathLst>
                <a:path w="512444" h="745489">
                  <a:moveTo>
                    <a:pt x="512063" y="0"/>
                  </a:moveTo>
                  <a:lnTo>
                    <a:pt x="0" y="0"/>
                  </a:lnTo>
                  <a:lnTo>
                    <a:pt x="0" y="745236"/>
                  </a:lnTo>
                  <a:lnTo>
                    <a:pt x="512063" y="745236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9423" y="3081527"/>
              <a:ext cx="512445" cy="670560"/>
            </a:xfrm>
            <a:custGeom>
              <a:avLst/>
              <a:gdLst/>
              <a:ahLst/>
              <a:cxnLst/>
              <a:rect l="l" t="t" r="r" b="b"/>
              <a:pathLst>
                <a:path w="512444" h="670560">
                  <a:moveTo>
                    <a:pt x="512063" y="0"/>
                  </a:moveTo>
                  <a:lnTo>
                    <a:pt x="0" y="0"/>
                  </a:lnTo>
                  <a:lnTo>
                    <a:pt x="0" y="670560"/>
                  </a:lnTo>
                  <a:lnTo>
                    <a:pt x="512063" y="670560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115055" y="3939540"/>
            <a:ext cx="512445" cy="558165"/>
            <a:chOff x="3115055" y="3939540"/>
            <a:chExt cx="512445" cy="558165"/>
          </a:xfrm>
        </p:grpSpPr>
        <p:sp>
          <p:nvSpPr>
            <p:cNvPr id="12" name="object 12"/>
            <p:cNvSpPr/>
            <p:nvPr/>
          </p:nvSpPr>
          <p:spPr>
            <a:xfrm>
              <a:off x="3115055" y="4200144"/>
              <a:ext cx="512445" cy="297180"/>
            </a:xfrm>
            <a:custGeom>
              <a:avLst/>
              <a:gdLst/>
              <a:ahLst/>
              <a:cxnLst/>
              <a:rect l="l" t="t" r="r" b="b"/>
              <a:pathLst>
                <a:path w="512445" h="297179">
                  <a:moveTo>
                    <a:pt x="512064" y="0"/>
                  </a:moveTo>
                  <a:lnTo>
                    <a:pt x="0" y="0"/>
                  </a:lnTo>
                  <a:lnTo>
                    <a:pt x="0" y="297179"/>
                  </a:lnTo>
                  <a:lnTo>
                    <a:pt x="512064" y="297179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15055" y="3939540"/>
              <a:ext cx="512445" cy="260985"/>
            </a:xfrm>
            <a:custGeom>
              <a:avLst/>
              <a:gdLst/>
              <a:ahLst/>
              <a:cxnLst/>
              <a:rect l="l" t="t" r="r" b="b"/>
              <a:pathLst>
                <a:path w="512445" h="260985">
                  <a:moveTo>
                    <a:pt x="512064" y="0"/>
                  </a:moveTo>
                  <a:lnTo>
                    <a:pt x="0" y="0"/>
                  </a:lnTo>
                  <a:lnTo>
                    <a:pt x="0" y="260604"/>
                  </a:lnTo>
                  <a:lnTo>
                    <a:pt x="512064" y="260604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980688" y="3532632"/>
            <a:ext cx="512445" cy="965200"/>
            <a:chOff x="3980688" y="3532632"/>
            <a:chExt cx="512445" cy="965200"/>
          </a:xfrm>
        </p:grpSpPr>
        <p:sp>
          <p:nvSpPr>
            <p:cNvPr id="15" name="object 15"/>
            <p:cNvSpPr/>
            <p:nvPr/>
          </p:nvSpPr>
          <p:spPr>
            <a:xfrm>
              <a:off x="3980688" y="3933444"/>
              <a:ext cx="512445" cy="563880"/>
            </a:xfrm>
            <a:custGeom>
              <a:avLst/>
              <a:gdLst/>
              <a:ahLst/>
              <a:cxnLst/>
              <a:rect l="l" t="t" r="r" b="b"/>
              <a:pathLst>
                <a:path w="512445" h="563879">
                  <a:moveTo>
                    <a:pt x="512063" y="0"/>
                  </a:moveTo>
                  <a:lnTo>
                    <a:pt x="0" y="0"/>
                  </a:lnTo>
                  <a:lnTo>
                    <a:pt x="0" y="563879"/>
                  </a:lnTo>
                  <a:lnTo>
                    <a:pt x="512063" y="563879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80688" y="3532632"/>
              <a:ext cx="512445" cy="401320"/>
            </a:xfrm>
            <a:custGeom>
              <a:avLst/>
              <a:gdLst/>
              <a:ahLst/>
              <a:cxnLst/>
              <a:rect l="l" t="t" r="r" b="b"/>
              <a:pathLst>
                <a:path w="512445" h="401320">
                  <a:moveTo>
                    <a:pt x="512063" y="0"/>
                  </a:moveTo>
                  <a:lnTo>
                    <a:pt x="0" y="0"/>
                  </a:lnTo>
                  <a:lnTo>
                    <a:pt x="0" y="400811"/>
                  </a:lnTo>
                  <a:lnTo>
                    <a:pt x="512063" y="400811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310884" y="2874264"/>
            <a:ext cx="4681855" cy="1774189"/>
            <a:chOff x="6310884" y="2874264"/>
            <a:chExt cx="4681855" cy="1774189"/>
          </a:xfrm>
        </p:grpSpPr>
        <p:sp>
          <p:nvSpPr>
            <p:cNvPr id="18" name="object 18"/>
            <p:cNvSpPr/>
            <p:nvPr/>
          </p:nvSpPr>
          <p:spPr>
            <a:xfrm>
              <a:off x="10180320" y="2874264"/>
              <a:ext cx="0" cy="1774189"/>
            </a:xfrm>
            <a:custGeom>
              <a:avLst/>
              <a:gdLst/>
              <a:ahLst/>
              <a:cxnLst/>
              <a:rect l="l" t="t" r="r" b="b"/>
              <a:pathLst>
                <a:path h="1774189">
                  <a:moveTo>
                    <a:pt x="0" y="0"/>
                  </a:moveTo>
                  <a:lnTo>
                    <a:pt x="0" y="1773936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10884" y="3486911"/>
              <a:ext cx="4681855" cy="1073150"/>
            </a:xfrm>
            <a:custGeom>
              <a:avLst/>
              <a:gdLst/>
              <a:ahLst/>
              <a:cxnLst/>
              <a:rect l="l" t="t" r="r" b="b"/>
              <a:pathLst>
                <a:path w="4681855" h="1073150">
                  <a:moveTo>
                    <a:pt x="603504" y="144780"/>
                  </a:moveTo>
                  <a:lnTo>
                    <a:pt x="0" y="144780"/>
                  </a:lnTo>
                  <a:lnTo>
                    <a:pt x="0" y="1072896"/>
                  </a:lnTo>
                  <a:lnTo>
                    <a:pt x="603504" y="1072896"/>
                  </a:lnTo>
                  <a:lnTo>
                    <a:pt x="603504" y="144780"/>
                  </a:lnTo>
                  <a:close/>
                </a:path>
                <a:path w="4681855" h="1073150">
                  <a:moveTo>
                    <a:pt x="1623060" y="56388"/>
                  </a:moveTo>
                  <a:lnTo>
                    <a:pt x="1019556" y="56388"/>
                  </a:lnTo>
                  <a:lnTo>
                    <a:pt x="1019556" y="1072896"/>
                  </a:lnTo>
                  <a:lnTo>
                    <a:pt x="1623060" y="1072896"/>
                  </a:lnTo>
                  <a:lnTo>
                    <a:pt x="1623060" y="56388"/>
                  </a:lnTo>
                  <a:close/>
                </a:path>
                <a:path w="4681855" h="1073150">
                  <a:moveTo>
                    <a:pt x="2642616" y="0"/>
                  </a:moveTo>
                  <a:lnTo>
                    <a:pt x="2039112" y="0"/>
                  </a:lnTo>
                  <a:lnTo>
                    <a:pt x="2039112" y="1072896"/>
                  </a:lnTo>
                  <a:lnTo>
                    <a:pt x="2642616" y="1072896"/>
                  </a:lnTo>
                  <a:lnTo>
                    <a:pt x="2642616" y="0"/>
                  </a:lnTo>
                  <a:close/>
                </a:path>
                <a:path w="4681855" h="1073150">
                  <a:moveTo>
                    <a:pt x="4681728" y="126492"/>
                  </a:moveTo>
                  <a:lnTo>
                    <a:pt x="4078224" y="126492"/>
                  </a:lnTo>
                  <a:lnTo>
                    <a:pt x="4078224" y="1072896"/>
                  </a:lnTo>
                  <a:lnTo>
                    <a:pt x="4681728" y="1072896"/>
                  </a:lnTo>
                  <a:lnTo>
                    <a:pt x="4681728" y="1264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13398" y="3586734"/>
              <a:ext cx="4076700" cy="431800"/>
            </a:xfrm>
            <a:custGeom>
              <a:avLst/>
              <a:gdLst/>
              <a:ahLst/>
              <a:cxnLst/>
              <a:rect l="l" t="t" r="r" b="b"/>
              <a:pathLst>
                <a:path w="4076700" h="431800">
                  <a:moveTo>
                    <a:pt x="0" y="0"/>
                  </a:moveTo>
                  <a:lnTo>
                    <a:pt x="1019555" y="83819"/>
                  </a:lnTo>
                  <a:lnTo>
                    <a:pt x="2037587" y="347471"/>
                  </a:lnTo>
                  <a:lnTo>
                    <a:pt x="3057144" y="431291"/>
                  </a:lnTo>
                  <a:lnTo>
                    <a:pt x="4076700" y="146303"/>
                  </a:lnTo>
                </a:path>
              </a:pathLst>
            </a:custGeom>
            <a:ln w="19050">
              <a:solidFill>
                <a:srgbClr val="88BC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2471" y="3537585"/>
              <a:ext cx="102107" cy="1021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2027" y="3619881"/>
              <a:ext cx="102107" cy="10210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01583" y="3885057"/>
              <a:ext cx="102108" cy="10210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21139" y="3968877"/>
              <a:ext cx="102107" cy="10210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40695" y="3683889"/>
              <a:ext cx="102107" cy="102108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9369552" y="4189476"/>
            <a:ext cx="603885" cy="370840"/>
          </a:xfrm>
          <a:custGeom>
            <a:avLst/>
            <a:gdLst/>
            <a:ahLst/>
            <a:cxnLst/>
            <a:rect l="l" t="t" r="r" b="b"/>
            <a:pathLst>
              <a:path w="603884" h="370839">
                <a:moveTo>
                  <a:pt x="603503" y="0"/>
                </a:moveTo>
                <a:lnTo>
                  <a:pt x="0" y="0"/>
                </a:lnTo>
                <a:lnTo>
                  <a:pt x="0" y="370331"/>
                </a:lnTo>
                <a:lnTo>
                  <a:pt x="603503" y="370331"/>
                </a:lnTo>
                <a:lnTo>
                  <a:pt x="603503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3547" y="5381244"/>
            <a:ext cx="11805285" cy="1211580"/>
          </a:xfrm>
          <a:custGeom>
            <a:avLst/>
            <a:gdLst/>
            <a:ahLst/>
            <a:cxnLst/>
            <a:rect l="l" t="t" r="r" b="b"/>
            <a:pathLst>
              <a:path w="11805285" h="1211579">
                <a:moveTo>
                  <a:pt x="0" y="96138"/>
                </a:moveTo>
                <a:lnTo>
                  <a:pt x="7554" y="58721"/>
                </a:lnTo>
                <a:lnTo>
                  <a:pt x="28157" y="28162"/>
                </a:lnTo>
                <a:lnTo>
                  <a:pt x="58716" y="7556"/>
                </a:lnTo>
                <a:lnTo>
                  <a:pt x="96138" y="0"/>
                </a:lnTo>
                <a:lnTo>
                  <a:pt x="11708765" y="0"/>
                </a:lnTo>
                <a:lnTo>
                  <a:pt x="11746182" y="7556"/>
                </a:lnTo>
                <a:lnTo>
                  <a:pt x="11776741" y="28162"/>
                </a:lnTo>
                <a:lnTo>
                  <a:pt x="11797347" y="58721"/>
                </a:lnTo>
                <a:lnTo>
                  <a:pt x="11804904" y="96138"/>
                </a:lnTo>
                <a:lnTo>
                  <a:pt x="11804904" y="1115440"/>
                </a:lnTo>
                <a:lnTo>
                  <a:pt x="11797347" y="1152863"/>
                </a:lnTo>
                <a:lnTo>
                  <a:pt x="11776741" y="1183422"/>
                </a:lnTo>
                <a:lnTo>
                  <a:pt x="11746182" y="1204025"/>
                </a:lnTo>
                <a:lnTo>
                  <a:pt x="11708765" y="1211579"/>
                </a:lnTo>
                <a:lnTo>
                  <a:pt x="96138" y="1211579"/>
                </a:lnTo>
                <a:lnTo>
                  <a:pt x="58716" y="1204025"/>
                </a:lnTo>
                <a:lnTo>
                  <a:pt x="28157" y="1183422"/>
                </a:lnTo>
                <a:lnTo>
                  <a:pt x="7554" y="1152863"/>
                </a:lnTo>
                <a:lnTo>
                  <a:pt x="0" y="1115440"/>
                </a:lnTo>
                <a:lnTo>
                  <a:pt x="0" y="96138"/>
                </a:lnTo>
                <a:close/>
              </a:path>
            </a:pathLst>
          </a:custGeom>
          <a:ln w="12699">
            <a:solidFill>
              <a:srgbClr val="88BC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205739" y="97013"/>
          <a:ext cx="11849091" cy="64960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32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30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7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92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236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114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98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0891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2577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35509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082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269240">
                <a:tc gridSpan="4">
                  <a:txBody>
                    <a:bodyPr/>
                    <a:lstStyle/>
                    <a:p>
                      <a:pPr marL="14604" marR="21590">
                        <a:lnSpc>
                          <a:spcPts val="1335"/>
                        </a:lnSpc>
                      </a:pPr>
                      <a:r>
                        <a:rPr sz="1200" spc="-10" dirty="0">
                          <a:latin typeface="Malgun Gothic"/>
                          <a:cs typeface="Malgun Gothic"/>
                        </a:rPr>
                        <a:t>Financials</a:t>
                      </a:r>
                      <a:r>
                        <a:rPr sz="12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10" dirty="0">
                          <a:latin typeface="Malgun Gothic"/>
                          <a:cs typeface="Malgun Gothic"/>
                        </a:rPr>
                        <a:t>&gt;</a:t>
                      </a:r>
                      <a:r>
                        <a:rPr sz="1200" spc="-1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185" dirty="0">
                          <a:solidFill>
                            <a:srgbClr val="626366"/>
                          </a:solidFill>
                          <a:latin typeface="Malgun Gothic"/>
                          <a:cs typeface="Malgun Gothic"/>
                        </a:rPr>
                        <a:t>사업부문별</a:t>
                      </a:r>
                      <a:r>
                        <a:rPr sz="1200" spc="-165" dirty="0">
                          <a:solidFill>
                            <a:srgbClr val="626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5" dirty="0">
                          <a:solidFill>
                            <a:srgbClr val="626366"/>
                          </a:solidFill>
                          <a:latin typeface="Malgun Gothic"/>
                          <a:cs typeface="Malgun Gothic"/>
                        </a:rPr>
                        <a:t>실적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46355">
                        <a:lnSpc>
                          <a:spcPts val="1300"/>
                        </a:lnSpc>
                      </a:pPr>
                      <a:r>
                        <a:rPr sz="1200" spc="-14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한화에어로스페이스</a:t>
                      </a:r>
                      <a:r>
                        <a:rPr sz="1200" spc="-18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2026년</a:t>
                      </a:r>
                      <a:r>
                        <a:rPr sz="1200" spc="-16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9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2분기</a:t>
                      </a:r>
                      <a:r>
                        <a:rPr sz="1200" spc="-15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14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실적 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발표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ts val="1245"/>
                        </a:lnSpc>
                      </a:pPr>
                      <a:r>
                        <a:rPr sz="1100" spc="-5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9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344">
                <a:tc gridSpan="4"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sz="2500" spc="-280" dirty="0">
                          <a:latin typeface="Malgun Gothic"/>
                          <a:cs typeface="Malgun Gothic"/>
                        </a:rPr>
                        <a:t>사업부문별</a:t>
                      </a:r>
                      <a:r>
                        <a:rPr sz="2500" spc="-3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500" spc="-305" dirty="0">
                          <a:latin typeface="Malgun Gothic"/>
                          <a:cs typeface="Malgun Gothic"/>
                        </a:rPr>
                        <a:t>실적</a:t>
                      </a:r>
                      <a:endParaRPr sz="2500">
                        <a:latin typeface="Malgun Gothic"/>
                        <a:cs typeface="Malgun Gothic"/>
                      </a:endParaRPr>
                    </a:p>
                  </a:txBody>
                  <a:tcPr marL="0" marR="0" marT="30289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2465"/>
                        </a:spcBef>
                      </a:pPr>
                      <a:r>
                        <a:rPr sz="2500" spc="-30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지상방산</a:t>
                      </a:r>
                      <a:endParaRPr sz="2500">
                        <a:latin typeface="Malgun Gothic"/>
                        <a:cs typeface="Malgun Gothic"/>
                      </a:endParaRPr>
                    </a:p>
                  </a:txBody>
                  <a:tcPr marL="0" marR="0" marT="31305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2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305">
                        <a:lnSpc>
                          <a:spcPct val="100000"/>
                        </a:lnSpc>
                      </a:pPr>
                      <a:r>
                        <a:rPr sz="1200" b="1" spc="-114" dirty="0">
                          <a:latin typeface="Malgun Gothic"/>
                          <a:cs typeface="Malgun Gothic"/>
                        </a:rPr>
                        <a:t>매출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12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9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단위</a:t>
                      </a:r>
                      <a:r>
                        <a:rPr sz="700" spc="-6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00" spc="-6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3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억원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97485" algn="r">
                        <a:lnSpc>
                          <a:spcPct val="100000"/>
                        </a:lnSpc>
                      </a:pP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영업이익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700" spc="-8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단위</a:t>
                      </a:r>
                      <a:r>
                        <a:rPr sz="700" spc="-7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00" spc="-6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억원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175">
                <a:tc gridSpan="2"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3000" b="1" spc="-8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+19%</a:t>
                      </a:r>
                      <a:endParaRPr sz="3000">
                        <a:latin typeface="Malgun Gothic"/>
                        <a:cs typeface="Malgun Gothic"/>
                      </a:endParaRPr>
                    </a:p>
                  </a:txBody>
                  <a:tcPr marL="0" marR="0" marT="187960" marB="0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38430" marR="21590">
                        <a:lnSpc>
                          <a:spcPct val="100000"/>
                        </a:lnSpc>
                      </a:pPr>
                      <a:r>
                        <a:rPr sz="1000" b="1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YoY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3779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16230">
                        <a:lnSpc>
                          <a:spcPct val="100000"/>
                        </a:lnSpc>
                      </a:pPr>
                      <a:r>
                        <a:rPr sz="7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수출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sz="700" spc="-10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내수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427480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sz="3000" b="1" spc="-41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+</a:t>
                      </a:r>
                      <a:r>
                        <a:rPr sz="3000" b="1" spc="-4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3000" b="1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2%</a:t>
                      </a:r>
                      <a:endParaRPr sz="3000">
                        <a:latin typeface="Malgun Gothic"/>
                        <a:cs typeface="Malgun Gothic"/>
                      </a:endParaRPr>
                    </a:p>
                  </a:txBody>
                  <a:tcPr marL="0" marR="0" marT="2203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000" b="1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YoY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6670">
                        <a:lnSpc>
                          <a:spcPct val="100000"/>
                        </a:lnSpc>
                      </a:pPr>
                      <a:r>
                        <a:rPr sz="700" spc="-2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영업이익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12090">
                        <a:lnSpc>
                          <a:spcPct val="100000"/>
                        </a:lnSpc>
                      </a:pPr>
                      <a:r>
                        <a:rPr sz="700" spc="-1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영업이익률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57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01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50190">
                        <a:lnSpc>
                          <a:spcPts val="1185"/>
                        </a:lnSpc>
                      </a:pPr>
                      <a:r>
                        <a:rPr sz="1000" spc="-10" dirty="0">
                          <a:latin typeface="Malgun Gothic"/>
                          <a:cs typeface="Malgun Gothic"/>
                        </a:rPr>
                        <a:t>30,926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888888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02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9052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Malgun Gothic"/>
                          <a:cs typeface="Malgun Gothic"/>
                        </a:rPr>
                        <a:t>17,732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Malgun Gothic"/>
                          <a:cs typeface="Malgun Gothic"/>
                        </a:rPr>
                        <a:t>21,098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8128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5654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14,637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174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6476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21,075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9398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888888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35280">
                        <a:lnSpc>
                          <a:spcPct val="100000"/>
                        </a:lnSpc>
                      </a:pPr>
                      <a:r>
                        <a:rPr sz="1000" spc="-20" dirty="0">
                          <a:latin typeface="Malgun Gothic"/>
                          <a:cs typeface="Malgun Gothic"/>
                        </a:rPr>
                        <a:t>5,225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0005">
                        <a:lnSpc>
                          <a:spcPct val="100000"/>
                        </a:lnSpc>
                      </a:pPr>
                      <a:r>
                        <a:rPr sz="1000" spc="-20" dirty="0">
                          <a:latin typeface="Malgun Gothic"/>
                          <a:cs typeface="Malgun Gothic"/>
                        </a:rPr>
                        <a:t>5,725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61315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Malgun Gothic"/>
                          <a:cs typeface="Malgun Gothic"/>
                        </a:rPr>
                        <a:t>6,043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619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3515">
                        <a:lnSpc>
                          <a:spcPct val="100000"/>
                        </a:lnSpc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5,330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888888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540">
                <a:tc gridSpan="2"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6,898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7874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880"/>
                        </a:lnSpc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9,129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514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000" spc="-10" dirty="0">
                          <a:latin typeface="Malgun Gothic"/>
                          <a:cs typeface="Malgun Gothic"/>
                        </a:rPr>
                        <a:t>12,211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819"/>
                        </a:lnSpc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8,751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888888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800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29.5%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86995" marB="0">
                    <a:lnL w="6350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27.1%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74295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2555" algn="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800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17.1%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11557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00660">
                        <a:lnSpc>
                          <a:spcPts val="83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25.3%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41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888888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53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91795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10,834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68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11,970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0795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565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16,288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994"/>
                        </a:lnSpc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5,697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6,514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70485" algn="r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12,324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254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888888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19.5%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50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000" spc="-20" dirty="0">
                          <a:latin typeface="Malgun Gothic"/>
                          <a:cs typeface="Malgun Gothic"/>
                        </a:rPr>
                        <a:t>2,087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45085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223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888888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2105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962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Malgun Gothic"/>
                          <a:cs typeface="Malgun Gothic"/>
                        </a:rPr>
                        <a:t>2Q25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Malgun Gothic"/>
                          <a:cs typeface="Malgun Gothic"/>
                        </a:rPr>
                        <a:t>3Q25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616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Malgun Gothic"/>
                          <a:cs typeface="Malgun Gothic"/>
                        </a:rPr>
                        <a:t>4Q25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616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Malgun Gothic"/>
                          <a:cs typeface="Malgun Gothic"/>
                        </a:rPr>
                        <a:t>1Q26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3878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Malgun Gothic"/>
                          <a:cs typeface="Malgun Gothic"/>
                        </a:rPr>
                        <a:t>2Q26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32956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Malgun Gothic"/>
                          <a:cs typeface="Malgun Gothic"/>
                        </a:rPr>
                        <a:t>2Q25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858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0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Malgun Gothic"/>
                          <a:cs typeface="Malgun Gothic"/>
                        </a:rPr>
                        <a:t>3Q25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858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Malgun Gothic"/>
                          <a:cs typeface="Malgun Gothic"/>
                        </a:rPr>
                        <a:t>4Q25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858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273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Malgun Gothic"/>
                          <a:cs typeface="Malgun Gothic"/>
                        </a:rPr>
                        <a:t>1Q26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858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31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Malgun Gothic"/>
                          <a:cs typeface="Malgun Gothic"/>
                        </a:rPr>
                        <a:t>2Q26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858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6545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6225">
                        <a:lnSpc>
                          <a:spcPct val="100000"/>
                        </a:lnSpc>
                      </a:pPr>
                      <a:r>
                        <a:rPr sz="1200" b="1" spc="-100" dirty="0">
                          <a:latin typeface="Malgun Gothic"/>
                          <a:cs typeface="Malgun Gothic"/>
                        </a:rPr>
                        <a:t>2분기</a:t>
                      </a:r>
                      <a:r>
                        <a:rPr sz="1200" b="1" spc="-1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실적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5143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69390">
                        <a:lnSpc>
                          <a:spcPct val="100000"/>
                        </a:lnSpc>
                      </a:pPr>
                      <a:r>
                        <a:rPr sz="1200" b="1" spc="-55" dirty="0">
                          <a:latin typeface="Malgun Gothic"/>
                          <a:cs typeface="Malgun Gothic"/>
                        </a:rPr>
                        <a:t>2026년</a:t>
                      </a:r>
                      <a:r>
                        <a:rPr sz="1200" b="1" spc="-1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전망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5143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6220">
                <a:tc gridSpan="11">
                  <a:txBody>
                    <a:bodyPr/>
                    <a:lstStyle/>
                    <a:p>
                      <a:pPr marL="317500" indent="-114935">
                        <a:lnSpc>
                          <a:spcPct val="100000"/>
                        </a:lnSpc>
                        <a:spcBef>
                          <a:spcPts val="215"/>
                        </a:spcBef>
                        <a:buSzPct val="90000"/>
                        <a:buChar char="•"/>
                        <a:tabLst>
                          <a:tab pos="317500" algn="l"/>
                        </a:tabLst>
                      </a:pPr>
                      <a:r>
                        <a:rPr sz="1000" spc="-8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국내사업(천호,</a:t>
                      </a:r>
                      <a:r>
                        <a:rPr sz="1000" spc="-5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천검</a:t>
                      </a:r>
                      <a:r>
                        <a:rPr sz="1000" spc="-11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등)</a:t>
                      </a:r>
                      <a:r>
                        <a:rPr sz="1000" spc="-10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1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및 </a:t>
                      </a:r>
                      <a:r>
                        <a:rPr sz="1000" spc="-8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수출사업(폴란드,</a:t>
                      </a:r>
                      <a:r>
                        <a:rPr sz="1000" spc="-5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8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이집트,</a:t>
                      </a:r>
                      <a:r>
                        <a:rPr sz="1000" spc="-8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중동</a:t>
                      </a:r>
                      <a:r>
                        <a:rPr sz="1000" spc="-9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등)</a:t>
                      </a:r>
                      <a:r>
                        <a:rPr sz="1000" spc="-10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전년동기</a:t>
                      </a:r>
                      <a:r>
                        <a:rPr sz="1000" spc="-7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대비</a:t>
                      </a:r>
                      <a:r>
                        <a:rPr sz="1000" spc="-10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매출액</a:t>
                      </a:r>
                      <a:r>
                        <a:rPr sz="1000" spc="-8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증가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110489" indent="-114935">
                        <a:lnSpc>
                          <a:spcPct val="100000"/>
                        </a:lnSpc>
                        <a:spcBef>
                          <a:spcPts val="215"/>
                        </a:spcBef>
                        <a:buSzPct val="90000"/>
                        <a:buChar char="•"/>
                        <a:tabLst>
                          <a:tab pos="110489" algn="l"/>
                        </a:tabLst>
                      </a:pP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국내</a:t>
                      </a:r>
                      <a:r>
                        <a:rPr sz="1000" spc="-10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1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000" spc="-12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수출</a:t>
                      </a:r>
                      <a:r>
                        <a:rPr sz="1000" spc="-10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물량</a:t>
                      </a:r>
                      <a:r>
                        <a:rPr sz="1000" spc="-10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증가에</a:t>
                      </a:r>
                      <a:r>
                        <a:rPr sz="1000" spc="-9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따른</a:t>
                      </a:r>
                      <a:r>
                        <a:rPr sz="1000" spc="-114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성장</a:t>
                      </a:r>
                      <a:r>
                        <a:rPr sz="1000" spc="-10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지속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08634">
                <a:tc gridSpan="7">
                  <a:txBody>
                    <a:bodyPr/>
                    <a:lstStyle/>
                    <a:p>
                      <a:pPr marL="317500" indent="-114935">
                        <a:lnSpc>
                          <a:spcPct val="100000"/>
                        </a:lnSpc>
                        <a:spcBef>
                          <a:spcPts val="235"/>
                        </a:spcBef>
                        <a:buSzPct val="90000"/>
                        <a:buChar char="•"/>
                        <a:tabLst>
                          <a:tab pos="317500" algn="l"/>
                        </a:tabLst>
                      </a:pP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국내외</a:t>
                      </a:r>
                      <a:r>
                        <a:rPr sz="1000" spc="-9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납품</a:t>
                      </a:r>
                      <a:r>
                        <a:rPr sz="1000" spc="-11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물량</a:t>
                      </a:r>
                      <a:r>
                        <a:rPr sz="1000" spc="-9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증가에</a:t>
                      </a:r>
                      <a:r>
                        <a:rPr sz="1000" spc="-9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따른</a:t>
                      </a:r>
                      <a:r>
                        <a:rPr sz="1000" spc="-9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영업이익</a:t>
                      </a:r>
                      <a:r>
                        <a:rPr sz="1000" spc="-9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전년동기</a:t>
                      </a:r>
                      <a:r>
                        <a:rPr sz="1000" spc="-7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대비</a:t>
                      </a:r>
                      <a:r>
                        <a:rPr sz="1000" spc="-9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414042"/>
                          </a:solidFill>
                          <a:latin typeface="Malgun Gothic"/>
                          <a:cs typeface="Malgun Gothic"/>
                        </a:rPr>
                        <a:t>증가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8" name="object 38"/>
          <p:cNvSpPr/>
          <p:nvPr/>
        </p:nvSpPr>
        <p:spPr>
          <a:xfrm>
            <a:off x="6151626" y="1861566"/>
            <a:ext cx="572770" cy="8890"/>
          </a:xfrm>
          <a:custGeom>
            <a:avLst/>
            <a:gdLst/>
            <a:ahLst/>
            <a:cxnLst/>
            <a:rect l="l" t="t" r="r" b="b"/>
            <a:pathLst>
              <a:path w="572770" h="8889">
                <a:moveTo>
                  <a:pt x="0" y="8762"/>
                </a:moveTo>
                <a:lnTo>
                  <a:pt x="57251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514855" y="2116835"/>
            <a:ext cx="388620" cy="234950"/>
          </a:xfrm>
          <a:custGeom>
            <a:avLst/>
            <a:gdLst/>
            <a:ahLst/>
            <a:cxnLst/>
            <a:rect l="l" t="t" r="r" b="b"/>
            <a:pathLst>
              <a:path w="388619" h="234950">
                <a:moveTo>
                  <a:pt x="0" y="39115"/>
                </a:moveTo>
                <a:lnTo>
                  <a:pt x="3075" y="23895"/>
                </a:lnTo>
                <a:lnTo>
                  <a:pt x="11461" y="11461"/>
                </a:lnTo>
                <a:lnTo>
                  <a:pt x="23895" y="3075"/>
                </a:lnTo>
                <a:lnTo>
                  <a:pt x="39115" y="0"/>
                </a:lnTo>
                <a:lnTo>
                  <a:pt x="349504" y="0"/>
                </a:lnTo>
                <a:lnTo>
                  <a:pt x="364724" y="3075"/>
                </a:lnTo>
                <a:lnTo>
                  <a:pt x="377158" y="11461"/>
                </a:lnTo>
                <a:lnTo>
                  <a:pt x="385544" y="23895"/>
                </a:lnTo>
                <a:lnTo>
                  <a:pt x="388619" y="39115"/>
                </a:lnTo>
                <a:lnTo>
                  <a:pt x="388619" y="195579"/>
                </a:lnTo>
                <a:lnTo>
                  <a:pt x="385544" y="210800"/>
                </a:lnTo>
                <a:lnTo>
                  <a:pt x="377158" y="223234"/>
                </a:lnTo>
                <a:lnTo>
                  <a:pt x="364724" y="231620"/>
                </a:lnTo>
                <a:lnTo>
                  <a:pt x="349504" y="234696"/>
                </a:lnTo>
                <a:lnTo>
                  <a:pt x="39115" y="234696"/>
                </a:lnTo>
                <a:lnTo>
                  <a:pt x="23895" y="231620"/>
                </a:lnTo>
                <a:lnTo>
                  <a:pt x="11461" y="223234"/>
                </a:lnTo>
                <a:lnTo>
                  <a:pt x="3075" y="210800"/>
                </a:lnTo>
                <a:lnTo>
                  <a:pt x="0" y="195579"/>
                </a:lnTo>
                <a:lnTo>
                  <a:pt x="0" y="39115"/>
                </a:lnTo>
                <a:close/>
              </a:path>
            </a:pathLst>
          </a:custGeom>
          <a:ln w="12700">
            <a:solidFill>
              <a:srgbClr val="88BC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088123" y="2144267"/>
            <a:ext cx="390525" cy="234950"/>
          </a:xfrm>
          <a:custGeom>
            <a:avLst/>
            <a:gdLst/>
            <a:ahLst/>
            <a:cxnLst/>
            <a:rect l="l" t="t" r="r" b="b"/>
            <a:pathLst>
              <a:path w="390525" h="234950">
                <a:moveTo>
                  <a:pt x="0" y="39116"/>
                </a:moveTo>
                <a:lnTo>
                  <a:pt x="3075" y="23895"/>
                </a:lnTo>
                <a:lnTo>
                  <a:pt x="11461" y="11461"/>
                </a:lnTo>
                <a:lnTo>
                  <a:pt x="23895" y="3075"/>
                </a:lnTo>
                <a:lnTo>
                  <a:pt x="39116" y="0"/>
                </a:lnTo>
                <a:lnTo>
                  <a:pt x="351027" y="0"/>
                </a:lnTo>
                <a:lnTo>
                  <a:pt x="366248" y="3075"/>
                </a:lnTo>
                <a:lnTo>
                  <a:pt x="378682" y="11461"/>
                </a:lnTo>
                <a:lnTo>
                  <a:pt x="387068" y="23895"/>
                </a:lnTo>
                <a:lnTo>
                  <a:pt x="390144" y="39116"/>
                </a:lnTo>
                <a:lnTo>
                  <a:pt x="390144" y="195580"/>
                </a:lnTo>
                <a:lnTo>
                  <a:pt x="387068" y="210800"/>
                </a:lnTo>
                <a:lnTo>
                  <a:pt x="378682" y="223234"/>
                </a:lnTo>
                <a:lnTo>
                  <a:pt x="366248" y="231620"/>
                </a:lnTo>
                <a:lnTo>
                  <a:pt x="351027" y="234696"/>
                </a:lnTo>
                <a:lnTo>
                  <a:pt x="39116" y="234696"/>
                </a:lnTo>
                <a:lnTo>
                  <a:pt x="23895" y="231620"/>
                </a:lnTo>
                <a:lnTo>
                  <a:pt x="11461" y="223234"/>
                </a:lnTo>
                <a:lnTo>
                  <a:pt x="3075" y="210800"/>
                </a:lnTo>
                <a:lnTo>
                  <a:pt x="0" y="195580"/>
                </a:lnTo>
                <a:lnTo>
                  <a:pt x="0" y="39116"/>
                </a:lnTo>
                <a:close/>
              </a:path>
            </a:pathLst>
          </a:custGeom>
          <a:ln w="12700">
            <a:solidFill>
              <a:srgbClr val="88BC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54779" y="2389632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5">
                <a:moveTo>
                  <a:pt x="115824" y="0"/>
                </a:moveTo>
                <a:lnTo>
                  <a:pt x="0" y="0"/>
                </a:lnTo>
                <a:lnTo>
                  <a:pt x="0" y="115824"/>
                </a:lnTo>
                <a:lnTo>
                  <a:pt x="115824" y="115824"/>
                </a:lnTo>
                <a:lnTo>
                  <a:pt x="11582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347971" y="2389632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5">
                <a:moveTo>
                  <a:pt x="115824" y="0"/>
                </a:moveTo>
                <a:lnTo>
                  <a:pt x="0" y="0"/>
                </a:lnTo>
                <a:lnTo>
                  <a:pt x="0" y="115824"/>
                </a:lnTo>
                <a:lnTo>
                  <a:pt x="115824" y="115824"/>
                </a:lnTo>
                <a:lnTo>
                  <a:pt x="115824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835895" y="2426207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5">
                <a:moveTo>
                  <a:pt x="115824" y="0"/>
                </a:moveTo>
                <a:lnTo>
                  <a:pt x="0" y="0"/>
                </a:lnTo>
                <a:lnTo>
                  <a:pt x="0" y="115824"/>
                </a:lnTo>
                <a:lnTo>
                  <a:pt x="115824" y="115824"/>
                </a:lnTo>
                <a:lnTo>
                  <a:pt x="11582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395204" y="2426207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5">
                <a:moveTo>
                  <a:pt x="115824" y="0"/>
                </a:moveTo>
                <a:lnTo>
                  <a:pt x="0" y="0"/>
                </a:lnTo>
                <a:lnTo>
                  <a:pt x="0" y="115824"/>
                </a:lnTo>
                <a:lnTo>
                  <a:pt x="115824" y="115824"/>
                </a:lnTo>
                <a:lnTo>
                  <a:pt x="115824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9852" y="2758439"/>
            <a:ext cx="0" cy="1784985"/>
          </a:xfrm>
          <a:custGeom>
            <a:avLst/>
            <a:gdLst/>
            <a:ahLst/>
            <a:cxnLst/>
            <a:rect l="l" t="t" r="r" b="b"/>
            <a:pathLst>
              <a:path h="1784985">
                <a:moveTo>
                  <a:pt x="0" y="0"/>
                </a:moveTo>
                <a:lnTo>
                  <a:pt x="0" y="1784604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07008" y="2758439"/>
            <a:ext cx="0" cy="1784985"/>
          </a:xfrm>
          <a:custGeom>
            <a:avLst/>
            <a:gdLst/>
            <a:ahLst/>
            <a:cxnLst/>
            <a:rect l="l" t="t" r="r" b="b"/>
            <a:pathLst>
              <a:path h="1784985">
                <a:moveTo>
                  <a:pt x="0" y="0"/>
                </a:moveTo>
                <a:lnTo>
                  <a:pt x="0" y="1784604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11195113" y="2874264"/>
            <a:ext cx="9525" cy="1774189"/>
            <a:chOff x="11195113" y="2874264"/>
            <a:chExt cx="9525" cy="1774189"/>
          </a:xfrm>
        </p:grpSpPr>
        <p:sp>
          <p:nvSpPr>
            <p:cNvPr id="34" name="object 34"/>
            <p:cNvSpPr/>
            <p:nvPr/>
          </p:nvSpPr>
          <p:spPr>
            <a:xfrm>
              <a:off x="11199876" y="2874264"/>
              <a:ext cx="0" cy="1774189"/>
            </a:xfrm>
            <a:custGeom>
              <a:avLst/>
              <a:gdLst/>
              <a:ahLst/>
              <a:cxnLst/>
              <a:rect l="l" t="t" r="r" b="b"/>
              <a:pathLst>
                <a:path h="1774189">
                  <a:moveTo>
                    <a:pt x="0" y="0"/>
                  </a:moveTo>
                  <a:lnTo>
                    <a:pt x="0" y="1773936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199876" y="2874264"/>
              <a:ext cx="0" cy="1774189"/>
            </a:xfrm>
            <a:custGeom>
              <a:avLst/>
              <a:gdLst/>
              <a:ahLst/>
              <a:cxnLst/>
              <a:rect l="l" t="t" r="r" b="b"/>
              <a:pathLst>
                <a:path h="1774189">
                  <a:moveTo>
                    <a:pt x="0" y="1773936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8888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8279" y="70866"/>
            <a:ext cx="1789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algun Gothic"/>
                <a:cs typeface="Malgun Gothic"/>
              </a:rPr>
              <a:t>Financials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spc="-210" dirty="0">
                <a:latin typeface="Malgun Gothic"/>
                <a:cs typeface="Malgun Gothic"/>
              </a:rPr>
              <a:t>&gt;</a:t>
            </a:r>
            <a:r>
              <a:rPr sz="1200" spc="-175" dirty="0">
                <a:latin typeface="Malgun Gothic"/>
                <a:cs typeface="Malgun Gothic"/>
              </a:rPr>
              <a:t> </a:t>
            </a:r>
            <a:r>
              <a:rPr sz="1200" spc="-185" dirty="0">
                <a:solidFill>
                  <a:srgbClr val="626366"/>
                </a:solidFill>
                <a:latin typeface="Malgun Gothic"/>
                <a:cs typeface="Malgun Gothic"/>
              </a:rPr>
              <a:t>사업부문별</a:t>
            </a:r>
            <a:r>
              <a:rPr sz="1200" spc="-165" dirty="0">
                <a:solidFill>
                  <a:srgbClr val="626366"/>
                </a:solidFill>
                <a:latin typeface="Malgun Gothic"/>
                <a:cs typeface="Malgun Gothic"/>
              </a:rPr>
              <a:t> </a:t>
            </a:r>
            <a:r>
              <a:rPr sz="1200" spc="-125" dirty="0">
                <a:solidFill>
                  <a:srgbClr val="626366"/>
                </a:solidFill>
                <a:latin typeface="Malgun Gothic"/>
                <a:cs typeface="Malgun Gothic"/>
              </a:rPr>
              <a:t>실적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907526" y="65988"/>
            <a:ext cx="30213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한화에어로스페이스</a:t>
            </a:r>
            <a:r>
              <a:rPr sz="1200" spc="-2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2026년</a:t>
            </a:r>
            <a:r>
              <a:rPr sz="1200" spc="-20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Malgun Gothic"/>
                <a:cs typeface="Malgun Gothic"/>
              </a:rPr>
              <a:t>2분기</a:t>
            </a:r>
            <a:r>
              <a:rPr sz="1200" spc="-1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실적</a:t>
            </a:r>
            <a:r>
              <a:rPr sz="1200" spc="-18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발표</a:t>
            </a:r>
            <a:r>
              <a:rPr sz="1200" spc="2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50" spc="-37" baseline="2525" dirty="0">
                <a:solidFill>
                  <a:srgbClr val="FFFFFF"/>
                </a:solidFill>
                <a:latin typeface="Malgun Gothic"/>
                <a:cs typeface="Malgun Gothic"/>
              </a:rPr>
              <a:t>10</a:t>
            </a:r>
            <a:endParaRPr sz="1650" baseline="2525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279" y="657605"/>
            <a:ext cx="208026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280" dirty="0">
                <a:latin typeface="Malgun Gothic"/>
                <a:cs typeface="Malgun Gothic"/>
              </a:rPr>
              <a:t>사업부문별</a:t>
            </a:r>
            <a:r>
              <a:rPr sz="2500" spc="-335" dirty="0">
                <a:latin typeface="Malgun Gothic"/>
                <a:cs typeface="Malgun Gothic"/>
              </a:rPr>
              <a:t> </a:t>
            </a:r>
            <a:r>
              <a:rPr sz="2500" spc="-305" dirty="0">
                <a:latin typeface="Malgun Gothic"/>
                <a:cs typeface="Malgun Gothic"/>
              </a:rPr>
              <a:t>실적</a:t>
            </a:r>
            <a:endParaRPr sz="2500">
              <a:latin typeface="Malgun Gothic"/>
              <a:cs typeface="Malgun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73527" y="667588"/>
            <a:ext cx="11595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300" dirty="0">
                <a:solidFill>
                  <a:srgbClr val="88BCFA"/>
                </a:solidFill>
                <a:latin typeface="Malgun Gothic"/>
                <a:cs typeface="Malgun Gothic"/>
              </a:rPr>
              <a:t>지상방산</a:t>
            </a:r>
            <a:endParaRPr sz="2500">
              <a:latin typeface="Malgun Gothic"/>
              <a:cs typeface="Malgun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7931" y="1144524"/>
            <a:ext cx="11687175" cy="82550"/>
            <a:chOff x="217931" y="1144524"/>
            <a:chExt cx="11687175" cy="82550"/>
          </a:xfrm>
        </p:grpSpPr>
        <p:sp>
          <p:nvSpPr>
            <p:cNvPr id="6" name="object 6"/>
            <p:cNvSpPr/>
            <p:nvPr/>
          </p:nvSpPr>
          <p:spPr>
            <a:xfrm>
              <a:off x="217931" y="1144524"/>
              <a:ext cx="2052955" cy="82550"/>
            </a:xfrm>
            <a:custGeom>
              <a:avLst/>
              <a:gdLst/>
              <a:ahLst/>
              <a:cxnLst/>
              <a:rect l="l" t="t" r="r" b="b"/>
              <a:pathLst>
                <a:path w="2052955" h="82550">
                  <a:moveTo>
                    <a:pt x="2052827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2052827" y="82296"/>
                  </a:lnTo>
                  <a:lnTo>
                    <a:pt x="20528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931" y="1222248"/>
              <a:ext cx="11687175" cy="0"/>
            </a:xfrm>
            <a:custGeom>
              <a:avLst/>
              <a:gdLst/>
              <a:ahLst/>
              <a:cxnLst/>
              <a:rect l="l" t="t" r="r" b="b"/>
              <a:pathLst>
                <a:path w="11687175">
                  <a:moveTo>
                    <a:pt x="0" y="0"/>
                  </a:moveTo>
                  <a:lnTo>
                    <a:pt x="1168666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20472" y="1318386"/>
            <a:ext cx="575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10" dirty="0">
                <a:latin typeface="Malgun Gothic"/>
                <a:cs typeface="Malgun Gothic"/>
              </a:rPr>
              <a:t>수주잔고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6764" y="1386586"/>
            <a:ext cx="4064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90" dirty="0">
                <a:solidFill>
                  <a:srgbClr val="7E7E7E"/>
                </a:solidFill>
                <a:latin typeface="Malgun Gothic"/>
                <a:cs typeface="Malgun Gothic"/>
              </a:rPr>
              <a:t>단위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dirty="0">
                <a:solidFill>
                  <a:srgbClr val="7E7E7E"/>
                </a:solidFill>
                <a:latin typeface="Malgun Gothic"/>
                <a:cs typeface="Malgun Gothic"/>
              </a:rPr>
              <a:t>: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55" dirty="0">
                <a:solidFill>
                  <a:srgbClr val="7E7E7E"/>
                </a:solidFill>
                <a:latin typeface="Malgun Gothic"/>
                <a:cs typeface="Malgun Gothic"/>
              </a:rPr>
              <a:t>조원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44514" y="1318386"/>
            <a:ext cx="913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30" dirty="0">
                <a:latin typeface="Malgun Gothic"/>
                <a:cs typeface="Malgun Gothic"/>
              </a:rPr>
              <a:t>주요</a:t>
            </a:r>
            <a:r>
              <a:rPr sz="1200" b="1" spc="-180" dirty="0">
                <a:latin typeface="Malgun Gothic"/>
                <a:cs typeface="Malgun Gothic"/>
              </a:rPr>
              <a:t> </a:t>
            </a:r>
            <a:r>
              <a:rPr sz="1200" b="1" spc="-130" dirty="0">
                <a:latin typeface="Malgun Gothic"/>
                <a:cs typeface="Malgun Gothic"/>
              </a:rPr>
              <a:t>수주</a:t>
            </a:r>
            <a:r>
              <a:rPr sz="1200" b="1" spc="-175" dirty="0">
                <a:latin typeface="Malgun Gothic"/>
                <a:cs typeface="Malgun Gothic"/>
              </a:rPr>
              <a:t> </a:t>
            </a:r>
            <a:r>
              <a:rPr sz="1200" b="1" spc="-75" dirty="0">
                <a:latin typeface="Malgun Gothic"/>
                <a:cs typeface="Malgun Gothic"/>
              </a:rPr>
              <a:t>내역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151626" y="1561338"/>
            <a:ext cx="869315" cy="8890"/>
          </a:xfrm>
          <a:custGeom>
            <a:avLst/>
            <a:gdLst/>
            <a:ahLst/>
            <a:cxnLst/>
            <a:rect l="l" t="t" r="r" b="b"/>
            <a:pathLst>
              <a:path w="869315" h="8890">
                <a:moveTo>
                  <a:pt x="0" y="8762"/>
                </a:moveTo>
                <a:lnTo>
                  <a:pt x="86931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895838" y="1328699"/>
            <a:ext cx="1066165" cy="2819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265"/>
              </a:spcBef>
            </a:pPr>
            <a:r>
              <a:rPr sz="700" spc="-10" dirty="0">
                <a:solidFill>
                  <a:srgbClr val="7E7E7E"/>
                </a:solidFill>
                <a:latin typeface="Malgun Gothic"/>
                <a:cs typeface="Malgun Gothic"/>
              </a:rPr>
              <a:t>Dart</a:t>
            </a:r>
            <a:r>
              <a:rPr sz="700" spc="-70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90" dirty="0">
                <a:solidFill>
                  <a:srgbClr val="7E7E7E"/>
                </a:solidFill>
                <a:latin typeface="Malgun Gothic"/>
                <a:cs typeface="Malgun Gothic"/>
              </a:rPr>
              <a:t>전자공시시스템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90" dirty="0">
                <a:solidFill>
                  <a:srgbClr val="7E7E7E"/>
                </a:solidFill>
                <a:latin typeface="Malgun Gothic"/>
                <a:cs typeface="Malgun Gothic"/>
              </a:rPr>
              <a:t>기준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50" dirty="0">
                <a:solidFill>
                  <a:srgbClr val="7E7E7E"/>
                </a:solidFill>
                <a:latin typeface="Malgun Gothic"/>
                <a:cs typeface="Malgun Gothic"/>
              </a:rPr>
              <a:t>외</a:t>
            </a:r>
            <a:endParaRPr sz="700">
              <a:latin typeface="Malgun Gothic"/>
              <a:cs typeface="Malgun Gothic"/>
            </a:endParaRPr>
          </a:p>
          <a:p>
            <a:pPr marR="5080" algn="r">
              <a:lnSpc>
                <a:spcPct val="100000"/>
              </a:lnSpc>
              <a:spcBef>
                <a:spcPts val="170"/>
              </a:spcBef>
            </a:pPr>
            <a:r>
              <a:rPr sz="700" spc="-90" dirty="0">
                <a:solidFill>
                  <a:srgbClr val="7E7E7E"/>
                </a:solidFill>
                <a:latin typeface="Malgun Gothic"/>
                <a:cs typeface="Malgun Gothic"/>
              </a:rPr>
              <a:t>단위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dirty="0">
                <a:solidFill>
                  <a:srgbClr val="7E7E7E"/>
                </a:solidFill>
                <a:latin typeface="Malgun Gothic"/>
                <a:cs typeface="Malgun Gothic"/>
              </a:rPr>
              <a:t>: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35" dirty="0">
                <a:solidFill>
                  <a:srgbClr val="7E7E7E"/>
                </a:solidFill>
                <a:latin typeface="Malgun Gothic"/>
                <a:cs typeface="Malgun Gothic"/>
              </a:rPr>
              <a:t>조원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35458" y="1570482"/>
            <a:ext cx="561975" cy="0"/>
          </a:xfrm>
          <a:custGeom>
            <a:avLst/>
            <a:gdLst/>
            <a:ahLst/>
            <a:cxnLst/>
            <a:rect l="l" t="t" r="r" b="b"/>
            <a:pathLst>
              <a:path w="561975">
                <a:moveTo>
                  <a:pt x="0" y="0"/>
                </a:moveTo>
                <a:lnTo>
                  <a:pt x="561428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25696" y="2249423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5">
                <a:moveTo>
                  <a:pt x="115824" y="0"/>
                </a:moveTo>
                <a:lnTo>
                  <a:pt x="0" y="0"/>
                </a:lnTo>
                <a:lnTo>
                  <a:pt x="0" y="115824"/>
                </a:lnTo>
                <a:lnTo>
                  <a:pt x="115824" y="115824"/>
                </a:lnTo>
                <a:lnTo>
                  <a:pt x="11582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78222" y="2240406"/>
            <a:ext cx="1841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7E7E7E"/>
                </a:solidFill>
                <a:latin typeface="Malgun Gothic"/>
                <a:cs typeface="Malgun Gothic"/>
              </a:rPr>
              <a:t>수출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18888" y="2249423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5">
                <a:moveTo>
                  <a:pt x="115824" y="0"/>
                </a:moveTo>
                <a:lnTo>
                  <a:pt x="0" y="0"/>
                </a:lnTo>
                <a:lnTo>
                  <a:pt x="0" y="115824"/>
                </a:lnTo>
                <a:lnTo>
                  <a:pt x="115824" y="115824"/>
                </a:lnTo>
                <a:lnTo>
                  <a:pt x="115824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80559" y="2240406"/>
            <a:ext cx="1841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7E7E7E"/>
                </a:solidFill>
                <a:latin typeface="Malgun Gothic"/>
                <a:cs typeface="Malgun Gothic"/>
              </a:rPr>
              <a:t>내수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5947" y="2763011"/>
            <a:ext cx="0" cy="2246630"/>
          </a:xfrm>
          <a:custGeom>
            <a:avLst/>
            <a:gdLst/>
            <a:ahLst/>
            <a:cxnLst/>
            <a:rect l="l" t="t" r="r" b="b"/>
            <a:pathLst>
              <a:path h="2246629">
                <a:moveTo>
                  <a:pt x="0" y="0"/>
                </a:moveTo>
                <a:lnTo>
                  <a:pt x="0" y="2246376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850391" y="3393947"/>
            <a:ext cx="632460" cy="1615440"/>
            <a:chOff x="850391" y="3393947"/>
            <a:chExt cx="632460" cy="1615440"/>
          </a:xfrm>
        </p:grpSpPr>
        <p:sp>
          <p:nvSpPr>
            <p:cNvPr id="18" name="object 18"/>
            <p:cNvSpPr/>
            <p:nvPr/>
          </p:nvSpPr>
          <p:spPr>
            <a:xfrm>
              <a:off x="850391" y="3913631"/>
              <a:ext cx="632460" cy="1096010"/>
            </a:xfrm>
            <a:custGeom>
              <a:avLst/>
              <a:gdLst/>
              <a:ahLst/>
              <a:cxnLst/>
              <a:rect l="l" t="t" r="r" b="b"/>
              <a:pathLst>
                <a:path w="632460" h="1096010">
                  <a:moveTo>
                    <a:pt x="632460" y="0"/>
                  </a:moveTo>
                  <a:lnTo>
                    <a:pt x="0" y="0"/>
                  </a:lnTo>
                  <a:lnTo>
                    <a:pt x="0" y="1095756"/>
                  </a:lnTo>
                  <a:lnTo>
                    <a:pt x="632460" y="1095756"/>
                  </a:lnTo>
                  <a:lnTo>
                    <a:pt x="63246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0391" y="3393947"/>
              <a:ext cx="632460" cy="520065"/>
            </a:xfrm>
            <a:custGeom>
              <a:avLst/>
              <a:gdLst/>
              <a:ahLst/>
              <a:cxnLst/>
              <a:rect l="l" t="t" r="r" b="b"/>
              <a:pathLst>
                <a:path w="632460" h="520064">
                  <a:moveTo>
                    <a:pt x="632460" y="0"/>
                  </a:moveTo>
                  <a:lnTo>
                    <a:pt x="0" y="0"/>
                  </a:lnTo>
                  <a:lnTo>
                    <a:pt x="0" y="519683"/>
                  </a:lnTo>
                  <a:lnTo>
                    <a:pt x="632460" y="519683"/>
                  </a:lnTo>
                  <a:lnTo>
                    <a:pt x="632460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043432" y="3565905"/>
            <a:ext cx="2457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solidFill>
                  <a:srgbClr val="FFFFFF"/>
                </a:solidFill>
                <a:latin typeface="Malgun Gothic"/>
                <a:cs typeface="Malgun Gothic"/>
              </a:rPr>
              <a:t>32%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3432" y="4374641"/>
            <a:ext cx="2457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solidFill>
                  <a:srgbClr val="FFFFFF"/>
                </a:solidFill>
                <a:latin typeface="Malgun Gothic"/>
                <a:cs typeface="Malgun Gothic"/>
              </a:rPr>
              <a:t>68%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87295" y="2763011"/>
            <a:ext cx="0" cy="2246630"/>
          </a:xfrm>
          <a:custGeom>
            <a:avLst/>
            <a:gdLst/>
            <a:ahLst/>
            <a:cxnLst/>
            <a:rect l="l" t="t" r="r" b="b"/>
            <a:pathLst>
              <a:path h="2246629">
                <a:moveTo>
                  <a:pt x="0" y="0"/>
                </a:moveTo>
                <a:lnTo>
                  <a:pt x="0" y="2246376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2491739" y="3153155"/>
            <a:ext cx="632460" cy="1856739"/>
            <a:chOff x="2491739" y="3153155"/>
            <a:chExt cx="632460" cy="1856739"/>
          </a:xfrm>
        </p:grpSpPr>
        <p:sp>
          <p:nvSpPr>
            <p:cNvPr id="21" name="object 21"/>
            <p:cNvSpPr/>
            <p:nvPr/>
          </p:nvSpPr>
          <p:spPr>
            <a:xfrm>
              <a:off x="2491739" y="3683507"/>
              <a:ext cx="632460" cy="1325880"/>
            </a:xfrm>
            <a:custGeom>
              <a:avLst/>
              <a:gdLst/>
              <a:ahLst/>
              <a:cxnLst/>
              <a:rect l="l" t="t" r="r" b="b"/>
              <a:pathLst>
                <a:path w="632460" h="1325879">
                  <a:moveTo>
                    <a:pt x="632460" y="0"/>
                  </a:moveTo>
                  <a:lnTo>
                    <a:pt x="0" y="0"/>
                  </a:lnTo>
                  <a:lnTo>
                    <a:pt x="0" y="1325880"/>
                  </a:lnTo>
                  <a:lnTo>
                    <a:pt x="632460" y="1325880"/>
                  </a:lnTo>
                  <a:lnTo>
                    <a:pt x="63246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91739" y="3153155"/>
              <a:ext cx="632460" cy="530860"/>
            </a:xfrm>
            <a:custGeom>
              <a:avLst/>
              <a:gdLst/>
              <a:ahLst/>
              <a:cxnLst/>
              <a:rect l="l" t="t" r="r" b="b"/>
              <a:pathLst>
                <a:path w="632460" h="530860">
                  <a:moveTo>
                    <a:pt x="632460" y="0"/>
                  </a:moveTo>
                  <a:lnTo>
                    <a:pt x="0" y="0"/>
                  </a:lnTo>
                  <a:lnTo>
                    <a:pt x="0" y="530352"/>
                  </a:lnTo>
                  <a:lnTo>
                    <a:pt x="632460" y="530352"/>
                  </a:lnTo>
                  <a:lnTo>
                    <a:pt x="632460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685414" y="3330321"/>
            <a:ext cx="2457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solidFill>
                  <a:srgbClr val="FFFFFF"/>
                </a:solidFill>
                <a:latin typeface="Malgun Gothic"/>
                <a:cs typeface="Malgun Gothic"/>
              </a:rPr>
              <a:t>29%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85414" y="4259326"/>
            <a:ext cx="2457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solidFill>
                  <a:srgbClr val="FFFFFF"/>
                </a:solidFill>
                <a:latin typeface="Malgun Gothic"/>
                <a:cs typeface="Malgun Gothic"/>
              </a:rPr>
              <a:t>71%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28644" y="2763011"/>
            <a:ext cx="0" cy="2246630"/>
          </a:xfrm>
          <a:custGeom>
            <a:avLst/>
            <a:gdLst/>
            <a:ahLst/>
            <a:cxnLst/>
            <a:rect l="l" t="t" r="r" b="b"/>
            <a:pathLst>
              <a:path h="2246629">
                <a:moveTo>
                  <a:pt x="0" y="0"/>
                </a:moveTo>
                <a:lnTo>
                  <a:pt x="0" y="2246376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4297171" y="2843529"/>
            <a:ext cx="279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Malgun Gothic"/>
                <a:cs typeface="Malgun Gothic"/>
              </a:rPr>
              <a:t>38.3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69539" y="2919222"/>
            <a:ext cx="275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Malgun Gothic"/>
                <a:cs typeface="Malgun Gothic"/>
              </a:rPr>
              <a:t>37.2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21486" y="3135629"/>
            <a:ext cx="275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Malgun Gothic"/>
                <a:cs typeface="Malgun Gothic"/>
              </a:rPr>
              <a:t>32.4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134611" y="3096767"/>
            <a:ext cx="631190" cy="1912620"/>
            <a:chOff x="4134611" y="3096767"/>
            <a:chExt cx="631190" cy="1912620"/>
          </a:xfrm>
        </p:grpSpPr>
        <p:sp>
          <p:nvSpPr>
            <p:cNvPr id="24" name="object 24"/>
            <p:cNvSpPr/>
            <p:nvPr/>
          </p:nvSpPr>
          <p:spPr>
            <a:xfrm>
              <a:off x="4134611" y="3569207"/>
              <a:ext cx="631190" cy="1440180"/>
            </a:xfrm>
            <a:custGeom>
              <a:avLst/>
              <a:gdLst/>
              <a:ahLst/>
              <a:cxnLst/>
              <a:rect l="l" t="t" r="r" b="b"/>
              <a:pathLst>
                <a:path w="631189" h="1440179">
                  <a:moveTo>
                    <a:pt x="630936" y="0"/>
                  </a:moveTo>
                  <a:lnTo>
                    <a:pt x="0" y="0"/>
                  </a:lnTo>
                  <a:lnTo>
                    <a:pt x="0" y="1440179"/>
                  </a:lnTo>
                  <a:lnTo>
                    <a:pt x="630936" y="1440179"/>
                  </a:lnTo>
                  <a:lnTo>
                    <a:pt x="63093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34611" y="3096767"/>
              <a:ext cx="631190" cy="472440"/>
            </a:xfrm>
            <a:custGeom>
              <a:avLst/>
              <a:gdLst/>
              <a:ahLst/>
              <a:cxnLst/>
              <a:rect l="l" t="t" r="r" b="b"/>
              <a:pathLst>
                <a:path w="631189" h="472439">
                  <a:moveTo>
                    <a:pt x="630936" y="0"/>
                  </a:moveTo>
                  <a:lnTo>
                    <a:pt x="0" y="0"/>
                  </a:lnTo>
                  <a:lnTo>
                    <a:pt x="0" y="472440"/>
                  </a:lnTo>
                  <a:lnTo>
                    <a:pt x="630936" y="472440"/>
                  </a:lnTo>
                  <a:lnTo>
                    <a:pt x="630936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325492" y="3244976"/>
            <a:ext cx="25019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Malgun Gothic"/>
                <a:cs typeface="Malgun Gothic"/>
              </a:rPr>
              <a:t>25%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25492" y="4202048"/>
            <a:ext cx="25019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FFFFFF"/>
                </a:solidFill>
                <a:latin typeface="Malgun Gothic"/>
                <a:cs typeface="Malgun Gothic"/>
              </a:rPr>
              <a:t>75%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69991" y="2763011"/>
            <a:ext cx="0" cy="2246630"/>
          </a:xfrm>
          <a:custGeom>
            <a:avLst/>
            <a:gdLst/>
            <a:ahLst/>
            <a:cxnLst/>
            <a:rect l="l" t="t" r="r" b="b"/>
            <a:pathLst>
              <a:path h="2246629">
                <a:moveTo>
                  <a:pt x="0" y="0"/>
                </a:moveTo>
                <a:lnTo>
                  <a:pt x="0" y="2246376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021486" y="5092445"/>
            <a:ext cx="2901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latin typeface="Malgun Gothic"/>
                <a:cs typeface="Malgun Gothic"/>
              </a:rPr>
              <a:t>2024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63444" y="5092445"/>
            <a:ext cx="2901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latin typeface="Malgun Gothic"/>
                <a:cs typeface="Malgun Gothic"/>
              </a:rPr>
              <a:t>2025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93870" y="5092445"/>
            <a:ext cx="313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latin typeface="Malgun Gothic"/>
                <a:cs typeface="Malgun Gothic"/>
              </a:rPr>
              <a:t>2Q26</a:t>
            </a:r>
            <a:endParaRPr sz="900">
              <a:latin typeface="Malgun Gothic"/>
              <a:cs typeface="Malgun Gothic"/>
            </a:endParaRPr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6144259" y="1649158"/>
          <a:ext cx="5819140" cy="3970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3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01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000" b="1" spc="-20" dirty="0">
                          <a:latin typeface="Malgun Gothic"/>
                          <a:cs typeface="Malgun Gothic"/>
                        </a:rPr>
                        <a:t>계약일자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7876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계약명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492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000" spc="-2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계약금액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4925" marB="0">
                    <a:lnL w="6350">
                      <a:solidFill>
                        <a:srgbClr val="7E7E7E"/>
                      </a:solidFill>
                      <a:prstDash val="sysDash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`22.</a:t>
                      </a:r>
                      <a:r>
                        <a:rPr sz="1000" b="1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35" dirty="0">
                          <a:latin typeface="Malgun Gothic"/>
                          <a:cs typeface="Malgun Gothic"/>
                        </a:rPr>
                        <a:t>2월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3679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이집트</a:t>
                      </a:r>
                      <a:r>
                        <a:rPr sz="1000" spc="-8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K9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492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2.0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968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`22.</a:t>
                      </a:r>
                      <a:r>
                        <a:rPr sz="1000" b="1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latin typeface="Malgun Gothic"/>
                          <a:cs typeface="Malgun Gothic"/>
                        </a:rPr>
                        <a:t>8월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폴란드</a:t>
                      </a:r>
                      <a:r>
                        <a:rPr sz="1000" spc="-8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K9</a:t>
                      </a:r>
                      <a:r>
                        <a:rPr sz="1000" spc="-13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EC1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492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3.2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968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`22.11월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폴란드</a:t>
                      </a:r>
                      <a:r>
                        <a:rPr sz="1000" spc="-9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천무</a:t>
                      </a:r>
                      <a:r>
                        <a:rPr sz="1000" spc="-1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EC1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5.0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968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`23.12월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호주</a:t>
                      </a:r>
                      <a:r>
                        <a:rPr sz="1000" spc="-10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보병전투차량(Redback)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3.2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968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`23.12월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폴란드</a:t>
                      </a:r>
                      <a:r>
                        <a:rPr sz="1000" spc="-8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K9</a:t>
                      </a:r>
                      <a:r>
                        <a:rPr sz="1000" spc="-13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EC2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3.4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968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`24.</a:t>
                      </a:r>
                      <a:r>
                        <a:rPr sz="1000" b="1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latin typeface="Malgun Gothic"/>
                          <a:cs typeface="Malgun Gothic"/>
                        </a:rPr>
                        <a:t>4월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폴란드</a:t>
                      </a:r>
                      <a:r>
                        <a:rPr sz="1000" spc="-9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천무</a:t>
                      </a:r>
                      <a:r>
                        <a:rPr sz="1000" spc="-1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EC2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2.3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968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`24.</a:t>
                      </a:r>
                      <a:r>
                        <a:rPr sz="1000" b="1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latin typeface="Malgun Gothic"/>
                          <a:cs typeface="Malgun Gothic"/>
                        </a:rPr>
                        <a:t>7월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루마니아</a:t>
                      </a:r>
                      <a:r>
                        <a:rPr sz="1000" spc="-8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K9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1.4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968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`24.12월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SA</a:t>
                      </a:r>
                      <a:r>
                        <a:rPr sz="1000" spc="-1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M-</a:t>
                      </a:r>
                      <a:r>
                        <a:rPr sz="1000" spc="-4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SAM</a:t>
                      </a:r>
                      <a:r>
                        <a:rPr sz="1000" spc="-9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발사대</a:t>
                      </a:r>
                      <a:r>
                        <a:rPr sz="1000" spc="-7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5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등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0.9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03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`25.</a:t>
                      </a:r>
                      <a:r>
                        <a:rPr sz="1000" b="1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latin typeface="Malgun Gothic"/>
                          <a:cs typeface="Malgun Gothic"/>
                        </a:rPr>
                        <a:t>4월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인도</a:t>
                      </a:r>
                      <a:r>
                        <a:rPr sz="1000" spc="-10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K9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0.4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03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`25.</a:t>
                      </a:r>
                      <a:r>
                        <a:rPr sz="1000" b="1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latin typeface="Malgun Gothic"/>
                          <a:cs typeface="Malgun Gothic"/>
                        </a:rPr>
                        <a:t>4월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폴란드</a:t>
                      </a:r>
                      <a:r>
                        <a:rPr sz="1000" spc="-8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KRAB</a:t>
                      </a:r>
                      <a:r>
                        <a:rPr sz="1000" spc="-1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차체</a:t>
                      </a:r>
                      <a:r>
                        <a:rPr sz="1000" spc="-1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구성품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0.4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03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`25.</a:t>
                      </a:r>
                      <a:r>
                        <a:rPr sz="1000" b="1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latin typeface="Malgun Gothic"/>
                          <a:cs typeface="Malgun Gothic"/>
                        </a:rPr>
                        <a:t>8월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spc="-114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중동</a:t>
                      </a: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유도무기류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0.4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03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`25.10월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spc="-1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이라크</a:t>
                      </a:r>
                      <a:r>
                        <a:rPr sz="1000" spc="-5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M-</a:t>
                      </a:r>
                      <a:r>
                        <a:rPr sz="1000" spc="-4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SAM</a:t>
                      </a:r>
                      <a:r>
                        <a:rPr sz="1000" spc="-7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발사대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0.4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03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`25.11월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64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국내</a:t>
                      </a:r>
                      <a:r>
                        <a:rPr sz="1000" spc="-9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10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L-</a:t>
                      </a:r>
                      <a:r>
                        <a:rPr sz="1000" spc="-4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SAM</a:t>
                      </a:r>
                      <a:r>
                        <a:rPr sz="1000" spc="-1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7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양산(발사대,</a:t>
                      </a:r>
                      <a:r>
                        <a:rPr sz="1000" spc="-5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ABM)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0.7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03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`25.12월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에스토니아</a:t>
                      </a:r>
                      <a:r>
                        <a:rPr sz="1000" spc="-5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천무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0.4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03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`25.12월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폴란드</a:t>
                      </a:r>
                      <a:r>
                        <a:rPr sz="1000" spc="-9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천무</a:t>
                      </a:r>
                      <a:r>
                        <a:rPr sz="1000" spc="-11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EC3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5.6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03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`26.</a:t>
                      </a:r>
                      <a:r>
                        <a:rPr sz="1000" b="1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latin typeface="Malgun Gothic"/>
                          <a:cs typeface="Malgun Gothic"/>
                        </a:rPr>
                        <a:t>1월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노르웨이</a:t>
                      </a:r>
                      <a:r>
                        <a:rPr sz="1000" spc="-8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3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천무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1.3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03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000" b="1" spc="-10" dirty="0">
                          <a:latin typeface="Malgun Gothic"/>
                          <a:cs typeface="Malgun Gothic"/>
                        </a:rPr>
                        <a:t>`26.</a:t>
                      </a:r>
                      <a:r>
                        <a:rPr sz="1000" b="1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latin typeface="Malgun Gothic"/>
                          <a:cs typeface="Malgun Gothic"/>
                        </a:rPr>
                        <a:t>4월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000" spc="-1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핀란드</a:t>
                      </a:r>
                      <a:r>
                        <a:rPr sz="1000" spc="-8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K9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0.9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032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8" name="object 38"/>
          <p:cNvSpPr/>
          <p:nvPr/>
        </p:nvSpPr>
        <p:spPr>
          <a:xfrm>
            <a:off x="193547" y="5751576"/>
            <a:ext cx="11805285" cy="1003300"/>
          </a:xfrm>
          <a:custGeom>
            <a:avLst/>
            <a:gdLst/>
            <a:ahLst/>
            <a:cxnLst/>
            <a:rect l="l" t="t" r="r" b="b"/>
            <a:pathLst>
              <a:path w="11805285" h="1003300">
                <a:moveTo>
                  <a:pt x="0" y="79578"/>
                </a:moveTo>
                <a:lnTo>
                  <a:pt x="6252" y="48600"/>
                </a:lnTo>
                <a:lnTo>
                  <a:pt x="23306" y="23306"/>
                </a:lnTo>
                <a:lnTo>
                  <a:pt x="48600" y="6252"/>
                </a:lnTo>
                <a:lnTo>
                  <a:pt x="79578" y="0"/>
                </a:lnTo>
                <a:lnTo>
                  <a:pt x="11725275" y="0"/>
                </a:lnTo>
                <a:lnTo>
                  <a:pt x="11756255" y="6252"/>
                </a:lnTo>
                <a:lnTo>
                  <a:pt x="11781567" y="23306"/>
                </a:lnTo>
                <a:lnTo>
                  <a:pt x="11798641" y="48600"/>
                </a:lnTo>
                <a:lnTo>
                  <a:pt x="11804904" y="79578"/>
                </a:lnTo>
                <a:lnTo>
                  <a:pt x="11804904" y="923213"/>
                </a:lnTo>
                <a:lnTo>
                  <a:pt x="11798641" y="954191"/>
                </a:lnTo>
                <a:lnTo>
                  <a:pt x="11781567" y="979485"/>
                </a:lnTo>
                <a:lnTo>
                  <a:pt x="11756255" y="996539"/>
                </a:lnTo>
                <a:lnTo>
                  <a:pt x="11725275" y="1002792"/>
                </a:lnTo>
                <a:lnTo>
                  <a:pt x="79578" y="1002792"/>
                </a:lnTo>
                <a:lnTo>
                  <a:pt x="48600" y="996539"/>
                </a:lnTo>
                <a:lnTo>
                  <a:pt x="23306" y="979485"/>
                </a:lnTo>
                <a:lnTo>
                  <a:pt x="6252" y="954191"/>
                </a:lnTo>
                <a:lnTo>
                  <a:pt x="0" y="923213"/>
                </a:lnTo>
                <a:lnTo>
                  <a:pt x="0" y="79578"/>
                </a:lnTo>
                <a:close/>
              </a:path>
            </a:pathLst>
          </a:custGeom>
          <a:ln w="12700">
            <a:solidFill>
              <a:srgbClr val="88BC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80796" y="5832463"/>
            <a:ext cx="2199005" cy="78613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00"/>
              </a:spcBef>
            </a:pPr>
            <a:r>
              <a:rPr sz="1200" b="1" spc="-135" dirty="0">
                <a:latin typeface="Malgun Gothic"/>
                <a:cs typeface="Malgun Gothic"/>
              </a:rPr>
              <a:t>수주잔고</a:t>
            </a:r>
            <a:r>
              <a:rPr sz="1200" b="1" spc="-180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현황</a:t>
            </a:r>
            <a:endParaRPr sz="1200">
              <a:latin typeface="Malgun Gothic"/>
              <a:cs typeface="Malgun Gothic"/>
            </a:endParaRPr>
          </a:p>
          <a:p>
            <a:pPr marL="127635" indent="-114935">
              <a:lnSpc>
                <a:spcPct val="100000"/>
              </a:lnSpc>
              <a:spcBef>
                <a:spcPts val="660"/>
              </a:spcBef>
              <a:buSzPct val="90000"/>
              <a:buChar char="•"/>
              <a:tabLst>
                <a:tab pos="127635" algn="l"/>
              </a:tabLst>
            </a:pPr>
            <a:r>
              <a:rPr sz="1000" spc="-80" dirty="0">
                <a:solidFill>
                  <a:srgbClr val="414042"/>
                </a:solidFill>
                <a:latin typeface="Malgun Gothic"/>
                <a:cs typeface="Malgun Gothic"/>
              </a:rPr>
              <a:t>＇26.4월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핀란드</a:t>
            </a:r>
            <a:r>
              <a:rPr sz="1000" spc="-8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414042"/>
                </a:solidFill>
                <a:latin typeface="Malgun Gothic"/>
                <a:cs typeface="Malgun Gothic"/>
              </a:rPr>
              <a:t>K9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추가</a:t>
            </a:r>
            <a:r>
              <a:rPr sz="1000" spc="-10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계약</a:t>
            </a:r>
            <a:r>
              <a:rPr sz="1000" spc="-9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414042"/>
                </a:solidFill>
                <a:latin typeface="Malgun Gothic"/>
                <a:cs typeface="Malgun Gothic"/>
              </a:rPr>
              <a:t>체결</a:t>
            </a:r>
            <a:endParaRPr sz="1000">
              <a:latin typeface="Malgun Gothic"/>
              <a:cs typeface="Malgun Gothic"/>
            </a:endParaRPr>
          </a:p>
          <a:p>
            <a:pPr marL="127635" indent="-114935">
              <a:lnSpc>
                <a:spcPct val="100000"/>
              </a:lnSpc>
              <a:spcBef>
                <a:spcPts val="685"/>
              </a:spcBef>
              <a:buSzPct val="90000"/>
              <a:buChar char="•"/>
              <a:tabLst>
                <a:tab pos="127635" algn="l"/>
              </a:tabLst>
            </a:pPr>
            <a:r>
              <a:rPr sz="1000" spc="-80" dirty="0">
                <a:solidFill>
                  <a:srgbClr val="414042"/>
                </a:solidFill>
                <a:latin typeface="Malgun Gothic"/>
                <a:cs typeface="Malgun Gothic"/>
              </a:rPr>
              <a:t>＇26.5월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에스토니아</a:t>
            </a:r>
            <a:r>
              <a:rPr sz="1000" spc="-5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천무</a:t>
            </a:r>
            <a:r>
              <a:rPr sz="1000" spc="-9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추가</a:t>
            </a:r>
            <a:r>
              <a:rPr sz="1000" spc="-10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계약</a:t>
            </a:r>
            <a:r>
              <a:rPr sz="1000" spc="-9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65" dirty="0">
                <a:solidFill>
                  <a:srgbClr val="414042"/>
                </a:solidFill>
                <a:latin typeface="Malgun Gothic"/>
                <a:cs typeface="Malgun Gothic"/>
              </a:rPr>
              <a:t>체결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86983" y="5832463"/>
            <a:ext cx="2667000" cy="5461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0"/>
              </a:spcBef>
            </a:pPr>
            <a:r>
              <a:rPr sz="1200" b="1" spc="-50" dirty="0">
                <a:latin typeface="Malgun Gothic"/>
                <a:cs typeface="Malgun Gothic"/>
              </a:rPr>
              <a:t>2026년</a:t>
            </a:r>
            <a:r>
              <a:rPr sz="1200" b="1" spc="-175" dirty="0">
                <a:latin typeface="Malgun Gothic"/>
                <a:cs typeface="Malgun Gothic"/>
              </a:rPr>
              <a:t> </a:t>
            </a:r>
            <a:r>
              <a:rPr sz="1200" b="1" spc="-35" dirty="0">
                <a:latin typeface="Malgun Gothic"/>
                <a:cs typeface="Malgun Gothic"/>
              </a:rPr>
              <a:t>전망</a:t>
            </a:r>
            <a:endParaRPr sz="1200">
              <a:latin typeface="Malgun Gothic"/>
              <a:cs typeface="Malgun Gothic"/>
            </a:endParaRPr>
          </a:p>
          <a:p>
            <a:pPr marL="127635" indent="-114935">
              <a:lnSpc>
                <a:spcPct val="100000"/>
              </a:lnSpc>
              <a:spcBef>
                <a:spcPts val="660"/>
              </a:spcBef>
              <a:buSzPct val="90000"/>
              <a:buChar char="•"/>
              <a:tabLst>
                <a:tab pos="127635" algn="l"/>
              </a:tabLst>
            </a:pP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신규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수주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확대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및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수출</a:t>
            </a:r>
            <a:r>
              <a:rPr sz="1000" spc="-10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지역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다변화</a:t>
            </a:r>
            <a:r>
              <a:rPr sz="1000" spc="-9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전략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지속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55" dirty="0">
                <a:solidFill>
                  <a:srgbClr val="414042"/>
                </a:solidFill>
                <a:latin typeface="Malgun Gothic"/>
                <a:cs typeface="Malgun Gothic"/>
              </a:rPr>
              <a:t>추진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/>
          <p:nvPr/>
        </p:nvSpPr>
        <p:spPr>
          <a:xfrm>
            <a:off x="208279" y="70866"/>
            <a:ext cx="1789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algun Gothic"/>
                <a:cs typeface="Malgun Gothic"/>
              </a:rPr>
              <a:t>Financials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spc="-210" dirty="0">
                <a:latin typeface="Malgun Gothic"/>
                <a:cs typeface="Malgun Gothic"/>
              </a:rPr>
              <a:t>&gt;</a:t>
            </a:r>
            <a:r>
              <a:rPr sz="1200" spc="-175" dirty="0">
                <a:latin typeface="Malgun Gothic"/>
                <a:cs typeface="Malgun Gothic"/>
              </a:rPr>
              <a:t> </a:t>
            </a:r>
            <a:r>
              <a:rPr sz="1200" spc="-185" dirty="0">
                <a:solidFill>
                  <a:srgbClr val="626366"/>
                </a:solidFill>
                <a:latin typeface="Malgun Gothic"/>
                <a:cs typeface="Malgun Gothic"/>
              </a:rPr>
              <a:t>사업부문별</a:t>
            </a:r>
            <a:r>
              <a:rPr sz="1200" spc="-165" dirty="0">
                <a:solidFill>
                  <a:srgbClr val="626366"/>
                </a:solidFill>
                <a:latin typeface="Malgun Gothic"/>
                <a:cs typeface="Malgun Gothic"/>
              </a:rPr>
              <a:t> </a:t>
            </a:r>
            <a:r>
              <a:rPr sz="1200" spc="-125" dirty="0">
                <a:solidFill>
                  <a:srgbClr val="626366"/>
                </a:solidFill>
                <a:latin typeface="Malgun Gothic"/>
                <a:cs typeface="Malgun Gothic"/>
              </a:rPr>
              <a:t>실적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907526" y="65988"/>
            <a:ext cx="27679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한화에어로스페이스</a:t>
            </a:r>
            <a:r>
              <a:rPr sz="1200" spc="-18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2026년</a:t>
            </a:r>
            <a:r>
              <a:rPr sz="1200" spc="-1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Malgun Gothic"/>
                <a:cs typeface="Malgun Gothic"/>
              </a:rPr>
              <a:t>2분기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실적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발표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44959" y="74422"/>
            <a:ext cx="1841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11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8279" y="657605"/>
            <a:ext cx="208026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280" dirty="0">
                <a:latin typeface="Malgun Gothic"/>
                <a:cs typeface="Malgun Gothic"/>
              </a:rPr>
              <a:t>사업부문별</a:t>
            </a:r>
            <a:r>
              <a:rPr sz="2500" spc="-335" dirty="0">
                <a:latin typeface="Malgun Gothic"/>
                <a:cs typeface="Malgun Gothic"/>
              </a:rPr>
              <a:t> </a:t>
            </a:r>
            <a:r>
              <a:rPr sz="2500" spc="-305" dirty="0">
                <a:latin typeface="Malgun Gothic"/>
                <a:cs typeface="Malgun Gothic"/>
              </a:rPr>
              <a:t>실적</a:t>
            </a:r>
            <a:endParaRPr sz="2500">
              <a:latin typeface="Malgun Gothic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73527" y="667588"/>
            <a:ext cx="11595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300" dirty="0">
                <a:solidFill>
                  <a:srgbClr val="88BCFA"/>
                </a:solidFill>
                <a:latin typeface="Malgun Gothic"/>
                <a:cs typeface="Malgun Gothic"/>
              </a:rPr>
              <a:t>항공우주</a:t>
            </a:r>
            <a:endParaRPr sz="2500">
              <a:latin typeface="Malgun Gothic"/>
              <a:cs typeface="Malgun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17931" y="1144524"/>
            <a:ext cx="11687175" cy="82550"/>
            <a:chOff x="217931" y="1144524"/>
            <a:chExt cx="11687175" cy="82550"/>
          </a:xfrm>
        </p:grpSpPr>
        <p:sp>
          <p:nvSpPr>
            <p:cNvPr id="24" name="object 24"/>
            <p:cNvSpPr/>
            <p:nvPr/>
          </p:nvSpPr>
          <p:spPr>
            <a:xfrm>
              <a:off x="217931" y="1222248"/>
              <a:ext cx="11687175" cy="0"/>
            </a:xfrm>
            <a:custGeom>
              <a:avLst/>
              <a:gdLst/>
              <a:ahLst/>
              <a:cxnLst/>
              <a:rect l="l" t="t" r="r" b="b"/>
              <a:pathLst>
                <a:path w="11687175">
                  <a:moveTo>
                    <a:pt x="0" y="0"/>
                  </a:moveTo>
                  <a:lnTo>
                    <a:pt x="1168666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7931" y="1144524"/>
              <a:ext cx="2052955" cy="82550"/>
            </a:xfrm>
            <a:custGeom>
              <a:avLst/>
              <a:gdLst/>
              <a:ahLst/>
              <a:cxnLst/>
              <a:rect l="l" t="t" r="r" b="b"/>
              <a:pathLst>
                <a:path w="2052955" h="82550">
                  <a:moveTo>
                    <a:pt x="2052827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2052827" y="82296"/>
                  </a:lnTo>
                  <a:lnTo>
                    <a:pt x="20528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20472" y="1622805"/>
            <a:ext cx="811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baseline="2314" dirty="0">
                <a:latin typeface="Malgun Gothic"/>
                <a:cs typeface="Malgun Gothic"/>
              </a:rPr>
              <a:t>매출</a:t>
            </a:r>
            <a:r>
              <a:rPr sz="1800" b="1" spc="607" baseline="2314" dirty="0">
                <a:latin typeface="Malgun Gothic"/>
                <a:cs typeface="Malgun Gothic"/>
              </a:rPr>
              <a:t> </a:t>
            </a:r>
            <a:r>
              <a:rPr sz="700" spc="-90" dirty="0">
                <a:solidFill>
                  <a:srgbClr val="7E7E7E"/>
                </a:solidFill>
                <a:latin typeface="Malgun Gothic"/>
                <a:cs typeface="Malgun Gothic"/>
              </a:rPr>
              <a:t>단위 </a:t>
            </a:r>
            <a:r>
              <a:rPr sz="700" dirty="0">
                <a:solidFill>
                  <a:srgbClr val="7E7E7E"/>
                </a:solidFill>
                <a:latin typeface="Malgun Gothic"/>
                <a:cs typeface="Malgun Gothic"/>
              </a:rPr>
              <a:t>:</a:t>
            </a:r>
            <a:r>
              <a:rPr sz="700" spc="-9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45" dirty="0">
                <a:solidFill>
                  <a:srgbClr val="7E7E7E"/>
                </a:solidFill>
                <a:latin typeface="Malgun Gothic"/>
                <a:cs typeface="Malgun Gothic"/>
              </a:rPr>
              <a:t>억원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144514" y="1618615"/>
            <a:ext cx="575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10" dirty="0">
                <a:latin typeface="Malgun Gothic"/>
                <a:cs typeface="Malgun Gothic"/>
              </a:rPr>
              <a:t>영업이익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886702" y="1686813"/>
            <a:ext cx="4064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90" dirty="0">
                <a:solidFill>
                  <a:srgbClr val="7E7E7E"/>
                </a:solidFill>
                <a:latin typeface="Malgun Gothic"/>
                <a:cs typeface="Malgun Gothic"/>
              </a:rPr>
              <a:t>단위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dirty="0">
                <a:solidFill>
                  <a:srgbClr val="7E7E7E"/>
                </a:solidFill>
                <a:latin typeface="Malgun Gothic"/>
                <a:cs typeface="Malgun Gothic"/>
              </a:rPr>
              <a:t>: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55" dirty="0">
                <a:solidFill>
                  <a:srgbClr val="7E7E7E"/>
                </a:solidFill>
                <a:latin typeface="Malgun Gothic"/>
                <a:cs typeface="Malgun Gothic"/>
              </a:rPr>
              <a:t>억원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151626" y="1861566"/>
            <a:ext cx="572770" cy="8890"/>
          </a:xfrm>
          <a:custGeom>
            <a:avLst/>
            <a:gdLst/>
            <a:ahLst/>
            <a:cxnLst/>
            <a:rect l="l" t="t" r="r" b="b"/>
            <a:pathLst>
              <a:path w="572770" h="8889">
                <a:moveTo>
                  <a:pt x="0" y="8762"/>
                </a:moveTo>
                <a:lnTo>
                  <a:pt x="57251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35458" y="187071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0" y="0"/>
                </a:moveTo>
                <a:lnTo>
                  <a:pt x="359994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225653" y="2119706"/>
            <a:ext cx="1029969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85" dirty="0">
                <a:solidFill>
                  <a:srgbClr val="88BCFA"/>
                </a:solidFill>
                <a:latin typeface="Malgun Gothic"/>
                <a:cs typeface="Malgun Gothic"/>
              </a:rPr>
              <a:t>+17%</a:t>
            </a:r>
            <a:endParaRPr sz="3000">
              <a:latin typeface="Malgun Gothic"/>
              <a:cs typeface="Malgun Gothic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477136" y="2239517"/>
            <a:ext cx="2686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solidFill>
                  <a:srgbClr val="88BCFA"/>
                </a:solidFill>
                <a:latin typeface="Malgun Gothic"/>
                <a:cs typeface="Malgun Gothic"/>
              </a:rPr>
              <a:t>YoY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420367" y="2217420"/>
            <a:ext cx="390525" cy="236220"/>
          </a:xfrm>
          <a:custGeom>
            <a:avLst/>
            <a:gdLst/>
            <a:ahLst/>
            <a:cxnLst/>
            <a:rect l="l" t="t" r="r" b="b"/>
            <a:pathLst>
              <a:path w="390525" h="236219">
                <a:moveTo>
                  <a:pt x="0" y="39369"/>
                </a:moveTo>
                <a:lnTo>
                  <a:pt x="3097" y="24056"/>
                </a:lnTo>
                <a:lnTo>
                  <a:pt x="11541" y="11541"/>
                </a:lnTo>
                <a:lnTo>
                  <a:pt x="24056" y="3097"/>
                </a:lnTo>
                <a:lnTo>
                  <a:pt x="39369" y="0"/>
                </a:lnTo>
                <a:lnTo>
                  <a:pt x="350774" y="0"/>
                </a:lnTo>
                <a:lnTo>
                  <a:pt x="366087" y="3097"/>
                </a:lnTo>
                <a:lnTo>
                  <a:pt x="378602" y="11541"/>
                </a:lnTo>
                <a:lnTo>
                  <a:pt x="387046" y="24056"/>
                </a:lnTo>
                <a:lnTo>
                  <a:pt x="390144" y="39369"/>
                </a:lnTo>
                <a:lnTo>
                  <a:pt x="390144" y="196850"/>
                </a:lnTo>
                <a:lnTo>
                  <a:pt x="387046" y="212163"/>
                </a:lnTo>
                <a:lnTo>
                  <a:pt x="378602" y="224678"/>
                </a:lnTo>
                <a:lnTo>
                  <a:pt x="366087" y="233122"/>
                </a:lnTo>
                <a:lnTo>
                  <a:pt x="350774" y="236219"/>
                </a:lnTo>
                <a:lnTo>
                  <a:pt x="39369" y="236219"/>
                </a:lnTo>
                <a:lnTo>
                  <a:pt x="24056" y="233122"/>
                </a:lnTo>
                <a:lnTo>
                  <a:pt x="11541" y="224678"/>
                </a:lnTo>
                <a:lnTo>
                  <a:pt x="3097" y="212163"/>
                </a:lnTo>
                <a:lnTo>
                  <a:pt x="0" y="196850"/>
                </a:lnTo>
                <a:lnTo>
                  <a:pt x="0" y="39369"/>
                </a:lnTo>
                <a:close/>
              </a:path>
            </a:pathLst>
          </a:custGeom>
          <a:ln w="12700">
            <a:solidFill>
              <a:srgbClr val="88BC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075303" y="2203195"/>
            <a:ext cx="4953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5" dirty="0">
                <a:solidFill>
                  <a:srgbClr val="7E7E7E"/>
                </a:solidFill>
                <a:latin typeface="Malgun Gothic"/>
                <a:cs typeface="Malgun Gothic"/>
              </a:rPr>
              <a:t>+15%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604003" y="2231135"/>
            <a:ext cx="337185" cy="198120"/>
          </a:xfrm>
          <a:custGeom>
            <a:avLst/>
            <a:gdLst/>
            <a:ahLst/>
            <a:cxnLst/>
            <a:rect l="l" t="t" r="r" b="b"/>
            <a:pathLst>
              <a:path w="337185" h="198119">
                <a:moveTo>
                  <a:pt x="0" y="33019"/>
                </a:moveTo>
                <a:lnTo>
                  <a:pt x="2587" y="20145"/>
                </a:lnTo>
                <a:lnTo>
                  <a:pt x="9652" y="9651"/>
                </a:lnTo>
                <a:lnTo>
                  <a:pt x="20145" y="2587"/>
                </a:lnTo>
                <a:lnTo>
                  <a:pt x="33020" y="0"/>
                </a:lnTo>
                <a:lnTo>
                  <a:pt x="303784" y="0"/>
                </a:lnTo>
                <a:lnTo>
                  <a:pt x="316658" y="2587"/>
                </a:lnTo>
                <a:lnTo>
                  <a:pt x="327152" y="9651"/>
                </a:lnTo>
                <a:lnTo>
                  <a:pt x="334216" y="20145"/>
                </a:lnTo>
                <a:lnTo>
                  <a:pt x="336804" y="33019"/>
                </a:lnTo>
                <a:lnTo>
                  <a:pt x="336804" y="165100"/>
                </a:lnTo>
                <a:lnTo>
                  <a:pt x="334216" y="177974"/>
                </a:lnTo>
                <a:lnTo>
                  <a:pt x="327151" y="188468"/>
                </a:lnTo>
                <a:lnTo>
                  <a:pt x="316658" y="195532"/>
                </a:lnTo>
                <a:lnTo>
                  <a:pt x="303784" y="198119"/>
                </a:lnTo>
                <a:lnTo>
                  <a:pt x="33020" y="198119"/>
                </a:lnTo>
                <a:lnTo>
                  <a:pt x="20145" y="195532"/>
                </a:lnTo>
                <a:lnTo>
                  <a:pt x="9651" y="188467"/>
                </a:lnTo>
                <a:lnTo>
                  <a:pt x="2587" y="177974"/>
                </a:lnTo>
                <a:lnTo>
                  <a:pt x="0" y="165100"/>
                </a:lnTo>
                <a:lnTo>
                  <a:pt x="0" y="33019"/>
                </a:lnTo>
                <a:close/>
              </a:path>
            </a:pathLst>
          </a:custGeom>
          <a:ln w="127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664709" y="2253488"/>
            <a:ext cx="2413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7E7E7E"/>
                </a:solidFill>
                <a:latin typeface="Malgun Gothic"/>
                <a:cs typeface="Malgun Gothic"/>
              </a:rPr>
              <a:t>QoQ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94285" y="2371217"/>
            <a:ext cx="5328285" cy="1788160"/>
            <a:chOff x="6094285" y="2371217"/>
            <a:chExt cx="5328285" cy="1788160"/>
          </a:xfrm>
        </p:grpSpPr>
        <p:sp>
          <p:nvSpPr>
            <p:cNvPr id="5" name="object 5"/>
            <p:cNvSpPr/>
            <p:nvPr/>
          </p:nvSpPr>
          <p:spPr>
            <a:xfrm>
              <a:off x="6100571" y="3523488"/>
              <a:ext cx="5283200" cy="0"/>
            </a:xfrm>
            <a:custGeom>
              <a:avLst/>
              <a:gdLst/>
              <a:ahLst/>
              <a:cxnLst/>
              <a:rect l="l" t="t" r="r" b="b"/>
              <a:pathLst>
                <a:path w="5283200">
                  <a:moveTo>
                    <a:pt x="1807463" y="0"/>
                  </a:moveTo>
                  <a:lnTo>
                    <a:pt x="2446020" y="0"/>
                  </a:lnTo>
                </a:path>
                <a:path w="5283200">
                  <a:moveTo>
                    <a:pt x="2871216" y="0"/>
                  </a:moveTo>
                  <a:lnTo>
                    <a:pt x="3509772" y="0"/>
                  </a:lnTo>
                </a:path>
                <a:path w="5283200">
                  <a:moveTo>
                    <a:pt x="3934968" y="0"/>
                  </a:moveTo>
                  <a:lnTo>
                    <a:pt x="4572000" y="0"/>
                  </a:lnTo>
                </a:path>
                <a:path w="5283200">
                  <a:moveTo>
                    <a:pt x="0" y="0"/>
                  </a:moveTo>
                  <a:lnTo>
                    <a:pt x="1382268" y="0"/>
                  </a:lnTo>
                </a:path>
                <a:path w="5283200">
                  <a:moveTo>
                    <a:pt x="4998720" y="0"/>
                  </a:moveTo>
                  <a:lnTo>
                    <a:pt x="5282692" y="0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84207" y="2372868"/>
              <a:ext cx="2135505" cy="309245"/>
            </a:xfrm>
            <a:custGeom>
              <a:avLst/>
              <a:gdLst/>
              <a:ahLst/>
              <a:cxnLst/>
              <a:rect l="l" t="t" r="r" b="b"/>
              <a:pathLst>
                <a:path w="2135504" h="309244">
                  <a:moveTo>
                    <a:pt x="1524" y="1524"/>
                  </a:moveTo>
                  <a:lnTo>
                    <a:pt x="300482" y="1524"/>
                  </a:lnTo>
                </a:path>
                <a:path w="2135504" h="309244">
                  <a:moveTo>
                    <a:pt x="0" y="299593"/>
                  </a:moveTo>
                  <a:lnTo>
                    <a:pt x="0" y="0"/>
                  </a:lnTo>
                </a:path>
                <a:path w="2135504" h="309244">
                  <a:moveTo>
                    <a:pt x="2133600" y="308737"/>
                  </a:moveTo>
                  <a:lnTo>
                    <a:pt x="2133600" y="9144"/>
                  </a:lnTo>
                </a:path>
                <a:path w="2135504" h="309244">
                  <a:moveTo>
                    <a:pt x="1836420" y="1524"/>
                  </a:moveTo>
                  <a:lnTo>
                    <a:pt x="2135378" y="1524"/>
                  </a:lnTo>
                </a:path>
              </a:pathLst>
            </a:custGeom>
            <a:ln w="635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9047" y="2592324"/>
              <a:ext cx="5318760" cy="1567180"/>
            </a:xfrm>
            <a:custGeom>
              <a:avLst/>
              <a:gdLst/>
              <a:ahLst/>
              <a:cxnLst/>
              <a:rect l="l" t="t" r="r" b="b"/>
              <a:pathLst>
                <a:path w="5318759" h="1567179">
                  <a:moveTo>
                    <a:pt x="0" y="0"/>
                  </a:moveTo>
                  <a:lnTo>
                    <a:pt x="0" y="1566671"/>
                  </a:lnTo>
                </a:path>
                <a:path w="5318759" h="1567179">
                  <a:moveTo>
                    <a:pt x="1063752" y="0"/>
                  </a:moveTo>
                  <a:lnTo>
                    <a:pt x="1063752" y="1566671"/>
                  </a:lnTo>
                </a:path>
                <a:path w="5318759" h="1567179">
                  <a:moveTo>
                    <a:pt x="2127504" y="0"/>
                  </a:moveTo>
                  <a:lnTo>
                    <a:pt x="2127504" y="1566671"/>
                  </a:lnTo>
                </a:path>
                <a:path w="5318759" h="1567179">
                  <a:moveTo>
                    <a:pt x="3191255" y="0"/>
                  </a:moveTo>
                  <a:lnTo>
                    <a:pt x="3191255" y="1566671"/>
                  </a:lnTo>
                </a:path>
                <a:path w="5318759" h="1567179">
                  <a:moveTo>
                    <a:pt x="4255008" y="0"/>
                  </a:moveTo>
                  <a:lnTo>
                    <a:pt x="4255008" y="1566671"/>
                  </a:lnTo>
                </a:path>
                <a:path w="5318759" h="1567179">
                  <a:moveTo>
                    <a:pt x="5318759" y="0"/>
                  </a:moveTo>
                  <a:lnTo>
                    <a:pt x="5318759" y="156667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19088" y="2758439"/>
              <a:ext cx="4680585" cy="1024255"/>
            </a:xfrm>
            <a:custGeom>
              <a:avLst/>
              <a:gdLst/>
              <a:ahLst/>
              <a:cxnLst/>
              <a:rect l="l" t="t" r="r" b="b"/>
              <a:pathLst>
                <a:path w="4680584" h="1024254">
                  <a:moveTo>
                    <a:pt x="425196" y="772680"/>
                  </a:moveTo>
                  <a:lnTo>
                    <a:pt x="0" y="772680"/>
                  </a:lnTo>
                  <a:lnTo>
                    <a:pt x="0" y="1024128"/>
                  </a:lnTo>
                  <a:lnTo>
                    <a:pt x="425196" y="1024128"/>
                  </a:lnTo>
                  <a:lnTo>
                    <a:pt x="425196" y="772680"/>
                  </a:lnTo>
                  <a:close/>
                </a:path>
                <a:path w="4680584" h="1024254">
                  <a:moveTo>
                    <a:pt x="1488948" y="708660"/>
                  </a:moveTo>
                  <a:lnTo>
                    <a:pt x="1063752" y="708660"/>
                  </a:lnTo>
                  <a:lnTo>
                    <a:pt x="1063752" y="772680"/>
                  </a:lnTo>
                  <a:lnTo>
                    <a:pt x="1488948" y="772680"/>
                  </a:lnTo>
                  <a:lnTo>
                    <a:pt x="1488948" y="708660"/>
                  </a:lnTo>
                  <a:close/>
                </a:path>
                <a:path w="4680584" h="1024254">
                  <a:moveTo>
                    <a:pt x="2552700" y="397764"/>
                  </a:moveTo>
                  <a:lnTo>
                    <a:pt x="2127504" y="397764"/>
                  </a:lnTo>
                  <a:lnTo>
                    <a:pt x="2127504" y="772680"/>
                  </a:lnTo>
                  <a:lnTo>
                    <a:pt x="2552700" y="772680"/>
                  </a:lnTo>
                  <a:lnTo>
                    <a:pt x="2552700" y="397764"/>
                  </a:lnTo>
                  <a:close/>
                </a:path>
                <a:path w="4680584" h="1024254">
                  <a:moveTo>
                    <a:pt x="3616452" y="301752"/>
                  </a:moveTo>
                  <a:lnTo>
                    <a:pt x="3191256" y="301752"/>
                  </a:lnTo>
                  <a:lnTo>
                    <a:pt x="3191256" y="772680"/>
                  </a:lnTo>
                  <a:lnTo>
                    <a:pt x="3616452" y="772680"/>
                  </a:lnTo>
                  <a:lnTo>
                    <a:pt x="3616452" y="301752"/>
                  </a:lnTo>
                  <a:close/>
                </a:path>
                <a:path w="4680584" h="1024254">
                  <a:moveTo>
                    <a:pt x="4680204" y="0"/>
                  </a:moveTo>
                  <a:lnTo>
                    <a:pt x="4253484" y="0"/>
                  </a:lnTo>
                  <a:lnTo>
                    <a:pt x="4253484" y="772680"/>
                  </a:lnTo>
                  <a:lnTo>
                    <a:pt x="4680204" y="772680"/>
                  </a:lnTo>
                  <a:lnTo>
                    <a:pt x="468020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417807" y="2592324"/>
              <a:ext cx="0" cy="1567180"/>
            </a:xfrm>
            <a:custGeom>
              <a:avLst/>
              <a:gdLst/>
              <a:ahLst/>
              <a:cxnLst/>
              <a:rect l="l" t="t" r="r" b="b"/>
              <a:pathLst>
                <a:path h="1567179">
                  <a:moveTo>
                    <a:pt x="0" y="1566671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8888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31685" y="3071622"/>
              <a:ext cx="4253865" cy="318770"/>
            </a:xfrm>
            <a:custGeom>
              <a:avLst/>
              <a:gdLst/>
              <a:ahLst/>
              <a:cxnLst/>
              <a:rect l="l" t="t" r="r" b="b"/>
              <a:pathLst>
                <a:path w="4253865" h="318770">
                  <a:moveTo>
                    <a:pt x="0" y="318515"/>
                  </a:moveTo>
                  <a:lnTo>
                    <a:pt x="1063752" y="208787"/>
                  </a:lnTo>
                  <a:lnTo>
                    <a:pt x="2127504" y="118872"/>
                  </a:lnTo>
                  <a:lnTo>
                    <a:pt x="3191256" y="71627"/>
                  </a:lnTo>
                  <a:lnTo>
                    <a:pt x="4253484" y="0"/>
                  </a:lnTo>
                </a:path>
              </a:pathLst>
            </a:custGeom>
            <a:ln w="19050">
              <a:solidFill>
                <a:srgbClr val="88BC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93331" y="335191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93331" y="335191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ln w="6350">
              <a:solidFill>
                <a:srgbClr val="88BC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57083" y="324218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57083" y="324218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ln w="6350">
              <a:solidFill>
                <a:srgbClr val="88BC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20835" y="315226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720835" y="315226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ln w="6350">
              <a:solidFill>
                <a:srgbClr val="88BC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84588" y="310502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84588" y="310502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ln w="6350">
              <a:solidFill>
                <a:srgbClr val="88BC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848339" y="30333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848339" y="30333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7620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ln w="6350">
              <a:solidFill>
                <a:srgbClr val="88BC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48247" y="2096846"/>
            <a:ext cx="116713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85" dirty="0">
                <a:solidFill>
                  <a:srgbClr val="88BCFA"/>
                </a:solidFill>
                <a:latin typeface="Malgun Gothic"/>
                <a:cs typeface="Malgun Gothic"/>
              </a:rPr>
              <a:t>흑자전환</a:t>
            </a:r>
            <a:endParaRPr sz="2500"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54569" y="2216911"/>
            <a:ext cx="2686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solidFill>
                  <a:srgbClr val="88BCFA"/>
                </a:solidFill>
                <a:latin typeface="Malgun Gothic"/>
                <a:cs typeface="Malgun Gothic"/>
              </a:rPr>
              <a:t>YoY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296911" y="2196083"/>
            <a:ext cx="390525" cy="234950"/>
          </a:xfrm>
          <a:custGeom>
            <a:avLst/>
            <a:gdLst/>
            <a:ahLst/>
            <a:cxnLst/>
            <a:rect l="l" t="t" r="r" b="b"/>
            <a:pathLst>
              <a:path w="390525" h="234950">
                <a:moveTo>
                  <a:pt x="0" y="39115"/>
                </a:moveTo>
                <a:lnTo>
                  <a:pt x="3075" y="23895"/>
                </a:lnTo>
                <a:lnTo>
                  <a:pt x="11461" y="11461"/>
                </a:lnTo>
                <a:lnTo>
                  <a:pt x="23895" y="3075"/>
                </a:lnTo>
                <a:lnTo>
                  <a:pt x="39116" y="0"/>
                </a:lnTo>
                <a:lnTo>
                  <a:pt x="351028" y="0"/>
                </a:lnTo>
                <a:lnTo>
                  <a:pt x="366248" y="3075"/>
                </a:lnTo>
                <a:lnTo>
                  <a:pt x="378682" y="11461"/>
                </a:lnTo>
                <a:lnTo>
                  <a:pt x="387068" y="23895"/>
                </a:lnTo>
                <a:lnTo>
                  <a:pt x="390144" y="39115"/>
                </a:lnTo>
                <a:lnTo>
                  <a:pt x="390144" y="195579"/>
                </a:lnTo>
                <a:lnTo>
                  <a:pt x="387068" y="210800"/>
                </a:lnTo>
                <a:lnTo>
                  <a:pt x="378682" y="223234"/>
                </a:lnTo>
                <a:lnTo>
                  <a:pt x="366248" y="231620"/>
                </a:lnTo>
                <a:lnTo>
                  <a:pt x="351028" y="234695"/>
                </a:lnTo>
                <a:lnTo>
                  <a:pt x="39116" y="234695"/>
                </a:lnTo>
                <a:lnTo>
                  <a:pt x="23895" y="231620"/>
                </a:lnTo>
                <a:lnTo>
                  <a:pt x="11461" y="223234"/>
                </a:lnTo>
                <a:lnTo>
                  <a:pt x="3075" y="210800"/>
                </a:lnTo>
                <a:lnTo>
                  <a:pt x="0" y="195579"/>
                </a:lnTo>
                <a:lnTo>
                  <a:pt x="0" y="39115"/>
                </a:lnTo>
                <a:close/>
              </a:path>
            </a:pathLst>
          </a:custGeom>
          <a:ln w="12700">
            <a:solidFill>
              <a:srgbClr val="88BC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890506" y="2251075"/>
            <a:ext cx="4965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5" dirty="0">
                <a:solidFill>
                  <a:srgbClr val="7E7E7E"/>
                </a:solidFill>
                <a:latin typeface="Malgun Gothic"/>
                <a:cs typeface="Malgun Gothic"/>
              </a:rPr>
              <a:t>+64%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503407" y="2263139"/>
            <a:ext cx="337185" cy="198120"/>
          </a:xfrm>
          <a:custGeom>
            <a:avLst/>
            <a:gdLst/>
            <a:ahLst/>
            <a:cxnLst/>
            <a:rect l="l" t="t" r="r" b="b"/>
            <a:pathLst>
              <a:path w="337184" h="198119">
                <a:moveTo>
                  <a:pt x="0" y="33020"/>
                </a:moveTo>
                <a:lnTo>
                  <a:pt x="2587" y="20145"/>
                </a:lnTo>
                <a:lnTo>
                  <a:pt x="9651" y="9651"/>
                </a:lnTo>
                <a:lnTo>
                  <a:pt x="20145" y="2587"/>
                </a:lnTo>
                <a:lnTo>
                  <a:pt x="33020" y="0"/>
                </a:lnTo>
                <a:lnTo>
                  <a:pt x="303784" y="0"/>
                </a:lnTo>
                <a:lnTo>
                  <a:pt x="316658" y="2587"/>
                </a:lnTo>
                <a:lnTo>
                  <a:pt x="327151" y="9652"/>
                </a:lnTo>
                <a:lnTo>
                  <a:pt x="334216" y="20145"/>
                </a:lnTo>
                <a:lnTo>
                  <a:pt x="336803" y="33020"/>
                </a:lnTo>
                <a:lnTo>
                  <a:pt x="336803" y="165100"/>
                </a:lnTo>
                <a:lnTo>
                  <a:pt x="334216" y="177974"/>
                </a:lnTo>
                <a:lnTo>
                  <a:pt x="327151" y="188468"/>
                </a:lnTo>
                <a:lnTo>
                  <a:pt x="316658" y="195532"/>
                </a:lnTo>
                <a:lnTo>
                  <a:pt x="303784" y="198120"/>
                </a:lnTo>
                <a:lnTo>
                  <a:pt x="33020" y="198120"/>
                </a:lnTo>
                <a:lnTo>
                  <a:pt x="20145" y="195532"/>
                </a:lnTo>
                <a:lnTo>
                  <a:pt x="9652" y="188467"/>
                </a:lnTo>
                <a:lnTo>
                  <a:pt x="2587" y="177974"/>
                </a:lnTo>
                <a:lnTo>
                  <a:pt x="0" y="165100"/>
                </a:lnTo>
                <a:lnTo>
                  <a:pt x="0" y="33020"/>
                </a:lnTo>
                <a:close/>
              </a:path>
            </a:pathLst>
          </a:custGeom>
          <a:ln w="127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0565130" y="2285492"/>
            <a:ext cx="2413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7E7E7E"/>
                </a:solidFill>
                <a:latin typeface="Malgun Gothic"/>
                <a:cs typeface="Malgun Gothic"/>
              </a:rPr>
              <a:t>QoQ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439667" y="2366772"/>
            <a:ext cx="300990" cy="299720"/>
          </a:xfrm>
          <a:custGeom>
            <a:avLst/>
            <a:gdLst/>
            <a:ahLst/>
            <a:cxnLst/>
            <a:rect l="l" t="t" r="r" b="b"/>
            <a:pathLst>
              <a:path w="300989" h="299719">
                <a:moveTo>
                  <a:pt x="1524" y="1524"/>
                </a:moveTo>
                <a:lnTo>
                  <a:pt x="300482" y="1524"/>
                </a:lnTo>
              </a:path>
              <a:path w="300989" h="299719">
                <a:moveTo>
                  <a:pt x="0" y="299592"/>
                </a:moveTo>
                <a:lnTo>
                  <a:pt x="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242559" y="2366772"/>
            <a:ext cx="299085" cy="299720"/>
          </a:xfrm>
          <a:custGeom>
            <a:avLst/>
            <a:gdLst/>
            <a:ahLst/>
            <a:cxnLst/>
            <a:rect l="l" t="t" r="r" b="b"/>
            <a:pathLst>
              <a:path w="299085" h="299719">
                <a:moveTo>
                  <a:pt x="297179" y="299592"/>
                </a:moveTo>
                <a:lnTo>
                  <a:pt x="297179" y="0"/>
                </a:lnTo>
              </a:path>
              <a:path w="299085" h="299719">
                <a:moveTo>
                  <a:pt x="0" y="1524"/>
                </a:moveTo>
                <a:lnTo>
                  <a:pt x="298957" y="1524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10753470" y="2568955"/>
            <a:ext cx="2406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Malgun Gothic"/>
                <a:cs typeface="Malgun Gothic"/>
              </a:rPr>
              <a:t>370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56781" y="2731007"/>
            <a:ext cx="5476240" cy="1931670"/>
            <a:chOff x="156781" y="2731007"/>
            <a:chExt cx="5476240" cy="1931670"/>
          </a:xfrm>
        </p:grpSpPr>
        <p:sp>
          <p:nvSpPr>
            <p:cNvPr id="43" name="object 43"/>
            <p:cNvSpPr/>
            <p:nvPr/>
          </p:nvSpPr>
          <p:spPr>
            <a:xfrm>
              <a:off x="5539740" y="2731007"/>
              <a:ext cx="0" cy="1847850"/>
            </a:xfrm>
            <a:custGeom>
              <a:avLst/>
              <a:gdLst/>
              <a:ahLst/>
              <a:cxnLst/>
              <a:rect l="l" t="t" r="r" b="b"/>
              <a:pathLst>
                <a:path h="1847850">
                  <a:moveTo>
                    <a:pt x="0" y="0"/>
                  </a:moveTo>
                  <a:lnTo>
                    <a:pt x="0" y="1847341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61544" y="2822447"/>
              <a:ext cx="5466715" cy="1835150"/>
            </a:xfrm>
            <a:custGeom>
              <a:avLst/>
              <a:gdLst/>
              <a:ahLst/>
              <a:cxnLst/>
              <a:rect l="l" t="t" r="r" b="b"/>
              <a:pathLst>
                <a:path w="5466715" h="1835150">
                  <a:moveTo>
                    <a:pt x="0" y="0"/>
                  </a:moveTo>
                  <a:lnTo>
                    <a:pt x="0" y="1834895"/>
                  </a:lnTo>
                </a:path>
                <a:path w="5466715" h="1835150">
                  <a:moveTo>
                    <a:pt x="1092708" y="0"/>
                  </a:moveTo>
                  <a:lnTo>
                    <a:pt x="1092708" y="1834895"/>
                  </a:lnTo>
                </a:path>
                <a:path w="5466715" h="1835150">
                  <a:moveTo>
                    <a:pt x="2186940" y="0"/>
                  </a:moveTo>
                  <a:lnTo>
                    <a:pt x="2186940" y="1834895"/>
                  </a:lnTo>
                </a:path>
                <a:path w="5466715" h="1835150">
                  <a:moveTo>
                    <a:pt x="3279647" y="0"/>
                  </a:moveTo>
                  <a:lnTo>
                    <a:pt x="3279647" y="1834895"/>
                  </a:lnTo>
                </a:path>
                <a:path w="5466715" h="1835150">
                  <a:moveTo>
                    <a:pt x="4373880" y="0"/>
                  </a:moveTo>
                  <a:lnTo>
                    <a:pt x="4373880" y="1834895"/>
                  </a:lnTo>
                </a:path>
                <a:path w="5466715" h="1835150">
                  <a:moveTo>
                    <a:pt x="5466588" y="0"/>
                  </a:moveTo>
                  <a:lnTo>
                    <a:pt x="5466588" y="1834895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61544" y="2822447"/>
              <a:ext cx="5466715" cy="1835150"/>
            </a:xfrm>
            <a:custGeom>
              <a:avLst/>
              <a:gdLst/>
              <a:ahLst/>
              <a:cxnLst/>
              <a:rect l="l" t="t" r="r" b="b"/>
              <a:pathLst>
                <a:path w="5466715" h="1835150">
                  <a:moveTo>
                    <a:pt x="0" y="1834895"/>
                  </a:moveTo>
                  <a:lnTo>
                    <a:pt x="5466588" y="1834895"/>
                  </a:lnTo>
                  <a:lnTo>
                    <a:pt x="5466588" y="0"/>
                  </a:lnTo>
                  <a:lnTo>
                    <a:pt x="0" y="0"/>
                  </a:lnTo>
                  <a:lnTo>
                    <a:pt x="0" y="183489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2745485" y="2818002"/>
            <a:ext cx="3810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Malgun Gothic"/>
                <a:cs typeface="Malgun Gothic"/>
              </a:rPr>
              <a:t>7,368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900929" y="2795981"/>
            <a:ext cx="38544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Malgun Gothic"/>
                <a:cs typeface="Malgun Gothic"/>
              </a:rPr>
              <a:t>7,600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9715245" y="2843529"/>
            <a:ext cx="2406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Malgun Gothic"/>
                <a:cs typeface="Malgun Gothic"/>
              </a:rPr>
              <a:t>226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00583" y="3029204"/>
            <a:ext cx="3810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Malgun Gothic"/>
                <a:cs typeface="Malgun Gothic"/>
              </a:rPr>
              <a:t>6,489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76427" y="3843528"/>
            <a:ext cx="662940" cy="814069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900">
              <a:latin typeface="Times New Roman"/>
              <a:cs typeface="Times New Roman"/>
            </a:endParaRPr>
          </a:p>
          <a:p>
            <a:pPr marL="187325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3,772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76427" y="3256788"/>
            <a:ext cx="662940" cy="586740"/>
          </a:xfrm>
          <a:prstGeom prst="rect">
            <a:avLst/>
          </a:prstGeom>
          <a:solidFill>
            <a:srgbClr val="88BCFA"/>
          </a:solidFill>
        </p:spPr>
        <p:txBody>
          <a:bodyPr vert="horz" wrap="square" lIns="0" tIns="81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endParaRPr sz="900">
              <a:latin typeface="Times New Roman"/>
              <a:cs typeface="Times New Roman"/>
            </a:endParaRPr>
          </a:p>
          <a:p>
            <a:pPr marL="187325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2,717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469136" y="3828288"/>
            <a:ext cx="662940" cy="829310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900">
              <a:latin typeface="Times New Roman"/>
              <a:cs typeface="Times New Roman"/>
            </a:endParaRPr>
          </a:p>
          <a:p>
            <a:pPr marL="188595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3,838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469136" y="3352800"/>
            <a:ext cx="662940" cy="475615"/>
          </a:xfrm>
          <a:prstGeom prst="rect">
            <a:avLst/>
          </a:prstGeom>
          <a:solidFill>
            <a:srgbClr val="88BCFA"/>
          </a:solidFill>
        </p:spPr>
        <p:txBody>
          <a:bodyPr vert="horz" wrap="square" lIns="0" tIns="266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0"/>
              </a:spcBef>
            </a:pPr>
            <a:endParaRPr sz="900">
              <a:latin typeface="Times New Roman"/>
              <a:cs typeface="Times New Roman"/>
            </a:endParaRPr>
          </a:p>
          <a:p>
            <a:pPr marL="188595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2,202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563367" y="3852671"/>
            <a:ext cx="662940" cy="805180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900">
              <a:latin typeface="Times New Roman"/>
              <a:cs typeface="Times New Roman"/>
            </a:endParaRPr>
          </a:p>
          <a:p>
            <a:pPr marL="187325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3,729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563367" y="3066288"/>
            <a:ext cx="662940" cy="786765"/>
          </a:xfrm>
          <a:prstGeom prst="rect">
            <a:avLst/>
          </a:prstGeom>
          <a:solidFill>
            <a:srgbClr val="88BC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900">
              <a:latin typeface="Times New Roman"/>
              <a:cs typeface="Times New Roman"/>
            </a:endParaRPr>
          </a:p>
          <a:p>
            <a:pPr marL="187325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3,639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789426" y="2990469"/>
            <a:ext cx="3810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Malgun Gothic"/>
                <a:cs typeface="Malgun Gothic"/>
              </a:rPr>
              <a:t>6,612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625967" y="2939542"/>
            <a:ext cx="2406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Malgun Gothic"/>
                <a:cs typeface="Malgun Gothic"/>
              </a:rPr>
              <a:t>180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624075" y="3117850"/>
            <a:ext cx="3810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Malgun Gothic"/>
                <a:cs typeface="Malgun Gothic"/>
              </a:rPr>
              <a:t>6,040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656076" y="3848100"/>
            <a:ext cx="662940" cy="80962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900">
              <a:latin typeface="Times New Roman"/>
              <a:cs typeface="Times New Roman"/>
            </a:endParaRPr>
          </a:p>
          <a:p>
            <a:pPr marL="188595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3,746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656076" y="3229355"/>
            <a:ext cx="662940" cy="619125"/>
          </a:xfrm>
          <a:prstGeom prst="rect">
            <a:avLst/>
          </a:prstGeom>
          <a:solidFill>
            <a:srgbClr val="88BCFA"/>
          </a:solidFill>
        </p:spPr>
        <p:txBody>
          <a:bodyPr vert="horz" wrap="square" lIns="0" tIns="984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5"/>
              </a:spcBef>
            </a:pPr>
            <a:endParaRPr sz="900">
              <a:latin typeface="Times New Roman"/>
              <a:cs typeface="Times New Roman"/>
            </a:endParaRPr>
          </a:p>
          <a:p>
            <a:pPr marL="188595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2,866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750308" y="3752088"/>
            <a:ext cx="662940" cy="905510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900">
              <a:latin typeface="Times New Roman"/>
              <a:cs typeface="Times New Roman"/>
            </a:endParaRPr>
          </a:p>
          <a:p>
            <a:pPr marL="187960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4,192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750308" y="3017520"/>
            <a:ext cx="662940" cy="734695"/>
          </a:xfrm>
          <a:prstGeom prst="rect">
            <a:avLst/>
          </a:prstGeom>
          <a:solidFill>
            <a:srgbClr val="88BC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900">
              <a:latin typeface="Times New Roman"/>
              <a:cs typeface="Times New Roman"/>
            </a:endParaRPr>
          </a:p>
          <a:p>
            <a:pPr marL="187960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3,407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491985" y="3139820"/>
            <a:ext cx="3206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140" dirty="0">
                <a:solidFill>
                  <a:srgbClr val="88BCFA"/>
                </a:solidFill>
                <a:latin typeface="Malgun Gothic"/>
                <a:cs typeface="Malgun Gothic"/>
              </a:rPr>
              <a:t>-</a:t>
            </a:r>
            <a:r>
              <a:rPr sz="800" spc="-20" dirty="0">
                <a:solidFill>
                  <a:srgbClr val="88BCFA"/>
                </a:solidFill>
                <a:latin typeface="Malgun Gothic"/>
                <a:cs typeface="Malgun Gothic"/>
              </a:rPr>
              <a:t>1.8%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542021" y="3014197"/>
            <a:ext cx="261620" cy="45275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800" spc="-20" dirty="0">
                <a:solidFill>
                  <a:srgbClr val="88BCFA"/>
                </a:solidFill>
                <a:latin typeface="Malgun Gothic"/>
                <a:cs typeface="Malgun Gothic"/>
              </a:rPr>
              <a:t>0.5%</a:t>
            </a:r>
            <a:endParaRPr sz="800">
              <a:latin typeface="Malgun Gothic"/>
              <a:cs typeface="Malgun Gothic"/>
            </a:endParaRPr>
          </a:p>
          <a:p>
            <a:pPr marL="56515">
              <a:lnSpc>
                <a:spcPct val="100000"/>
              </a:lnSpc>
              <a:spcBef>
                <a:spcPts val="660"/>
              </a:spcBef>
            </a:pPr>
            <a:r>
              <a:rPr sz="1000" spc="-25" dirty="0">
                <a:latin typeface="Malgun Gothic"/>
                <a:cs typeface="Malgun Gothic"/>
              </a:rPr>
              <a:t>31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758553" y="3172460"/>
            <a:ext cx="26162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0" dirty="0">
                <a:solidFill>
                  <a:srgbClr val="88BCFA"/>
                </a:solidFill>
                <a:latin typeface="Malgun Gothic"/>
                <a:cs typeface="Malgun Gothic"/>
              </a:rPr>
              <a:t>3.4%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0758678" y="3113913"/>
            <a:ext cx="26162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0" dirty="0">
                <a:solidFill>
                  <a:srgbClr val="88BCFA"/>
                </a:solidFill>
                <a:latin typeface="Malgun Gothic"/>
                <a:cs typeface="Malgun Gothic"/>
              </a:rPr>
              <a:t>4.9%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618601" y="3322446"/>
            <a:ext cx="26162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0" dirty="0">
                <a:solidFill>
                  <a:srgbClr val="88BCFA"/>
                </a:solidFill>
                <a:latin typeface="Malgun Gothic"/>
                <a:cs typeface="Malgun Gothic"/>
              </a:rPr>
              <a:t>2.4%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433184" y="3708679"/>
            <a:ext cx="400685" cy="67691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95"/>
              </a:spcBef>
            </a:pPr>
            <a:r>
              <a:rPr sz="1000" spc="165" dirty="0">
                <a:latin typeface="Malgun Gothic"/>
                <a:cs typeface="Malgun Gothic"/>
              </a:rPr>
              <a:t>-</a:t>
            </a:r>
            <a:r>
              <a:rPr sz="1000" spc="-25" dirty="0">
                <a:latin typeface="Malgun Gothic"/>
                <a:cs typeface="Malgun Gothic"/>
              </a:rPr>
              <a:t>120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100" dirty="0">
                <a:solidFill>
                  <a:srgbClr val="414042"/>
                </a:solidFill>
                <a:latin typeface="Malgun Gothic"/>
                <a:cs typeface="Malgun Gothic"/>
              </a:rPr>
              <a:t>(-</a:t>
            </a:r>
            <a:r>
              <a:rPr sz="1000" spc="-20" dirty="0">
                <a:solidFill>
                  <a:srgbClr val="414042"/>
                </a:solidFill>
                <a:latin typeface="Malgun Gothic"/>
                <a:cs typeface="Malgun Gothic"/>
              </a:rPr>
              <a:t>475)</a:t>
            </a:r>
            <a:endParaRPr sz="1000">
              <a:latin typeface="Malgun Gothic"/>
              <a:cs typeface="Malgun Gothic"/>
            </a:endParaRPr>
          </a:p>
          <a:p>
            <a:pPr marL="27305">
              <a:lnSpc>
                <a:spcPct val="100000"/>
              </a:lnSpc>
              <a:spcBef>
                <a:spcPts val="815"/>
              </a:spcBef>
            </a:pPr>
            <a:r>
              <a:rPr sz="1100" spc="-20" dirty="0">
                <a:latin typeface="Malgun Gothic"/>
                <a:cs typeface="Malgun Gothic"/>
              </a:rPr>
              <a:t>2Q25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512177" y="3936619"/>
            <a:ext cx="368300" cy="448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414042"/>
                </a:solidFill>
                <a:latin typeface="Malgun Gothic"/>
                <a:cs typeface="Malgun Gothic"/>
              </a:rPr>
              <a:t>(15)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100" spc="-20" dirty="0">
                <a:latin typeface="Malgun Gothic"/>
                <a:cs typeface="Malgun Gothic"/>
              </a:rPr>
              <a:t>3Q25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546083" y="3936619"/>
            <a:ext cx="400685" cy="448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00" dirty="0">
                <a:solidFill>
                  <a:srgbClr val="414042"/>
                </a:solidFill>
                <a:latin typeface="Malgun Gothic"/>
                <a:cs typeface="Malgun Gothic"/>
              </a:rPr>
              <a:t>(-</a:t>
            </a:r>
            <a:r>
              <a:rPr sz="1000" spc="-20" dirty="0">
                <a:solidFill>
                  <a:srgbClr val="414042"/>
                </a:solidFill>
                <a:latin typeface="Malgun Gothic"/>
                <a:cs typeface="Malgun Gothic"/>
              </a:rPr>
              <a:t>223)</a:t>
            </a:r>
            <a:endParaRPr sz="1000">
              <a:latin typeface="Malgun Gothic"/>
              <a:cs typeface="Malgun Gothic"/>
            </a:endParaRPr>
          </a:p>
          <a:p>
            <a:pPr marL="42545">
              <a:lnSpc>
                <a:spcPct val="100000"/>
              </a:lnSpc>
              <a:spcBef>
                <a:spcPts val="815"/>
              </a:spcBef>
            </a:pPr>
            <a:r>
              <a:rPr sz="1100" spc="-20" dirty="0">
                <a:latin typeface="Malgun Gothic"/>
                <a:cs typeface="Malgun Gothic"/>
              </a:rPr>
              <a:t>4Q25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628378" y="3928364"/>
            <a:ext cx="400685" cy="457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00" dirty="0">
                <a:solidFill>
                  <a:srgbClr val="414042"/>
                </a:solidFill>
                <a:latin typeface="Malgun Gothic"/>
                <a:cs typeface="Malgun Gothic"/>
              </a:rPr>
              <a:t>(-</a:t>
            </a:r>
            <a:r>
              <a:rPr sz="1000" spc="-20" dirty="0">
                <a:solidFill>
                  <a:srgbClr val="414042"/>
                </a:solidFill>
                <a:latin typeface="Malgun Gothic"/>
                <a:cs typeface="Malgun Gothic"/>
              </a:rPr>
              <a:t>161)</a:t>
            </a:r>
            <a:endParaRPr sz="1000">
              <a:latin typeface="Malgun Gothic"/>
              <a:cs typeface="Malgun Gothic"/>
            </a:endParaRPr>
          </a:p>
          <a:p>
            <a:pPr marL="23495">
              <a:lnSpc>
                <a:spcPct val="100000"/>
              </a:lnSpc>
              <a:spcBef>
                <a:spcPts val="880"/>
              </a:spcBef>
            </a:pPr>
            <a:r>
              <a:rPr sz="1100" spc="-20" dirty="0">
                <a:latin typeface="Malgun Gothic"/>
                <a:cs typeface="Malgun Gothic"/>
              </a:rPr>
              <a:t>1Q26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0692510" y="3936619"/>
            <a:ext cx="400685" cy="448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00" dirty="0">
                <a:solidFill>
                  <a:srgbClr val="414042"/>
                </a:solidFill>
                <a:latin typeface="Malgun Gothic"/>
                <a:cs typeface="Malgun Gothic"/>
              </a:rPr>
              <a:t>(-</a:t>
            </a:r>
            <a:r>
              <a:rPr sz="1000" spc="-20" dirty="0">
                <a:solidFill>
                  <a:srgbClr val="414042"/>
                </a:solidFill>
                <a:latin typeface="Malgun Gothic"/>
                <a:cs typeface="Malgun Gothic"/>
              </a:rPr>
              <a:t>102)</a:t>
            </a:r>
            <a:endParaRPr sz="1000">
              <a:latin typeface="Malgun Gothic"/>
              <a:cs typeface="Malgun Gothic"/>
            </a:endParaRPr>
          </a:p>
          <a:p>
            <a:pPr marL="23495">
              <a:lnSpc>
                <a:spcPct val="100000"/>
              </a:lnSpc>
              <a:spcBef>
                <a:spcPts val="815"/>
              </a:spcBef>
            </a:pPr>
            <a:r>
              <a:rPr sz="1100" spc="-20" dirty="0">
                <a:latin typeface="Malgun Gothic"/>
                <a:cs typeface="Malgun Gothic"/>
              </a:rPr>
              <a:t>2Q26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9093707" y="4527803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4">
                <a:moveTo>
                  <a:pt x="115824" y="0"/>
                </a:moveTo>
                <a:lnTo>
                  <a:pt x="0" y="0"/>
                </a:lnTo>
                <a:lnTo>
                  <a:pt x="0" y="115824"/>
                </a:lnTo>
                <a:lnTo>
                  <a:pt x="115824" y="115824"/>
                </a:lnTo>
                <a:lnTo>
                  <a:pt x="11582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9246489" y="4502277"/>
            <a:ext cx="9042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90" dirty="0">
                <a:solidFill>
                  <a:srgbClr val="7E7E7E"/>
                </a:solidFill>
                <a:latin typeface="Malgun Gothic"/>
                <a:cs typeface="Malgun Gothic"/>
              </a:rPr>
              <a:t>영업이익</a:t>
            </a:r>
            <a:r>
              <a:rPr sz="700" spc="-5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45" dirty="0">
                <a:solidFill>
                  <a:srgbClr val="7E7E7E"/>
                </a:solidFill>
                <a:latin typeface="Malgun Gothic"/>
                <a:cs typeface="Malgun Gothic"/>
              </a:rPr>
              <a:t>(RSP사업</a:t>
            </a:r>
            <a:r>
              <a:rPr sz="700" spc="-50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25" dirty="0">
                <a:solidFill>
                  <a:srgbClr val="7E7E7E"/>
                </a:solidFill>
                <a:latin typeface="Malgun Gothic"/>
                <a:cs typeface="Malgun Gothic"/>
              </a:rPr>
              <a:t>포함)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0267188" y="4518659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4">
                <a:moveTo>
                  <a:pt x="115824" y="0"/>
                </a:moveTo>
                <a:lnTo>
                  <a:pt x="0" y="0"/>
                </a:lnTo>
                <a:lnTo>
                  <a:pt x="0" y="115824"/>
                </a:lnTo>
                <a:lnTo>
                  <a:pt x="115824" y="115824"/>
                </a:lnTo>
                <a:lnTo>
                  <a:pt x="115824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10416031" y="4509897"/>
            <a:ext cx="10185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2450" algn="l"/>
              </a:tabLst>
            </a:pPr>
            <a:r>
              <a:rPr sz="700" spc="-10" dirty="0">
                <a:solidFill>
                  <a:srgbClr val="7E7E7E"/>
                </a:solidFill>
                <a:latin typeface="Malgun Gothic"/>
                <a:cs typeface="Malgun Gothic"/>
              </a:rPr>
              <a:t>영업이익률</a:t>
            </a:r>
            <a:r>
              <a:rPr sz="700" dirty="0">
                <a:solidFill>
                  <a:srgbClr val="7E7E7E"/>
                </a:solidFill>
                <a:latin typeface="Malgun Gothic"/>
                <a:cs typeface="Malgun Gothic"/>
              </a:rPr>
              <a:t>	(*)</a:t>
            </a:r>
            <a:r>
              <a:rPr sz="700" spc="-20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25" dirty="0">
                <a:solidFill>
                  <a:srgbClr val="7E7E7E"/>
                </a:solidFill>
                <a:latin typeface="Malgun Gothic"/>
                <a:cs typeface="Malgun Gothic"/>
              </a:rPr>
              <a:t>RSP</a:t>
            </a:r>
            <a:r>
              <a:rPr sz="700" spc="-3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45" dirty="0">
                <a:solidFill>
                  <a:srgbClr val="7E7E7E"/>
                </a:solidFill>
                <a:latin typeface="Malgun Gothic"/>
                <a:cs typeface="Malgun Gothic"/>
              </a:rPr>
              <a:t>손익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23748" y="4710810"/>
            <a:ext cx="3695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2Q25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617344" y="4710810"/>
            <a:ext cx="3683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3Q25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710942" y="4710810"/>
            <a:ext cx="3683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4Q25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804665" y="4710810"/>
            <a:ext cx="3683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1Q26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692396" y="4991100"/>
            <a:ext cx="114300" cy="116205"/>
          </a:xfrm>
          <a:custGeom>
            <a:avLst/>
            <a:gdLst/>
            <a:ahLst/>
            <a:cxnLst/>
            <a:rect l="l" t="t" r="r" b="b"/>
            <a:pathLst>
              <a:path w="114300" h="116204">
                <a:moveTo>
                  <a:pt x="114300" y="0"/>
                </a:moveTo>
                <a:lnTo>
                  <a:pt x="0" y="0"/>
                </a:lnTo>
                <a:lnTo>
                  <a:pt x="0" y="115824"/>
                </a:lnTo>
                <a:lnTo>
                  <a:pt x="114300" y="115824"/>
                </a:lnTo>
                <a:lnTo>
                  <a:pt x="1143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131308" y="4991100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4">
                <a:moveTo>
                  <a:pt x="115824" y="0"/>
                </a:moveTo>
                <a:lnTo>
                  <a:pt x="0" y="0"/>
                </a:lnTo>
                <a:lnTo>
                  <a:pt x="0" y="115824"/>
                </a:lnTo>
                <a:lnTo>
                  <a:pt x="115824" y="115824"/>
                </a:lnTo>
                <a:lnTo>
                  <a:pt x="115824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852796" y="4710810"/>
            <a:ext cx="414020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2Q26</a:t>
            </a:r>
            <a:endParaRPr sz="11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700" spc="-25" dirty="0">
                <a:solidFill>
                  <a:srgbClr val="7E7E7E"/>
                </a:solidFill>
                <a:latin typeface="Malgun Gothic"/>
                <a:cs typeface="Malgun Gothic"/>
              </a:rPr>
              <a:t>수출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18505" y="4982336"/>
            <a:ext cx="1841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7E7E7E"/>
                </a:solidFill>
                <a:latin typeface="Malgun Gothic"/>
                <a:cs typeface="Malgun Gothic"/>
              </a:rPr>
              <a:t>내수</a:t>
            </a:r>
            <a:endParaRPr sz="700">
              <a:latin typeface="Malgun Gothic"/>
              <a:cs typeface="Malgun Gothic"/>
            </a:endParaRPr>
          </a:p>
        </p:txBody>
      </p:sp>
      <p:graphicFrame>
        <p:nvGraphicFramePr>
          <p:cNvPr id="80" name="object 80"/>
          <p:cNvGraphicFramePr>
            <a:graphicFrameLocks noGrp="1"/>
          </p:cNvGraphicFramePr>
          <p:nvPr/>
        </p:nvGraphicFramePr>
        <p:xfrm>
          <a:off x="6113017" y="4767135"/>
          <a:ext cx="5785485" cy="4870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7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32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spc="-20" dirty="0">
                          <a:solidFill>
                            <a:srgbClr val="A4A4A4"/>
                          </a:solidFill>
                          <a:latin typeface="Malgun Gothic"/>
                          <a:cs typeface="Malgun Gothic"/>
                        </a:rPr>
                        <a:t>2Q25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spc="-20" dirty="0">
                          <a:solidFill>
                            <a:srgbClr val="A4A4A4"/>
                          </a:solidFill>
                          <a:latin typeface="Malgun Gothic"/>
                          <a:cs typeface="Malgun Gothic"/>
                        </a:rPr>
                        <a:t>3Q25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spc="-20" dirty="0">
                          <a:solidFill>
                            <a:srgbClr val="A4A4A4"/>
                          </a:solidFill>
                          <a:latin typeface="Malgun Gothic"/>
                          <a:cs typeface="Malgun Gothic"/>
                        </a:rPr>
                        <a:t>4Q25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spc="-20" dirty="0">
                          <a:solidFill>
                            <a:srgbClr val="A4A4A4"/>
                          </a:solidFill>
                          <a:latin typeface="Malgun Gothic"/>
                          <a:cs typeface="Malgun Gothic"/>
                        </a:rPr>
                        <a:t>1Q26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000" spc="-20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2Q26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000" b="1" spc="-140" dirty="0">
                          <a:latin typeface="Malgun Gothic"/>
                          <a:cs typeface="Malgun Gothic"/>
                        </a:rPr>
                        <a:t>영업이익</a:t>
                      </a:r>
                      <a:r>
                        <a:rPr sz="1000" b="1" spc="-20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90" dirty="0">
                          <a:latin typeface="Malgun Gothic"/>
                          <a:cs typeface="Malgun Gothic"/>
                        </a:rPr>
                        <a:t>(RSP</a:t>
                      </a:r>
                      <a:r>
                        <a:rPr sz="1000" b="1" spc="-2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130" dirty="0">
                          <a:latin typeface="Malgun Gothic"/>
                          <a:cs typeface="Malgun Gothic"/>
                        </a:rPr>
                        <a:t>사업</a:t>
                      </a:r>
                      <a:r>
                        <a:rPr sz="1000" b="1" spc="-2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spc="-25" dirty="0">
                          <a:latin typeface="Malgun Gothic"/>
                          <a:cs typeface="Malgun Gothic"/>
                        </a:rPr>
                        <a:t>제외)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32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000" spc="-25" dirty="0">
                          <a:solidFill>
                            <a:srgbClr val="A4A4A4"/>
                          </a:solidFill>
                          <a:latin typeface="Malgun Gothic"/>
                          <a:cs typeface="Malgun Gothic"/>
                        </a:rPr>
                        <a:t>355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498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000" spc="-25" dirty="0">
                          <a:solidFill>
                            <a:srgbClr val="A4A4A4"/>
                          </a:solidFill>
                          <a:latin typeface="Malgun Gothic"/>
                          <a:cs typeface="Malgun Gothic"/>
                        </a:rPr>
                        <a:t>16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32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000" spc="-25" dirty="0">
                          <a:solidFill>
                            <a:srgbClr val="A4A4A4"/>
                          </a:solidFill>
                          <a:latin typeface="Malgun Gothic"/>
                          <a:cs typeface="Malgun Gothic"/>
                        </a:rPr>
                        <a:t>403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32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000" spc="-25" dirty="0">
                          <a:solidFill>
                            <a:srgbClr val="A4A4A4"/>
                          </a:solidFill>
                          <a:latin typeface="Malgun Gothic"/>
                          <a:cs typeface="Malgun Gothic"/>
                        </a:rPr>
                        <a:t>387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386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000" spc="-25" dirty="0">
                          <a:solidFill>
                            <a:srgbClr val="88BCFA"/>
                          </a:solidFill>
                          <a:latin typeface="Malgun Gothic"/>
                          <a:cs typeface="Malgun Gothic"/>
                        </a:rPr>
                        <a:t>473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6350">
                      <a:solidFill>
                        <a:srgbClr val="7E7E7E"/>
                      </a:solidFill>
                      <a:prstDash val="sysDash"/>
                    </a:lnL>
                    <a:lnR w="6350">
                      <a:solidFill>
                        <a:srgbClr val="7E7E7E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object 51"/>
          <p:cNvSpPr/>
          <p:nvPr/>
        </p:nvSpPr>
        <p:spPr>
          <a:xfrm>
            <a:off x="193547" y="5381244"/>
            <a:ext cx="11805285" cy="1211580"/>
          </a:xfrm>
          <a:custGeom>
            <a:avLst/>
            <a:gdLst/>
            <a:ahLst/>
            <a:cxnLst/>
            <a:rect l="l" t="t" r="r" b="b"/>
            <a:pathLst>
              <a:path w="11805285" h="1211579">
                <a:moveTo>
                  <a:pt x="0" y="96138"/>
                </a:moveTo>
                <a:lnTo>
                  <a:pt x="7554" y="58721"/>
                </a:lnTo>
                <a:lnTo>
                  <a:pt x="28157" y="28162"/>
                </a:lnTo>
                <a:lnTo>
                  <a:pt x="58716" y="7556"/>
                </a:lnTo>
                <a:lnTo>
                  <a:pt x="96138" y="0"/>
                </a:lnTo>
                <a:lnTo>
                  <a:pt x="11708765" y="0"/>
                </a:lnTo>
                <a:lnTo>
                  <a:pt x="11746182" y="7556"/>
                </a:lnTo>
                <a:lnTo>
                  <a:pt x="11776741" y="28162"/>
                </a:lnTo>
                <a:lnTo>
                  <a:pt x="11797347" y="58721"/>
                </a:lnTo>
                <a:lnTo>
                  <a:pt x="11804904" y="96138"/>
                </a:lnTo>
                <a:lnTo>
                  <a:pt x="11804904" y="1115440"/>
                </a:lnTo>
                <a:lnTo>
                  <a:pt x="11797347" y="1152863"/>
                </a:lnTo>
                <a:lnTo>
                  <a:pt x="11776741" y="1183422"/>
                </a:lnTo>
                <a:lnTo>
                  <a:pt x="11746182" y="1204025"/>
                </a:lnTo>
                <a:lnTo>
                  <a:pt x="11708765" y="1211579"/>
                </a:lnTo>
                <a:lnTo>
                  <a:pt x="96138" y="1211579"/>
                </a:lnTo>
                <a:lnTo>
                  <a:pt x="58716" y="1204025"/>
                </a:lnTo>
                <a:lnTo>
                  <a:pt x="28157" y="1183422"/>
                </a:lnTo>
                <a:lnTo>
                  <a:pt x="7554" y="1152863"/>
                </a:lnTo>
                <a:lnTo>
                  <a:pt x="0" y="1115440"/>
                </a:lnTo>
                <a:lnTo>
                  <a:pt x="0" y="96138"/>
                </a:lnTo>
                <a:close/>
              </a:path>
            </a:pathLst>
          </a:custGeom>
          <a:ln w="12699">
            <a:solidFill>
              <a:srgbClr val="88BC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80796" y="5493960"/>
            <a:ext cx="3119755" cy="7848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894"/>
              </a:spcBef>
            </a:pPr>
            <a:r>
              <a:rPr sz="1200" b="1" spc="-100" dirty="0">
                <a:latin typeface="Malgun Gothic"/>
                <a:cs typeface="Malgun Gothic"/>
              </a:rPr>
              <a:t>2분기</a:t>
            </a:r>
            <a:r>
              <a:rPr sz="1200" b="1" spc="-17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실적</a:t>
            </a:r>
            <a:endParaRPr sz="1200">
              <a:latin typeface="Malgun Gothic"/>
              <a:cs typeface="Malgun Gothic"/>
            </a:endParaRPr>
          </a:p>
          <a:p>
            <a:pPr marL="127635" indent="-114935">
              <a:lnSpc>
                <a:spcPct val="100000"/>
              </a:lnSpc>
              <a:spcBef>
                <a:spcPts val="660"/>
              </a:spcBef>
              <a:buSzPct val="90000"/>
              <a:buChar char="•"/>
              <a:tabLst>
                <a:tab pos="127635" algn="l"/>
              </a:tabLst>
            </a:pP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군수</a:t>
            </a:r>
            <a:r>
              <a:rPr sz="1000" spc="-10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등</a:t>
            </a:r>
            <a:r>
              <a:rPr sz="1000" spc="-12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사업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물량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증가에</a:t>
            </a:r>
            <a:r>
              <a:rPr sz="1000" spc="-9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따른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매출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414042"/>
                </a:solidFill>
                <a:latin typeface="Malgun Gothic"/>
                <a:cs typeface="Malgun Gothic"/>
              </a:rPr>
              <a:t>확대</a:t>
            </a:r>
            <a:endParaRPr sz="1000">
              <a:latin typeface="Malgun Gothic"/>
              <a:cs typeface="Malgun Gothic"/>
            </a:endParaRPr>
          </a:p>
          <a:p>
            <a:pPr marL="127635" indent="-114935">
              <a:lnSpc>
                <a:spcPct val="100000"/>
              </a:lnSpc>
              <a:spcBef>
                <a:spcPts val="685"/>
              </a:spcBef>
              <a:buSzPct val="90000"/>
              <a:buChar char="•"/>
              <a:tabLst>
                <a:tab pos="127635" algn="l"/>
              </a:tabLst>
            </a:pP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군수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매출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증가</a:t>
            </a:r>
            <a:r>
              <a:rPr sz="1000" spc="-10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및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414042"/>
                </a:solidFill>
                <a:latin typeface="Malgun Gothic"/>
                <a:cs typeface="Malgun Gothic"/>
              </a:rPr>
              <a:t>GTF</a:t>
            </a:r>
            <a:r>
              <a:rPr sz="1000" spc="-13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영업손실</a:t>
            </a:r>
            <a:r>
              <a:rPr sz="1000" spc="-7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감소에</a:t>
            </a:r>
            <a:r>
              <a:rPr sz="1000" spc="-9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따른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영업이익</a:t>
            </a:r>
            <a:r>
              <a:rPr sz="1000" spc="-9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45" dirty="0">
                <a:solidFill>
                  <a:srgbClr val="414042"/>
                </a:solidFill>
                <a:latin typeface="Malgun Gothic"/>
                <a:cs typeface="Malgun Gothic"/>
              </a:rPr>
              <a:t>증가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086983" y="5493960"/>
            <a:ext cx="3215640" cy="7848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894"/>
              </a:spcBef>
            </a:pPr>
            <a:r>
              <a:rPr sz="1200" b="1" spc="-55" dirty="0">
                <a:latin typeface="Malgun Gothic"/>
                <a:cs typeface="Malgun Gothic"/>
              </a:rPr>
              <a:t>2026년</a:t>
            </a:r>
            <a:r>
              <a:rPr sz="1200" b="1" spc="-17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전망</a:t>
            </a:r>
            <a:endParaRPr sz="1200">
              <a:latin typeface="Malgun Gothic"/>
              <a:cs typeface="Malgun Gothic"/>
            </a:endParaRPr>
          </a:p>
          <a:p>
            <a:pPr marL="127635" indent="-114935">
              <a:lnSpc>
                <a:spcPct val="100000"/>
              </a:lnSpc>
              <a:spcBef>
                <a:spcPts val="660"/>
              </a:spcBef>
              <a:buSzPct val="90000"/>
              <a:buChar char="•"/>
              <a:tabLst>
                <a:tab pos="127635" algn="l"/>
              </a:tabLst>
            </a:pP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매출</a:t>
            </a:r>
            <a:r>
              <a:rPr sz="1000" spc="-10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상승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및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414042"/>
                </a:solidFill>
                <a:latin typeface="Malgun Gothic"/>
                <a:cs typeface="Malgun Gothic"/>
              </a:rPr>
              <a:t>GTF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엔진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인도대수</a:t>
            </a:r>
            <a:r>
              <a:rPr sz="1000" spc="-8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증가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414042"/>
                </a:solidFill>
                <a:latin typeface="Malgun Gothic"/>
                <a:cs typeface="Malgun Gothic"/>
              </a:rPr>
              <a:t>전망</a:t>
            </a:r>
            <a:endParaRPr sz="1000">
              <a:latin typeface="Malgun Gothic"/>
              <a:cs typeface="Malgun Gothic"/>
            </a:endParaRPr>
          </a:p>
          <a:p>
            <a:pPr marL="127635" indent="-114935">
              <a:lnSpc>
                <a:spcPct val="100000"/>
              </a:lnSpc>
              <a:spcBef>
                <a:spcPts val="685"/>
              </a:spcBef>
              <a:buSzPct val="90000"/>
              <a:buChar char="•"/>
              <a:tabLst>
                <a:tab pos="127635" algn="l"/>
              </a:tabLst>
            </a:pPr>
            <a:r>
              <a:rPr sz="1000" dirty="0">
                <a:solidFill>
                  <a:srgbClr val="414042"/>
                </a:solidFill>
                <a:latin typeface="Malgun Gothic"/>
                <a:cs typeface="Malgun Gothic"/>
              </a:rPr>
              <a:t>GTF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엔진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인도대수</a:t>
            </a:r>
            <a:r>
              <a:rPr sz="1000" spc="-7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증가에</a:t>
            </a:r>
            <a:r>
              <a:rPr sz="1000" spc="-8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따른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연간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414042"/>
                </a:solidFill>
                <a:latin typeface="Malgun Gothic"/>
                <a:cs typeface="Malgun Gothic"/>
              </a:rPr>
              <a:t>RSP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 영업손실</a:t>
            </a:r>
            <a:r>
              <a:rPr sz="1000" spc="-8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증가</a:t>
            </a:r>
            <a:r>
              <a:rPr sz="1000" spc="-9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40" dirty="0">
                <a:solidFill>
                  <a:srgbClr val="414042"/>
                </a:solidFill>
                <a:latin typeface="Malgun Gothic"/>
                <a:cs typeface="Malgun Gothic"/>
              </a:rPr>
              <a:t>예상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08279" y="70866"/>
            <a:ext cx="1789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algun Gothic"/>
                <a:cs typeface="Malgun Gothic"/>
              </a:rPr>
              <a:t>Financials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spc="-210" dirty="0">
                <a:latin typeface="Malgun Gothic"/>
                <a:cs typeface="Malgun Gothic"/>
              </a:rPr>
              <a:t>&gt;</a:t>
            </a:r>
            <a:r>
              <a:rPr sz="1200" spc="-175" dirty="0">
                <a:latin typeface="Malgun Gothic"/>
                <a:cs typeface="Malgun Gothic"/>
              </a:rPr>
              <a:t> </a:t>
            </a:r>
            <a:r>
              <a:rPr sz="1200" spc="-185" dirty="0">
                <a:solidFill>
                  <a:srgbClr val="626366"/>
                </a:solidFill>
                <a:latin typeface="Malgun Gothic"/>
                <a:cs typeface="Malgun Gothic"/>
              </a:rPr>
              <a:t>사업부문별</a:t>
            </a:r>
            <a:r>
              <a:rPr sz="1200" spc="-165" dirty="0">
                <a:solidFill>
                  <a:srgbClr val="626366"/>
                </a:solidFill>
                <a:latin typeface="Malgun Gothic"/>
                <a:cs typeface="Malgun Gothic"/>
              </a:rPr>
              <a:t> </a:t>
            </a:r>
            <a:r>
              <a:rPr sz="1200" spc="-125" dirty="0">
                <a:solidFill>
                  <a:srgbClr val="626366"/>
                </a:solidFill>
                <a:latin typeface="Malgun Gothic"/>
                <a:cs typeface="Malgun Gothic"/>
              </a:rPr>
              <a:t>실적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907526" y="65988"/>
            <a:ext cx="27679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한화에어로스페이스</a:t>
            </a:r>
            <a:r>
              <a:rPr sz="1200" spc="-18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2026년</a:t>
            </a:r>
            <a:r>
              <a:rPr sz="1200" spc="-1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Malgun Gothic"/>
                <a:cs typeface="Malgun Gothic"/>
              </a:rPr>
              <a:t>2분기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실적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발표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44959" y="74422"/>
            <a:ext cx="1841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13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8279" y="657605"/>
            <a:ext cx="208026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280" dirty="0">
                <a:latin typeface="Malgun Gothic"/>
                <a:cs typeface="Malgun Gothic"/>
              </a:rPr>
              <a:t>사업부문별</a:t>
            </a:r>
            <a:r>
              <a:rPr sz="2500" spc="-335" dirty="0">
                <a:latin typeface="Malgun Gothic"/>
                <a:cs typeface="Malgun Gothic"/>
              </a:rPr>
              <a:t> </a:t>
            </a:r>
            <a:r>
              <a:rPr sz="2500" spc="-305" dirty="0">
                <a:latin typeface="Malgun Gothic"/>
                <a:cs typeface="Malgun Gothic"/>
              </a:rPr>
              <a:t>실적</a:t>
            </a:r>
            <a:endParaRPr sz="25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73527" y="667588"/>
            <a:ext cx="11595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300" dirty="0">
                <a:solidFill>
                  <a:srgbClr val="88BCFA"/>
                </a:solidFill>
                <a:latin typeface="Malgun Gothic"/>
                <a:cs typeface="Malgun Gothic"/>
              </a:rPr>
              <a:t>한화오션</a:t>
            </a:r>
            <a:endParaRPr sz="2500">
              <a:latin typeface="Malgun Gothic"/>
              <a:cs typeface="Malgun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17931" y="1144524"/>
            <a:ext cx="11687175" cy="82550"/>
            <a:chOff x="217931" y="1144524"/>
            <a:chExt cx="11687175" cy="82550"/>
          </a:xfrm>
        </p:grpSpPr>
        <p:sp>
          <p:nvSpPr>
            <p:cNvPr id="7" name="object 7"/>
            <p:cNvSpPr/>
            <p:nvPr/>
          </p:nvSpPr>
          <p:spPr>
            <a:xfrm>
              <a:off x="217931" y="1222248"/>
              <a:ext cx="11687175" cy="0"/>
            </a:xfrm>
            <a:custGeom>
              <a:avLst/>
              <a:gdLst/>
              <a:ahLst/>
              <a:cxnLst/>
              <a:rect l="l" t="t" r="r" b="b"/>
              <a:pathLst>
                <a:path w="11687175">
                  <a:moveTo>
                    <a:pt x="0" y="0"/>
                  </a:moveTo>
                  <a:lnTo>
                    <a:pt x="1168666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7931" y="1144524"/>
              <a:ext cx="2052955" cy="82550"/>
            </a:xfrm>
            <a:custGeom>
              <a:avLst/>
              <a:gdLst/>
              <a:ahLst/>
              <a:cxnLst/>
              <a:rect l="l" t="t" r="r" b="b"/>
              <a:pathLst>
                <a:path w="2052955" h="82550">
                  <a:moveTo>
                    <a:pt x="2052827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2052827" y="82296"/>
                  </a:lnTo>
                  <a:lnTo>
                    <a:pt x="20528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20472" y="1622805"/>
            <a:ext cx="811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baseline="2314" dirty="0">
                <a:latin typeface="Malgun Gothic"/>
                <a:cs typeface="Malgun Gothic"/>
              </a:rPr>
              <a:t>매출</a:t>
            </a:r>
            <a:r>
              <a:rPr sz="1800" b="1" spc="607" baseline="2314" dirty="0">
                <a:latin typeface="Malgun Gothic"/>
                <a:cs typeface="Malgun Gothic"/>
              </a:rPr>
              <a:t> </a:t>
            </a:r>
            <a:r>
              <a:rPr sz="700" spc="-90" dirty="0">
                <a:solidFill>
                  <a:srgbClr val="7E7E7E"/>
                </a:solidFill>
                <a:latin typeface="Malgun Gothic"/>
                <a:cs typeface="Malgun Gothic"/>
              </a:rPr>
              <a:t>단위 </a:t>
            </a:r>
            <a:r>
              <a:rPr sz="700" dirty="0">
                <a:solidFill>
                  <a:srgbClr val="7E7E7E"/>
                </a:solidFill>
                <a:latin typeface="Malgun Gothic"/>
                <a:cs typeface="Malgun Gothic"/>
              </a:rPr>
              <a:t>:</a:t>
            </a:r>
            <a:r>
              <a:rPr sz="700" spc="-9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45" dirty="0">
                <a:solidFill>
                  <a:srgbClr val="7E7E7E"/>
                </a:solidFill>
                <a:latin typeface="Malgun Gothic"/>
                <a:cs typeface="Malgun Gothic"/>
              </a:rPr>
              <a:t>억원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144514" y="1618615"/>
            <a:ext cx="575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10" dirty="0">
                <a:latin typeface="Malgun Gothic"/>
                <a:cs typeface="Malgun Gothic"/>
              </a:rPr>
              <a:t>영업이익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02881" y="1686813"/>
            <a:ext cx="4064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90" dirty="0">
                <a:solidFill>
                  <a:srgbClr val="7E7E7E"/>
                </a:solidFill>
                <a:latin typeface="Malgun Gothic"/>
                <a:cs typeface="Malgun Gothic"/>
              </a:rPr>
              <a:t>단위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dirty="0">
                <a:solidFill>
                  <a:srgbClr val="7E7E7E"/>
                </a:solidFill>
                <a:latin typeface="Malgun Gothic"/>
                <a:cs typeface="Malgun Gothic"/>
              </a:rPr>
              <a:t>:</a:t>
            </a: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700" spc="-55" dirty="0">
                <a:solidFill>
                  <a:srgbClr val="7E7E7E"/>
                </a:solidFill>
                <a:latin typeface="Malgun Gothic"/>
                <a:cs typeface="Malgun Gothic"/>
              </a:rPr>
              <a:t>억원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6151626" y="1861566"/>
            <a:ext cx="572770" cy="8890"/>
          </a:xfrm>
          <a:custGeom>
            <a:avLst/>
            <a:gdLst/>
            <a:ahLst/>
            <a:cxnLst/>
            <a:rect l="l" t="t" r="r" b="b"/>
            <a:pathLst>
              <a:path w="572770" h="8889">
                <a:moveTo>
                  <a:pt x="0" y="8762"/>
                </a:moveTo>
                <a:lnTo>
                  <a:pt x="57251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35458" y="187071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0" y="0"/>
                </a:moveTo>
                <a:lnTo>
                  <a:pt x="359994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363118" y="2110866"/>
            <a:ext cx="10293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85" dirty="0">
                <a:solidFill>
                  <a:srgbClr val="88BCFA"/>
                </a:solidFill>
                <a:latin typeface="Malgun Gothic"/>
                <a:cs typeface="Malgun Gothic"/>
              </a:rPr>
              <a:t>+65%</a:t>
            </a:r>
            <a:endParaRPr sz="3000">
              <a:latin typeface="Malgun Gothic"/>
              <a:cs typeface="Malgun Gothic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495805" y="2230373"/>
            <a:ext cx="2686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solidFill>
                  <a:srgbClr val="88BCFA"/>
                </a:solidFill>
                <a:latin typeface="Malgun Gothic"/>
                <a:cs typeface="Malgun Gothic"/>
              </a:rPr>
              <a:t>YoY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1438655" y="2208276"/>
            <a:ext cx="390525" cy="236220"/>
          </a:xfrm>
          <a:custGeom>
            <a:avLst/>
            <a:gdLst/>
            <a:ahLst/>
            <a:cxnLst/>
            <a:rect l="l" t="t" r="r" b="b"/>
            <a:pathLst>
              <a:path w="390525" h="236219">
                <a:moveTo>
                  <a:pt x="0" y="39370"/>
                </a:moveTo>
                <a:lnTo>
                  <a:pt x="3097" y="24056"/>
                </a:lnTo>
                <a:lnTo>
                  <a:pt x="11541" y="11541"/>
                </a:lnTo>
                <a:lnTo>
                  <a:pt x="24056" y="3097"/>
                </a:lnTo>
                <a:lnTo>
                  <a:pt x="39369" y="0"/>
                </a:lnTo>
                <a:lnTo>
                  <a:pt x="350774" y="0"/>
                </a:lnTo>
                <a:lnTo>
                  <a:pt x="366087" y="3097"/>
                </a:lnTo>
                <a:lnTo>
                  <a:pt x="378602" y="11541"/>
                </a:lnTo>
                <a:lnTo>
                  <a:pt x="387046" y="24056"/>
                </a:lnTo>
                <a:lnTo>
                  <a:pt x="390144" y="39370"/>
                </a:lnTo>
                <a:lnTo>
                  <a:pt x="390144" y="196850"/>
                </a:lnTo>
                <a:lnTo>
                  <a:pt x="387046" y="212163"/>
                </a:lnTo>
                <a:lnTo>
                  <a:pt x="378602" y="224678"/>
                </a:lnTo>
                <a:lnTo>
                  <a:pt x="366087" y="233122"/>
                </a:lnTo>
                <a:lnTo>
                  <a:pt x="350774" y="236220"/>
                </a:lnTo>
                <a:lnTo>
                  <a:pt x="39369" y="236220"/>
                </a:lnTo>
                <a:lnTo>
                  <a:pt x="24056" y="233122"/>
                </a:lnTo>
                <a:lnTo>
                  <a:pt x="11541" y="224678"/>
                </a:lnTo>
                <a:lnTo>
                  <a:pt x="3097" y="212163"/>
                </a:lnTo>
                <a:lnTo>
                  <a:pt x="0" y="196850"/>
                </a:lnTo>
                <a:lnTo>
                  <a:pt x="0" y="39370"/>
                </a:lnTo>
                <a:close/>
              </a:path>
            </a:pathLst>
          </a:custGeom>
          <a:ln w="12700">
            <a:solidFill>
              <a:srgbClr val="88BC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3971290" y="2220213"/>
            <a:ext cx="4965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5" dirty="0">
                <a:solidFill>
                  <a:srgbClr val="7E7E7E"/>
                </a:solidFill>
                <a:latin typeface="Malgun Gothic"/>
                <a:cs typeface="Malgun Gothic"/>
              </a:rPr>
              <a:t>+70%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4532376" y="2238755"/>
            <a:ext cx="337185" cy="200025"/>
          </a:xfrm>
          <a:custGeom>
            <a:avLst/>
            <a:gdLst/>
            <a:ahLst/>
            <a:cxnLst/>
            <a:rect l="l" t="t" r="r" b="b"/>
            <a:pathLst>
              <a:path w="337185" h="200025">
                <a:moveTo>
                  <a:pt x="0" y="33274"/>
                </a:moveTo>
                <a:lnTo>
                  <a:pt x="2609" y="20306"/>
                </a:lnTo>
                <a:lnTo>
                  <a:pt x="9731" y="9731"/>
                </a:lnTo>
                <a:lnTo>
                  <a:pt x="20306" y="2609"/>
                </a:lnTo>
                <a:lnTo>
                  <a:pt x="33274" y="0"/>
                </a:lnTo>
                <a:lnTo>
                  <a:pt x="303529" y="0"/>
                </a:lnTo>
                <a:lnTo>
                  <a:pt x="316497" y="2609"/>
                </a:lnTo>
                <a:lnTo>
                  <a:pt x="327072" y="9731"/>
                </a:lnTo>
                <a:lnTo>
                  <a:pt x="334194" y="20306"/>
                </a:lnTo>
                <a:lnTo>
                  <a:pt x="336803" y="33274"/>
                </a:lnTo>
                <a:lnTo>
                  <a:pt x="336803" y="166370"/>
                </a:lnTo>
                <a:lnTo>
                  <a:pt x="334194" y="179337"/>
                </a:lnTo>
                <a:lnTo>
                  <a:pt x="327072" y="189912"/>
                </a:lnTo>
                <a:lnTo>
                  <a:pt x="316497" y="197034"/>
                </a:lnTo>
                <a:lnTo>
                  <a:pt x="303529" y="199644"/>
                </a:lnTo>
                <a:lnTo>
                  <a:pt x="33274" y="199644"/>
                </a:lnTo>
                <a:lnTo>
                  <a:pt x="20306" y="197034"/>
                </a:lnTo>
                <a:lnTo>
                  <a:pt x="9731" y="189912"/>
                </a:lnTo>
                <a:lnTo>
                  <a:pt x="2609" y="179337"/>
                </a:lnTo>
                <a:lnTo>
                  <a:pt x="0" y="166370"/>
                </a:lnTo>
                <a:lnTo>
                  <a:pt x="0" y="33274"/>
                </a:lnTo>
                <a:close/>
              </a:path>
            </a:pathLst>
          </a:custGeom>
          <a:ln w="127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4593463" y="2261997"/>
            <a:ext cx="2413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7E7E7E"/>
                </a:solidFill>
                <a:latin typeface="Malgun Gothic"/>
                <a:cs typeface="Malgun Gothic"/>
              </a:rPr>
              <a:t>QoQ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10226040" y="2255520"/>
            <a:ext cx="337185" cy="200025"/>
          </a:xfrm>
          <a:custGeom>
            <a:avLst/>
            <a:gdLst/>
            <a:ahLst/>
            <a:cxnLst/>
            <a:rect l="l" t="t" r="r" b="b"/>
            <a:pathLst>
              <a:path w="337184" h="200025">
                <a:moveTo>
                  <a:pt x="0" y="33274"/>
                </a:moveTo>
                <a:lnTo>
                  <a:pt x="2609" y="20306"/>
                </a:lnTo>
                <a:lnTo>
                  <a:pt x="9731" y="9731"/>
                </a:lnTo>
                <a:lnTo>
                  <a:pt x="20306" y="2609"/>
                </a:lnTo>
                <a:lnTo>
                  <a:pt x="33274" y="0"/>
                </a:lnTo>
                <a:lnTo>
                  <a:pt x="303529" y="0"/>
                </a:lnTo>
                <a:lnTo>
                  <a:pt x="316497" y="2609"/>
                </a:lnTo>
                <a:lnTo>
                  <a:pt x="327072" y="9731"/>
                </a:lnTo>
                <a:lnTo>
                  <a:pt x="334194" y="20306"/>
                </a:lnTo>
                <a:lnTo>
                  <a:pt x="336803" y="33274"/>
                </a:lnTo>
                <a:lnTo>
                  <a:pt x="336803" y="166369"/>
                </a:lnTo>
                <a:lnTo>
                  <a:pt x="334194" y="179337"/>
                </a:lnTo>
                <a:lnTo>
                  <a:pt x="327072" y="189912"/>
                </a:lnTo>
                <a:lnTo>
                  <a:pt x="316497" y="197034"/>
                </a:lnTo>
                <a:lnTo>
                  <a:pt x="303529" y="199643"/>
                </a:lnTo>
                <a:lnTo>
                  <a:pt x="33274" y="199643"/>
                </a:lnTo>
                <a:lnTo>
                  <a:pt x="20306" y="197034"/>
                </a:lnTo>
                <a:lnTo>
                  <a:pt x="9731" y="189912"/>
                </a:lnTo>
                <a:lnTo>
                  <a:pt x="2609" y="179337"/>
                </a:lnTo>
                <a:lnTo>
                  <a:pt x="0" y="166369"/>
                </a:lnTo>
                <a:lnTo>
                  <a:pt x="0" y="33274"/>
                </a:lnTo>
                <a:close/>
              </a:path>
            </a:pathLst>
          </a:custGeom>
          <a:ln w="127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10287761" y="2279142"/>
            <a:ext cx="2413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7E7E7E"/>
                </a:solidFill>
                <a:latin typeface="Malgun Gothic"/>
                <a:cs typeface="Malgun Gothic"/>
              </a:rPr>
              <a:t>QoQ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3441191" y="2366772"/>
            <a:ext cx="299085" cy="299720"/>
          </a:xfrm>
          <a:custGeom>
            <a:avLst/>
            <a:gdLst/>
            <a:ahLst/>
            <a:cxnLst/>
            <a:rect l="l" t="t" r="r" b="b"/>
            <a:pathLst>
              <a:path w="299085" h="299719">
                <a:moveTo>
                  <a:pt x="0" y="1524"/>
                </a:moveTo>
                <a:lnTo>
                  <a:pt x="298958" y="1524"/>
                </a:lnTo>
              </a:path>
              <a:path w="299085" h="299719">
                <a:moveTo>
                  <a:pt x="0" y="299592"/>
                </a:moveTo>
                <a:lnTo>
                  <a:pt x="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178552" y="2366772"/>
            <a:ext cx="299085" cy="299720"/>
          </a:xfrm>
          <a:custGeom>
            <a:avLst/>
            <a:gdLst/>
            <a:ahLst/>
            <a:cxnLst/>
            <a:rect l="l" t="t" r="r" b="b"/>
            <a:pathLst>
              <a:path w="299085" h="299719">
                <a:moveTo>
                  <a:pt x="298703" y="299592"/>
                </a:moveTo>
                <a:lnTo>
                  <a:pt x="298703" y="0"/>
                </a:lnTo>
              </a:path>
              <a:path w="299085" h="299719">
                <a:moveTo>
                  <a:pt x="0" y="1524"/>
                </a:moveTo>
                <a:lnTo>
                  <a:pt x="298958" y="1524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6269228" y="2105025"/>
            <a:ext cx="10293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85" dirty="0">
                <a:solidFill>
                  <a:srgbClr val="88BCFA"/>
                </a:solidFill>
                <a:latin typeface="Malgun Gothic"/>
                <a:cs typeface="Malgun Gothic"/>
              </a:rPr>
              <a:t>+98%</a:t>
            </a:r>
            <a:endParaRPr sz="3000">
              <a:latin typeface="Malgun Gothic"/>
              <a:cs typeface="Malgun Gothic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532878" y="2213610"/>
            <a:ext cx="2686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solidFill>
                  <a:srgbClr val="88BCFA"/>
                </a:solidFill>
                <a:latin typeface="Malgun Gothic"/>
                <a:cs typeface="Malgun Gothic"/>
              </a:rPr>
              <a:t>YoY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475219" y="2191511"/>
            <a:ext cx="390525" cy="236220"/>
          </a:xfrm>
          <a:custGeom>
            <a:avLst/>
            <a:gdLst/>
            <a:ahLst/>
            <a:cxnLst/>
            <a:rect l="l" t="t" r="r" b="b"/>
            <a:pathLst>
              <a:path w="390525" h="236219">
                <a:moveTo>
                  <a:pt x="0" y="39370"/>
                </a:moveTo>
                <a:lnTo>
                  <a:pt x="3097" y="24056"/>
                </a:lnTo>
                <a:lnTo>
                  <a:pt x="11541" y="11541"/>
                </a:lnTo>
                <a:lnTo>
                  <a:pt x="24056" y="3097"/>
                </a:lnTo>
                <a:lnTo>
                  <a:pt x="39370" y="0"/>
                </a:lnTo>
                <a:lnTo>
                  <a:pt x="350774" y="0"/>
                </a:lnTo>
                <a:lnTo>
                  <a:pt x="366087" y="3097"/>
                </a:lnTo>
                <a:lnTo>
                  <a:pt x="378602" y="11541"/>
                </a:lnTo>
                <a:lnTo>
                  <a:pt x="387046" y="24056"/>
                </a:lnTo>
                <a:lnTo>
                  <a:pt x="390144" y="39370"/>
                </a:lnTo>
                <a:lnTo>
                  <a:pt x="390144" y="196850"/>
                </a:lnTo>
                <a:lnTo>
                  <a:pt x="387046" y="212163"/>
                </a:lnTo>
                <a:lnTo>
                  <a:pt x="378602" y="224678"/>
                </a:lnTo>
                <a:lnTo>
                  <a:pt x="366087" y="233122"/>
                </a:lnTo>
                <a:lnTo>
                  <a:pt x="350774" y="236220"/>
                </a:lnTo>
                <a:lnTo>
                  <a:pt x="39370" y="236220"/>
                </a:lnTo>
                <a:lnTo>
                  <a:pt x="24056" y="233122"/>
                </a:lnTo>
                <a:lnTo>
                  <a:pt x="11541" y="224678"/>
                </a:lnTo>
                <a:lnTo>
                  <a:pt x="3097" y="212163"/>
                </a:lnTo>
                <a:lnTo>
                  <a:pt x="0" y="196850"/>
                </a:lnTo>
                <a:lnTo>
                  <a:pt x="0" y="39370"/>
                </a:lnTo>
                <a:close/>
              </a:path>
            </a:pathLst>
          </a:custGeom>
          <a:ln w="12700">
            <a:solidFill>
              <a:srgbClr val="88BC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9584563" y="2251329"/>
            <a:ext cx="4965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5" dirty="0">
                <a:solidFill>
                  <a:srgbClr val="7E7E7E"/>
                </a:solidFill>
                <a:latin typeface="Malgun Gothic"/>
                <a:cs typeface="Malgun Gothic"/>
              </a:rPr>
              <a:t>+67%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9076943" y="2366772"/>
            <a:ext cx="300990" cy="299720"/>
          </a:xfrm>
          <a:custGeom>
            <a:avLst/>
            <a:gdLst/>
            <a:ahLst/>
            <a:cxnLst/>
            <a:rect l="l" t="t" r="r" b="b"/>
            <a:pathLst>
              <a:path w="300990" h="299719">
                <a:moveTo>
                  <a:pt x="1524" y="1524"/>
                </a:moveTo>
                <a:lnTo>
                  <a:pt x="300481" y="1524"/>
                </a:lnTo>
              </a:path>
              <a:path w="300990" h="299719">
                <a:moveTo>
                  <a:pt x="0" y="299592"/>
                </a:moveTo>
                <a:lnTo>
                  <a:pt x="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0727435" y="2366772"/>
            <a:ext cx="299085" cy="299720"/>
          </a:xfrm>
          <a:custGeom>
            <a:avLst/>
            <a:gdLst/>
            <a:ahLst/>
            <a:cxnLst/>
            <a:rect l="l" t="t" r="r" b="b"/>
            <a:pathLst>
              <a:path w="299084" h="299719">
                <a:moveTo>
                  <a:pt x="297180" y="299592"/>
                </a:moveTo>
                <a:lnTo>
                  <a:pt x="297180" y="0"/>
                </a:lnTo>
              </a:path>
              <a:path w="299084" h="299719">
                <a:moveTo>
                  <a:pt x="0" y="1524"/>
                </a:moveTo>
                <a:lnTo>
                  <a:pt x="298958" y="1524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4764151" y="2657348"/>
            <a:ext cx="400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Malgun Gothic"/>
                <a:cs typeface="Malgun Gothic"/>
              </a:rPr>
              <a:t>54,432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9852" y="2758439"/>
            <a:ext cx="0" cy="1900555"/>
          </a:xfrm>
          <a:custGeom>
            <a:avLst/>
            <a:gdLst/>
            <a:ahLst/>
            <a:cxnLst/>
            <a:rect l="l" t="t" r="r" b="b"/>
            <a:pathLst>
              <a:path h="1900554">
                <a:moveTo>
                  <a:pt x="0" y="0"/>
                </a:moveTo>
                <a:lnTo>
                  <a:pt x="0" y="1900428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28827" y="3770376"/>
            <a:ext cx="652780" cy="889000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900">
              <a:latin typeface="Times New Roman"/>
              <a:cs typeface="Times New Roman"/>
            </a:endParaRPr>
          </a:p>
          <a:p>
            <a:pPr marL="149225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28,068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8827" y="3694176"/>
            <a:ext cx="652780" cy="76200"/>
          </a:xfrm>
          <a:prstGeom prst="rect">
            <a:avLst/>
          </a:prstGeom>
          <a:solidFill>
            <a:srgbClr val="88BCFA"/>
          </a:solidFill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ts val="6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2,368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8827" y="3549396"/>
            <a:ext cx="652780" cy="144780"/>
          </a:xfrm>
          <a:prstGeom prst="rect">
            <a:avLst/>
          </a:prstGeom>
          <a:solidFill>
            <a:srgbClr val="A4A4A4"/>
          </a:solidFill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ts val="1019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4,598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70075" y="2758439"/>
            <a:ext cx="0" cy="1900555"/>
          </a:xfrm>
          <a:custGeom>
            <a:avLst/>
            <a:gdLst/>
            <a:ahLst/>
            <a:cxnLst/>
            <a:rect l="l" t="t" r="r" b="b"/>
            <a:pathLst>
              <a:path h="1900554">
                <a:moveTo>
                  <a:pt x="0" y="0"/>
                </a:moveTo>
                <a:lnTo>
                  <a:pt x="0" y="1900428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559052" y="3878579"/>
            <a:ext cx="650875" cy="7804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900">
              <a:latin typeface="Times New Roman"/>
              <a:cs typeface="Times New Roman"/>
            </a:endParaRPr>
          </a:p>
          <a:p>
            <a:pPr marL="148590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24,639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59052" y="3759708"/>
            <a:ext cx="650875" cy="119380"/>
          </a:xfrm>
          <a:prstGeom prst="rect">
            <a:avLst/>
          </a:prstGeom>
          <a:solidFill>
            <a:srgbClr val="88BCFA"/>
          </a:solidFill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ts val="919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3,750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98776" y="2758439"/>
            <a:ext cx="0" cy="1900555"/>
          </a:xfrm>
          <a:custGeom>
            <a:avLst/>
            <a:gdLst/>
            <a:ahLst/>
            <a:cxnLst/>
            <a:rect l="l" t="t" r="r" b="b"/>
            <a:pathLst>
              <a:path h="1900554">
                <a:moveTo>
                  <a:pt x="0" y="0"/>
                </a:moveTo>
                <a:lnTo>
                  <a:pt x="0" y="1900428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587751" y="3808476"/>
            <a:ext cx="650875" cy="850900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900">
              <a:latin typeface="Times New Roman"/>
              <a:cs typeface="Times New Roman"/>
            </a:endParaRPr>
          </a:p>
          <a:p>
            <a:pPr marL="149225">
              <a:lnSpc>
                <a:spcPct val="100000"/>
              </a:lnSpc>
              <a:spcBef>
                <a:spcPts val="5"/>
              </a:spcBef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26,858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87751" y="3691128"/>
            <a:ext cx="650875" cy="117475"/>
          </a:xfrm>
          <a:prstGeom prst="rect">
            <a:avLst/>
          </a:prstGeom>
          <a:solidFill>
            <a:srgbClr val="88BCFA"/>
          </a:solidFill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ts val="91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3,688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87751" y="3560064"/>
            <a:ext cx="650875" cy="131445"/>
          </a:xfrm>
          <a:prstGeom prst="rect">
            <a:avLst/>
          </a:prstGeom>
          <a:solidFill>
            <a:srgbClr val="A4A4A4"/>
          </a:solidFill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ts val="965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4,143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27476" y="2758439"/>
            <a:ext cx="0" cy="1900555"/>
          </a:xfrm>
          <a:custGeom>
            <a:avLst/>
            <a:gdLst/>
            <a:ahLst/>
            <a:cxnLst/>
            <a:rect l="l" t="t" r="r" b="b"/>
            <a:pathLst>
              <a:path h="1900554">
                <a:moveTo>
                  <a:pt x="0" y="0"/>
                </a:moveTo>
                <a:lnTo>
                  <a:pt x="0" y="1900428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616452" y="3773423"/>
            <a:ext cx="652780" cy="88582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900">
              <a:latin typeface="Times New Roman"/>
              <a:cs typeface="Times New Roman"/>
            </a:endParaRPr>
          </a:p>
          <a:p>
            <a:pPr marL="149860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27,927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16452" y="3672840"/>
            <a:ext cx="652780" cy="100965"/>
          </a:xfrm>
          <a:prstGeom prst="rect">
            <a:avLst/>
          </a:prstGeom>
          <a:solidFill>
            <a:srgbClr val="88BCFA"/>
          </a:solidFill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ts val="79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3,183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57700" y="2758439"/>
            <a:ext cx="0" cy="1900555"/>
          </a:xfrm>
          <a:custGeom>
            <a:avLst/>
            <a:gdLst/>
            <a:ahLst/>
            <a:cxnLst/>
            <a:rect l="l" t="t" r="r" b="b"/>
            <a:pathLst>
              <a:path h="1900554">
                <a:moveTo>
                  <a:pt x="0" y="0"/>
                </a:moveTo>
                <a:lnTo>
                  <a:pt x="0" y="1900428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646676" y="3633215"/>
            <a:ext cx="650875" cy="1026160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900">
              <a:latin typeface="Times New Roman"/>
              <a:cs typeface="Times New Roman"/>
            </a:endParaRPr>
          </a:p>
          <a:p>
            <a:pPr marL="148590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32,397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46676" y="3528059"/>
            <a:ext cx="650875" cy="105410"/>
          </a:xfrm>
          <a:prstGeom prst="rect">
            <a:avLst/>
          </a:prstGeom>
          <a:solidFill>
            <a:srgbClr val="88BCFA"/>
          </a:solidFill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ts val="83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3,272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46676" y="2874264"/>
            <a:ext cx="650875" cy="654050"/>
          </a:xfrm>
          <a:prstGeom prst="rect">
            <a:avLst/>
          </a:prstGeom>
          <a:solidFill>
            <a:srgbClr val="A4A4A4"/>
          </a:solidFill>
        </p:spPr>
        <p:txBody>
          <a:bodyPr vert="horz" wrap="square" lIns="0" tIns="1155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10"/>
              </a:spcBef>
            </a:pPr>
            <a:endParaRPr sz="900">
              <a:latin typeface="Times New Roman"/>
              <a:cs typeface="Times New Roman"/>
            </a:endParaRPr>
          </a:p>
          <a:p>
            <a:pPr marL="148590">
              <a:lnSpc>
                <a:spcPct val="100000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20,679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16452" y="3578352"/>
            <a:ext cx="652780" cy="94615"/>
          </a:xfrm>
          <a:prstGeom prst="rect">
            <a:avLst/>
          </a:prstGeom>
          <a:solidFill>
            <a:srgbClr val="A4A4A4"/>
          </a:solidFill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ts val="745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2,110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59052" y="3672840"/>
            <a:ext cx="650875" cy="86995"/>
          </a:xfrm>
          <a:prstGeom prst="rect">
            <a:avLst/>
          </a:prstGeom>
          <a:solidFill>
            <a:srgbClr val="A4A4A4"/>
          </a:solidFill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ts val="685"/>
              </a:lnSpc>
            </a:pPr>
            <a:r>
              <a:rPr sz="900" spc="-10" dirty="0">
                <a:solidFill>
                  <a:srgbClr val="FFFFFF"/>
                </a:solidFill>
                <a:latin typeface="Malgun Gothic"/>
                <a:cs typeface="Malgun Gothic"/>
              </a:rPr>
              <a:t>2,713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486400" y="2758439"/>
            <a:ext cx="0" cy="1900555"/>
          </a:xfrm>
          <a:custGeom>
            <a:avLst/>
            <a:gdLst/>
            <a:ahLst/>
            <a:cxnLst/>
            <a:rect l="l" t="t" r="r" b="b"/>
            <a:pathLst>
              <a:path h="1900554">
                <a:moveTo>
                  <a:pt x="0" y="0"/>
                </a:moveTo>
                <a:lnTo>
                  <a:pt x="0" y="1900428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147815" y="2752344"/>
            <a:ext cx="0" cy="1742439"/>
          </a:xfrm>
          <a:custGeom>
            <a:avLst/>
            <a:gdLst/>
            <a:ahLst/>
            <a:cxnLst/>
            <a:rect l="l" t="t" r="r" b="b"/>
            <a:pathLst>
              <a:path h="1742439">
                <a:moveTo>
                  <a:pt x="0" y="1741931"/>
                </a:moveTo>
                <a:lnTo>
                  <a:pt x="0" y="0"/>
                </a:lnTo>
              </a:path>
            </a:pathLst>
          </a:custGeom>
          <a:ln w="6350">
            <a:solidFill>
              <a:srgbClr val="88888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6584950" y="2752344"/>
            <a:ext cx="4241800" cy="1742439"/>
            <a:chOff x="6584950" y="2752344"/>
            <a:chExt cx="4241800" cy="1742439"/>
          </a:xfrm>
        </p:grpSpPr>
        <p:sp>
          <p:nvSpPr>
            <p:cNvPr id="42" name="object 42"/>
            <p:cNvSpPr/>
            <p:nvPr/>
          </p:nvSpPr>
          <p:spPr>
            <a:xfrm>
              <a:off x="7123176" y="2752344"/>
              <a:ext cx="2926080" cy="1742439"/>
            </a:xfrm>
            <a:custGeom>
              <a:avLst/>
              <a:gdLst/>
              <a:ahLst/>
              <a:cxnLst/>
              <a:rect l="l" t="t" r="r" b="b"/>
              <a:pathLst>
                <a:path w="2926079" h="1742439">
                  <a:moveTo>
                    <a:pt x="0" y="0"/>
                  </a:moveTo>
                  <a:lnTo>
                    <a:pt x="0" y="1741931"/>
                  </a:lnTo>
                </a:path>
                <a:path w="2926079" h="1742439">
                  <a:moveTo>
                    <a:pt x="975359" y="0"/>
                  </a:moveTo>
                  <a:lnTo>
                    <a:pt x="975359" y="1741931"/>
                  </a:lnTo>
                </a:path>
                <a:path w="2926079" h="1742439">
                  <a:moveTo>
                    <a:pt x="1950720" y="0"/>
                  </a:moveTo>
                  <a:lnTo>
                    <a:pt x="1950720" y="1741931"/>
                  </a:lnTo>
                </a:path>
                <a:path w="2926079" h="1742439">
                  <a:moveTo>
                    <a:pt x="2926079" y="0"/>
                  </a:moveTo>
                  <a:lnTo>
                    <a:pt x="2926079" y="174193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273540" y="2891027"/>
              <a:ext cx="1553210" cy="1603375"/>
            </a:xfrm>
            <a:custGeom>
              <a:avLst/>
              <a:gdLst/>
              <a:ahLst/>
              <a:cxnLst/>
              <a:rect l="l" t="t" r="r" b="b"/>
              <a:pathLst>
                <a:path w="1553209" h="1603375">
                  <a:moveTo>
                    <a:pt x="577596" y="643128"/>
                  </a:moveTo>
                  <a:lnTo>
                    <a:pt x="0" y="643128"/>
                  </a:lnTo>
                  <a:lnTo>
                    <a:pt x="0" y="1603248"/>
                  </a:lnTo>
                  <a:lnTo>
                    <a:pt x="577596" y="1603248"/>
                  </a:lnTo>
                  <a:lnTo>
                    <a:pt x="577596" y="643128"/>
                  </a:lnTo>
                  <a:close/>
                </a:path>
                <a:path w="1553209" h="1603375">
                  <a:moveTo>
                    <a:pt x="1552956" y="0"/>
                  </a:moveTo>
                  <a:lnTo>
                    <a:pt x="975360" y="0"/>
                  </a:lnTo>
                  <a:lnTo>
                    <a:pt x="975360" y="1603248"/>
                  </a:lnTo>
                  <a:lnTo>
                    <a:pt x="1552956" y="1603248"/>
                  </a:lnTo>
                  <a:lnTo>
                    <a:pt x="155295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634734" y="3118866"/>
              <a:ext cx="3903345" cy="365760"/>
            </a:xfrm>
            <a:custGeom>
              <a:avLst/>
              <a:gdLst/>
              <a:ahLst/>
              <a:cxnLst/>
              <a:rect l="l" t="t" r="r" b="b"/>
              <a:pathLst>
                <a:path w="3903345" h="365760">
                  <a:moveTo>
                    <a:pt x="0" y="138684"/>
                  </a:moveTo>
                  <a:lnTo>
                    <a:pt x="975360" y="237744"/>
                  </a:lnTo>
                  <a:lnTo>
                    <a:pt x="1952244" y="365760"/>
                  </a:lnTo>
                  <a:lnTo>
                    <a:pt x="2927604" y="0"/>
                  </a:lnTo>
                  <a:lnTo>
                    <a:pt x="3902964" y="10668"/>
                  </a:lnTo>
                </a:path>
              </a:pathLst>
            </a:custGeom>
            <a:ln w="19049">
              <a:solidFill>
                <a:srgbClr val="88BC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4950" y="3208020"/>
              <a:ext cx="101980" cy="10210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60183" y="3305556"/>
              <a:ext cx="102108" cy="10210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5542" y="3433572"/>
              <a:ext cx="102107" cy="10210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11029" y="3067812"/>
              <a:ext cx="102108" cy="10210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87914" y="3080004"/>
              <a:ext cx="101980" cy="102108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10362945" y="2668016"/>
            <a:ext cx="3511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Malgun Gothic"/>
                <a:cs typeface="Malgun Gothic"/>
              </a:rPr>
              <a:t>7,361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432797" y="2901442"/>
            <a:ext cx="31940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solidFill>
                  <a:srgbClr val="88BCFA"/>
                </a:solidFill>
                <a:latin typeface="Malgun Gothic"/>
                <a:cs typeface="Malgun Gothic"/>
              </a:rPr>
              <a:t>13.7%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395966" y="2925826"/>
            <a:ext cx="31940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solidFill>
                  <a:srgbClr val="88BCFA"/>
                </a:solidFill>
                <a:latin typeface="Malgun Gothic"/>
                <a:cs typeface="Malgun Gothic"/>
              </a:rPr>
              <a:t>13.5%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462776" y="3028314"/>
            <a:ext cx="31940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solidFill>
                  <a:srgbClr val="88BCFA"/>
                </a:solidFill>
                <a:latin typeface="Malgun Gothic"/>
                <a:cs typeface="Malgun Gothic"/>
              </a:rPr>
              <a:t>11.3%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493889" y="3101467"/>
            <a:ext cx="26162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0" dirty="0">
                <a:solidFill>
                  <a:srgbClr val="88BCFA"/>
                </a:solidFill>
                <a:latin typeface="Malgun Gothic"/>
                <a:cs typeface="Malgun Gothic"/>
              </a:rPr>
              <a:t>9.6%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380856" y="3229101"/>
            <a:ext cx="26162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0" dirty="0">
                <a:solidFill>
                  <a:srgbClr val="88BCFA"/>
                </a:solidFill>
                <a:latin typeface="Malgun Gothic"/>
                <a:cs typeface="Malgun Gothic"/>
              </a:rPr>
              <a:t>7.4%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85596" y="3331591"/>
            <a:ext cx="3956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Malgun Gothic"/>
                <a:cs typeface="Malgun Gothic"/>
              </a:rPr>
              <a:t>32,941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731135" y="3331591"/>
            <a:ext cx="3956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Malgun Gothic"/>
                <a:cs typeface="Malgun Gothic"/>
              </a:rPr>
              <a:t>33,230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3723259" y="3331591"/>
            <a:ext cx="3956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Malgun Gothic"/>
                <a:cs typeface="Malgun Gothic"/>
              </a:rPr>
              <a:t>32,099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390380" y="3279469"/>
            <a:ext cx="3467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Malgun Gothic"/>
                <a:cs typeface="Malgun Gothic"/>
              </a:rPr>
              <a:t>4,411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703323" y="3454654"/>
            <a:ext cx="3956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Malgun Gothic"/>
                <a:cs typeface="Malgun Gothic"/>
              </a:rPr>
              <a:t>30,234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437503" y="3430904"/>
            <a:ext cx="3467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Malgun Gothic"/>
                <a:cs typeface="Malgun Gothic"/>
              </a:rPr>
              <a:t>3,717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345935" y="3685032"/>
            <a:ext cx="577850" cy="809625"/>
          </a:xfrm>
          <a:custGeom>
            <a:avLst/>
            <a:gdLst/>
            <a:ahLst/>
            <a:cxnLst/>
            <a:rect l="l" t="t" r="r" b="b"/>
            <a:pathLst>
              <a:path w="577850" h="809625">
                <a:moveTo>
                  <a:pt x="577595" y="0"/>
                </a:moveTo>
                <a:lnTo>
                  <a:pt x="0" y="0"/>
                </a:lnTo>
                <a:lnTo>
                  <a:pt x="0" y="809244"/>
                </a:lnTo>
                <a:lnTo>
                  <a:pt x="577595" y="809244"/>
                </a:lnTo>
                <a:lnTo>
                  <a:pt x="577595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7413117" y="3647008"/>
            <a:ext cx="3467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Malgun Gothic"/>
                <a:cs typeface="Malgun Gothic"/>
              </a:rPr>
              <a:t>2,898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414384" y="3701541"/>
            <a:ext cx="3467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Malgun Gothic"/>
                <a:cs typeface="Malgun Gothic"/>
              </a:rPr>
              <a:t>2,475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322819" y="3863340"/>
            <a:ext cx="576580" cy="631190"/>
          </a:xfrm>
          <a:custGeom>
            <a:avLst/>
            <a:gdLst/>
            <a:ahLst/>
            <a:cxnLst/>
            <a:rect l="l" t="t" r="r" b="b"/>
            <a:pathLst>
              <a:path w="576579" h="631189">
                <a:moveTo>
                  <a:pt x="576072" y="0"/>
                </a:moveTo>
                <a:lnTo>
                  <a:pt x="0" y="0"/>
                </a:lnTo>
                <a:lnTo>
                  <a:pt x="0" y="630936"/>
                </a:lnTo>
                <a:lnTo>
                  <a:pt x="576072" y="630936"/>
                </a:lnTo>
                <a:lnTo>
                  <a:pt x="57607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298180" y="3956303"/>
            <a:ext cx="577850" cy="538480"/>
          </a:xfrm>
          <a:custGeom>
            <a:avLst/>
            <a:gdLst/>
            <a:ahLst/>
            <a:cxnLst/>
            <a:rect l="l" t="t" r="r" b="b"/>
            <a:pathLst>
              <a:path w="577850" h="538479">
                <a:moveTo>
                  <a:pt x="577596" y="0"/>
                </a:moveTo>
                <a:lnTo>
                  <a:pt x="0" y="0"/>
                </a:lnTo>
                <a:lnTo>
                  <a:pt x="0" y="537972"/>
                </a:lnTo>
                <a:lnTo>
                  <a:pt x="577596" y="537972"/>
                </a:lnTo>
                <a:lnTo>
                  <a:pt x="577596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1026140" y="2752344"/>
            <a:ext cx="0" cy="1742439"/>
          </a:xfrm>
          <a:custGeom>
            <a:avLst/>
            <a:gdLst/>
            <a:ahLst/>
            <a:cxnLst/>
            <a:rect l="l" t="t" r="r" b="b"/>
            <a:pathLst>
              <a:path h="1742439">
                <a:moveTo>
                  <a:pt x="0" y="0"/>
                </a:moveTo>
                <a:lnTo>
                  <a:pt x="0" y="1741931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71271" y="4712589"/>
            <a:ext cx="3683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2Q25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00529" y="4712589"/>
            <a:ext cx="3683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3Q25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729864" y="4712589"/>
            <a:ext cx="3695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4Q25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59453" y="4712589"/>
            <a:ext cx="3683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1Q26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88789" y="4712589"/>
            <a:ext cx="3683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2Q26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452108" y="4711446"/>
            <a:ext cx="3683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2Q25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427721" y="4711446"/>
            <a:ext cx="3683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3Q25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403717" y="4711446"/>
            <a:ext cx="3683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4Q25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379457" y="4711446"/>
            <a:ext cx="3683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1Q26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0355326" y="4711446"/>
            <a:ext cx="3683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2Q26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338828" y="5070347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4">
                <a:moveTo>
                  <a:pt x="115824" y="0"/>
                </a:moveTo>
                <a:lnTo>
                  <a:pt x="0" y="0"/>
                </a:lnTo>
                <a:lnTo>
                  <a:pt x="0" y="115824"/>
                </a:lnTo>
                <a:lnTo>
                  <a:pt x="115824" y="115824"/>
                </a:lnTo>
                <a:lnTo>
                  <a:pt x="11582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491990" y="5061915"/>
            <a:ext cx="1841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7E7E7E"/>
                </a:solidFill>
                <a:latin typeface="Malgun Gothic"/>
                <a:cs typeface="Malgun Gothic"/>
              </a:rPr>
              <a:t>상선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4736591" y="5070347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4">
                <a:moveTo>
                  <a:pt x="115824" y="0"/>
                </a:moveTo>
                <a:lnTo>
                  <a:pt x="0" y="0"/>
                </a:lnTo>
                <a:lnTo>
                  <a:pt x="0" y="115824"/>
                </a:lnTo>
                <a:lnTo>
                  <a:pt x="115824" y="115824"/>
                </a:lnTo>
                <a:lnTo>
                  <a:pt x="115824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4889753" y="5061915"/>
            <a:ext cx="2635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65" dirty="0">
                <a:solidFill>
                  <a:srgbClr val="7E7E7E"/>
                </a:solidFill>
                <a:latin typeface="Malgun Gothic"/>
                <a:cs typeface="Malgun Gothic"/>
              </a:rPr>
              <a:t>특수선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5199888" y="5070347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4">
                <a:moveTo>
                  <a:pt x="115824" y="0"/>
                </a:moveTo>
                <a:lnTo>
                  <a:pt x="0" y="0"/>
                </a:lnTo>
                <a:lnTo>
                  <a:pt x="0" y="115824"/>
                </a:lnTo>
                <a:lnTo>
                  <a:pt x="115824" y="115824"/>
                </a:lnTo>
                <a:lnTo>
                  <a:pt x="11582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5352034" y="5061915"/>
            <a:ext cx="1816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7E7E7E"/>
                </a:solidFill>
                <a:latin typeface="Malgun Gothic"/>
                <a:cs typeface="Malgun Gothic"/>
              </a:rPr>
              <a:t>EPU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9907523" y="5088635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4">
                <a:moveTo>
                  <a:pt x="115824" y="0"/>
                </a:moveTo>
                <a:lnTo>
                  <a:pt x="0" y="0"/>
                </a:lnTo>
                <a:lnTo>
                  <a:pt x="0" y="115824"/>
                </a:lnTo>
                <a:lnTo>
                  <a:pt x="115824" y="115824"/>
                </a:lnTo>
                <a:lnTo>
                  <a:pt x="11582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10060305" y="5080761"/>
            <a:ext cx="3429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70" dirty="0">
                <a:solidFill>
                  <a:srgbClr val="7E7E7E"/>
                </a:solidFill>
                <a:latin typeface="Malgun Gothic"/>
                <a:cs typeface="Malgun Gothic"/>
              </a:rPr>
              <a:t>영업이익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0466831" y="5088635"/>
            <a:ext cx="114300" cy="116205"/>
          </a:xfrm>
          <a:custGeom>
            <a:avLst/>
            <a:gdLst/>
            <a:ahLst/>
            <a:cxnLst/>
            <a:rect l="l" t="t" r="r" b="b"/>
            <a:pathLst>
              <a:path w="114300" h="116204">
                <a:moveTo>
                  <a:pt x="114300" y="0"/>
                </a:moveTo>
                <a:lnTo>
                  <a:pt x="0" y="0"/>
                </a:lnTo>
                <a:lnTo>
                  <a:pt x="0" y="115824"/>
                </a:lnTo>
                <a:lnTo>
                  <a:pt x="114300" y="115824"/>
                </a:lnTo>
                <a:lnTo>
                  <a:pt x="114300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10628121" y="5080761"/>
            <a:ext cx="4216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75" dirty="0">
                <a:solidFill>
                  <a:srgbClr val="7E7E7E"/>
                </a:solidFill>
                <a:latin typeface="Malgun Gothic"/>
                <a:cs typeface="Malgun Gothic"/>
              </a:rPr>
              <a:t>영업이익률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93547" y="5381244"/>
            <a:ext cx="11805285" cy="1409700"/>
          </a:xfrm>
          <a:custGeom>
            <a:avLst/>
            <a:gdLst/>
            <a:ahLst/>
            <a:cxnLst/>
            <a:rect l="l" t="t" r="r" b="b"/>
            <a:pathLst>
              <a:path w="11805285" h="1409700">
                <a:moveTo>
                  <a:pt x="0" y="111886"/>
                </a:moveTo>
                <a:lnTo>
                  <a:pt x="8791" y="68312"/>
                </a:lnTo>
                <a:lnTo>
                  <a:pt x="32766" y="32750"/>
                </a:lnTo>
                <a:lnTo>
                  <a:pt x="68322" y="8784"/>
                </a:lnTo>
                <a:lnTo>
                  <a:pt x="111861" y="0"/>
                </a:lnTo>
                <a:lnTo>
                  <a:pt x="11693017" y="0"/>
                </a:lnTo>
                <a:lnTo>
                  <a:pt x="11736591" y="8784"/>
                </a:lnTo>
                <a:lnTo>
                  <a:pt x="11772153" y="32750"/>
                </a:lnTo>
                <a:lnTo>
                  <a:pt x="11796119" y="68312"/>
                </a:lnTo>
                <a:lnTo>
                  <a:pt x="11804904" y="111886"/>
                </a:lnTo>
                <a:lnTo>
                  <a:pt x="11804904" y="1297838"/>
                </a:lnTo>
                <a:lnTo>
                  <a:pt x="11796119" y="1341379"/>
                </a:lnTo>
                <a:lnTo>
                  <a:pt x="11772153" y="1376935"/>
                </a:lnTo>
                <a:lnTo>
                  <a:pt x="11736591" y="1400909"/>
                </a:lnTo>
                <a:lnTo>
                  <a:pt x="11693017" y="1409699"/>
                </a:lnTo>
                <a:lnTo>
                  <a:pt x="111861" y="1409699"/>
                </a:lnTo>
                <a:lnTo>
                  <a:pt x="68322" y="1400909"/>
                </a:lnTo>
                <a:lnTo>
                  <a:pt x="32766" y="1376935"/>
                </a:lnTo>
                <a:lnTo>
                  <a:pt x="8791" y="1341379"/>
                </a:lnTo>
                <a:lnTo>
                  <a:pt x="0" y="1297838"/>
                </a:lnTo>
                <a:lnTo>
                  <a:pt x="0" y="111886"/>
                </a:lnTo>
                <a:close/>
              </a:path>
            </a:pathLst>
          </a:custGeom>
          <a:ln w="12700">
            <a:solidFill>
              <a:srgbClr val="88BC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380796" y="5493960"/>
            <a:ext cx="5121275" cy="10261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894"/>
              </a:spcBef>
            </a:pPr>
            <a:r>
              <a:rPr sz="1200" b="1" spc="-100" dirty="0">
                <a:latin typeface="Malgun Gothic"/>
                <a:cs typeface="Malgun Gothic"/>
              </a:rPr>
              <a:t>2분기</a:t>
            </a:r>
            <a:r>
              <a:rPr sz="1200" b="1" spc="-17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실적</a:t>
            </a:r>
            <a:endParaRPr sz="1200">
              <a:latin typeface="Malgun Gothic"/>
              <a:cs typeface="Malgun Gothic"/>
            </a:endParaRPr>
          </a:p>
          <a:p>
            <a:pPr marL="127635" indent="-114935">
              <a:lnSpc>
                <a:spcPct val="100000"/>
              </a:lnSpc>
              <a:spcBef>
                <a:spcPts val="660"/>
              </a:spcBef>
              <a:buSzPct val="90000"/>
              <a:buChar char="•"/>
              <a:tabLst>
                <a:tab pos="127635" algn="l"/>
              </a:tabLst>
            </a:pP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상선</a:t>
            </a:r>
            <a:r>
              <a:rPr sz="1000" spc="-10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부문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50" dirty="0">
                <a:solidFill>
                  <a:srgbClr val="414042"/>
                </a:solidFill>
                <a:latin typeface="Malgun Gothic"/>
                <a:cs typeface="Malgun Gothic"/>
              </a:rPr>
              <a:t>:</a:t>
            </a:r>
            <a:r>
              <a:rPr sz="1000" spc="-12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414042"/>
                </a:solidFill>
                <a:latin typeface="Malgun Gothic"/>
                <a:cs typeface="Malgun Gothic"/>
              </a:rPr>
              <a:t>LNG선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중심으로</a:t>
            </a:r>
            <a:r>
              <a:rPr sz="1000" spc="-8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한</a:t>
            </a:r>
            <a:r>
              <a:rPr sz="1000" spc="-13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매출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인식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및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대형 프로젝트</a:t>
            </a:r>
            <a:r>
              <a:rPr sz="1000" spc="-7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건조</a:t>
            </a:r>
            <a:r>
              <a:rPr sz="1000" spc="-10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414042"/>
                </a:solidFill>
                <a:latin typeface="Malgun Gothic"/>
                <a:cs typeface="Malgun Gothic"/>
              </a:rPr>
              <a:t>본격화</a:t>
            </a:r>
            <a:endParaRPr sz="1000">
              <a:latin typeface="Malgun Gothic"/>
              <a:cs typeface="Malgun Gothic"/>
            </a:endParaRPr>
          </a:p>
          <a:p>
            <a:pPr marL="127635" indent="-114935">
              <a:lnSpc>
                <a:spcPct val="100000"/>
              </a:lnSpc>
              <a:spcBef>
                <a:spcPts val="685"/>
              </a:spcBef>
              <a:buSzPct val="90000"/>
              <a:buChar char="•"/>
              <a:tabLst>
                <a:tab pos="127635" algn="l"/>
              </a:tabLst>
            </a:pP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특수선</a:t>
            </a:r>
            <a:r>
              <a:rPr sz="1000" spc="-9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부문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50" dirty="0">
                <a:solidFill>
                  <a:srgbClr val="414042"/>
                </a:solidFill>
                <a:latin typeface="Malgun Gothic"/>
                <a:cs typeface="Malgun Gothic"/>
              </a:rPr>
              <a:t>:</a:t>
            </a:r>
            <a:r>
              <a:rPr sz="1000" spc="-12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잠수함</a:t>
            </a:r>
            <a:r>
              <a:rPr sz="1000" spc="-9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및</a:t>
            </a:r>
            <a:r>
              <a:rPr sz="1000" spc="-12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수상함</a:t>
            </a:r>
            <a:r>
              <a:rPr sz="1000" spc="-9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사업의</a:t>
            </a:r>
            <a:r>
              <a:rPr sz="1000" spc="-8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안정적인</a:t>
            </a:r>
            <a:r>
              <a:rPr sz="1000" spc="-8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공정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진행에</a:t>
            </a:r>
            <a:r>
              <a:rPr sz="1000" spc="-8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힘입어</a:t>
            </a:r>
            <a:r>
              <a:rPr sz="1000" spc="-9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견조한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매출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수준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414042"/>
                </a:solidFill>
                <a:latin typeface="Malgun Gothic"/>
                <a:cs typeface="Malgun Gothic"/>
              </a:rPr>
              <a:t>유지</a:t>
            </a:r>
            <a:endParaRPr sz="1000">
              <a:latin typeface="Malgun Gothic"/>
              <a:cs typeface="Malgun Gothic"/>
            </a:endParaRPr>
          </a:p>
          <a:p>
            <a:pPr marL="127635" indent="-114935">
              <a:lnSpc>
                <a:spcPct val="100000"/>
              </a:lnSpc>
              <a:spcBef>
                <a:spcPts val="695"/>
              </a:spcBef>
              <a:buSzPct val="90000"/>
              <a:buChar char="•"/>
              <a:tabLst>
                <a:tab pos="127635" algn="l"/>
              </a:tabLst>
            </a:pPr>
            <a:r>
              <a:rPr sz="1000" spc="-25" dirty="0">
                <a:solidFill>
                  <a:srgbClr val="414042"/>
                </a:solidFill>
                <a:latin typeface="Malgun Gothic"/>
                <a:cs typeface="Malgun Gothic"/>
              </a:rPr>
              <a:t>EPU</a:t>
            </a:r>
            <a:r>
              <a:rPr sz="1000" spc="-9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부문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50" dirty="0">
                <a:solidFill>
                  <a:srgbClr val="414042"/>
                </a:solidFill>
                <a:latin typeface="Malgun Gothic"/>
                <a:cs typeface="Malgun Gothic"/>
              </a:rPr>
              <a:t>:</a:t>
            </a:r>
            <a:r>
              <a:rPr sz="1000" spc="-12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인도기준</a:t>
            </a:r>
            <a:r>
              <a:rPr sz="1000" spc="-7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매출인식</a:t>
            </a:r>
            <a:r>
              <a:rPr sz="1000" spc="-8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적용</a:t>
            </a:r>
            <a:r>
              <a:rPr sz="1000" spc="-9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프로젝트의</a:t>
            </a:r>
            <a:r>
              <a:rPr sz="1000" spc="-6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종료에</a:t>
            </a:r>
            <a:r>
              <a:rPr sz="1000" spc="-8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따라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누적</a:t>
            </a:r>
            <a:r>
              <a:rPr sz="1000" spc="-9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매출이</a:t>
            </a:r>
            <a:r>
              <a:rPr sz="1000" spc="-8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일시에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인식되어</a:t>
            </a:r>
            <a:r>
              <a:rPr sz="1000" spc="-7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매출</a:t>
            </a:r>
            <a:r>
              <a:rPr sz="1000" spc="-9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414042"/>
                </a:solidFill>
                <a:latin typeface="Malgun Gothic"/>
                <a:cs typeface="Malgun Gothic"/>
              </a:rPr>
              <a:t>증가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026658" y="5595315"/>
            <a:ext cx="312420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latin typeface="Malgun Gothic"/>
                <a:cs typeface="Malgun Gothic"/>
              </a:rPr>
              <a:t>2026년</a:t>
            </a:r>
            <a:r>
              <a:rPr sz="1200" b="1" spc="-17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전망</a:t>
            </a:r>
            <a:endParaRPr sz="1200">
              <a:latin typeface="Malgun Gothic"/>
              <a:cs typeface="Malgun Gothic"/>
            </a:endParaRPr>
          </a:p>
          <a:p>
            <a:pPr marL="128270" indent="-115570">
              <a:lnSpc>
                <a:spcPct val="100000"/>
              </a:lnSpc>
              <a:spcBef>
                <a:spcPts val="725"/>
              </a:spcBef>
              <a:buSzPct val="90000"/>
              <a:buChar char="•"/>
              <a:tabLst>
                <a:tab pos="128270" algn="l"/>
              </a:tabLst>
            </a:pP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대형 </a:t>
            </a:r>
            <a:r>
              <a:rPr sz="1000" spc="-125" dirty="0">
                <a:solidFill>
                  <a:srgbClr val="414042"/>
                </a:solidFill>
                <a:latin typeface="Malgun Gothic"/>
                <a:cs typeface="Malgun Gothic"/>
              </a:rPr>
              <a:t>프로젝트</a:t>
            </a:r>
            <a:r>
              <a:rPr sz="1000" spc="-10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등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건조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물량 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확대에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따른</a:t>
            </a:r>
            <a:r>
              <a:rPr sz="1000" spc="-11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25" dirty="0">
                <a:solidFill>
                  <a:srgbClr val="414042"/>
                </a:solidFill>
                <a:latin typeface="Malgun Gothic"/>
                <a:cs typeface="Malgun Gothic"/>
              </a:rPr>
              <a:t>전년대비</a:t>
            </a:r>
            <a:r>
              <a:rPr sz="1000" spc="-85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114" dirty="0">
                <a:solidFill>
                  <a:srgbClr val="414042"/>
                </a:solidFill>
                <a:latin typeface="Malgun Gothic"/>
                <a:cs typeface="Malgun Gothic"/>
              </a:rPr>
              <a:t>성장</a:t>
            </a:r>
            <a:r>
              <a:rPr sz="1000" spc="-120" dirty="0">
                <a:solidFill>
                  <a:srgbClr val="414042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414042"/>
                </a:solidFill>
                <a:latin typeface="Malgun Gothic"/>
                <a:cs typeface="Malgun Gothic"/>
              </a:rPr>
              <a:t>전망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402590"/>
            <a:chOff x="0" y="0"/>
            <a:chExt cx="12192000" cy="40259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350250" cy="332740"/>
            </a:xfrm>
            <a:custGeom>
              <a:avLst/>
              <a:gdLst/>
              <a:ahLst/>
              <a:cxnLst/>
              <a:rect l="l" t="t" r="r" b="b"/>
              <a:pathLst>
                <a:path w="8350250" h="332740">
                  <a:moveTo>
                    <a:pt x="0" y="332231"/>
                  </a:moveTo>
                  <a:lnTo>
                    <a:pt x="8349996" y="332231"/>
                  </a:lnTo>
                  <a:lnTo>
                    <a:pt x="8349996" y="0"/>
                  </a:lnTo>
                  <a:lnTo>
                    <a:pt x="0" y="0"/>
                  </a:lnTo>
                  <a:lnTo>
                    <a:pt x="0" y="33223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349995" y="0"/>
              <a:ext cx="3842385" cy="332740"/>
            </a:xfrm>
            <a:custGeom>
              <a:avLst/>
              <a:gdLst/>
              <a:ahLst/>
              <a:cxnLst/>
              <a:rect l="l" t="t" r="r" b="b"/>
              <a:pathLst>
                <a:path w="3842384" h="332740">
                  <a:moveTo>
                    <a:pt x="3842004" y="0"/>
                  </a:moveTo>
                  <a:lnTo>
                    <a:pt x="0" y="0"/>
                  </a:lnTo>
                  <a:lnTo>
                    <a:pt x="0" y="332231"/>
                  </a:lnTo>
                  <a:lnTo>
                    <a:pt x="3842004" y="332231"/>
                  </a:lnTo>
                  <a:lnTo>
                    <a:pt x="3842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30708"/>
              <a:ext cx="12192000" cy="71755"/>
            </a:xfrm>
            <a:custGeom>
              <a:avLst/>
              <a:gdLst/>
              <a:ahLst/>
              <a:cxnLst/>
              <a:rect l="l" t="t" r="r" b="b"/>
              <a:pathLst>
                <a:path w="12192000" h="71754">
                  <a:moveTo>
                    <a:pt x="12192000" y="0"/>
                  </a:moveTo>
                  <a:lnTo>
                    <a:pt x="0" y="0"/>
                  </a:lnTo>
                  <a:lnTo>
                    <a:pt x="0" y="71628"/>
                  </a:lnTo>
                  <a:lnTo>
                    <a:pt x="12192000" y="7162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8279" y="70866"/>
            <a:ext cx="3060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Malgun Gothic"/>
                <a:cs typeface="Malgun Gothic"/>
              </a:rPr>
              <a:t>APPENDIX</a:t>
            </a:r>
            <a:r>
              <a:rPr sz="1200" spc="70" dirty="0">
                <a:latin typeface="Malgun Gothic"/>
                <a:cs typeface="Malgun Gothic"/>
              </a:rPr>
              <a:t> </a:t>
            </a:r>
            <a:r>
              <a:rPr sz="1200" spc="-210" dirty="0">
                <a:latin typeface="Malgun Gothic"/>
                <a:cs typeface="Malgun Gothic"/>
              </a:rPr>
              <a:t>&gt;</a:t>
            </a:r>
            <a:r>
              <a:rPr sz="1200" spc="85" dirty="0">
                <a:latin typeface="Malgun Gothic"/>
                <a:cs typeface="Malgun Gothic"/>
              </a:rPr>
              <a:t> </a:t>
            </a:r>
            <a:r>
              <a:rPr sz="1200" spc="-30" dirty="0">
                <a:solidFill>
                  <a:srgbClr val="7E7E7E"/>
                </a:solidFill>
                <a:latin typeface="Malgun Gothic"/>
                <a:cs typeface="Malgun Gothic"/>
              </a:rPr>
              <a:t>Total</a:t>
            </a:r>
            <a:r>
              <a:rPr sz="1200" spc="-1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7E7E7E"/>
                </a:solidFill>
                <a:latin typeface="Malgun Gothic"/>
                <a:cs typeface="Malgun Gothic"/>
              </a:rPr>
              <a:t>Defense</a:t>
            </a:r>
            <a:r>
              <a:rPr sz="1200" spc="-170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1200" spc="-20" dirty="0">
                <a:solidFill>
                  <a:srgbClr val="7E7E7E"/>
                </a:solidFill>
                <a:latin typeface="Malgun Gothic"/>
                <a:cs typeface="Malgun Gothic"/>
              </a:rPr>
              <a:t>Solution</a:t>
            </a:r>
            <a:r>
              <a:rPr sz="1200" spc="-16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Malgun Gothic"/>
                <a:cs typeface="Malgun Gothic"/>
              </a:rPr>
              <a:t>Provider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07526" y="65988"/>
            <a:ext cx="30213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한화에어로스페이스</a:t>
            </a:r>
            <a:r>
              <a:rPr sz="1200" spc="-2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2026년</a:t>
            </a:r>
            <a:r>
              <a:rPr sz="1200" spc="-20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Malgun Gothic"/>
                <a:cs typeface="Malgun Gothic"/>
              </a:rPr>
              <a:t>2분기</a:t>
            </a:r>
            <a:r>
              <a:rPr sz="1200" spc="-1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실적</a:t>
            </a:r>
            <a:r>
              <a:rPr sz="1200" spc="-18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발표</a:t>
            </a:r>
            <a:r>
              <a:rPr sz="1200" spc="2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50" spc="-37" baseline="2525" dirty="0">
                <a:solidFill>
                  <a:srgbClr val="FFFFFF"/>
                </a:solidFill>
                <a:latin typeface="Malgun Gothic"/>
                <a:cs typeface="Malgun Gothic"/>
              </a:rPr>
              <a:t>19</a:t>
            </a:r>
            <a:endParaRPr sz="1650" baseline="2525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7931" y="530351"/>
            <a:ext cx="11687810" cy="6018530"/>
            <a:chOff x="217931" y="530351"/>
            <a:chExt cx="11687810" cy="6018530"/>
          </a:xfrm>
        </p:grpSpPr>
        <p:sp>
          <p:nvSpPr>
            <p:cNvPr id="9" name="object 9"/>
            <p:cNvSpPr/>
            <p:nvPr/>
          </p:nvSpPr>
          <p:spPr>
            <a:xfrm>
              <a:off x="217931" y="530351"/>
              <a:ext cx="1339850" cy="998219"/>
            </a:xfrm>
            <a:custGeom>
              <a:avLst/>
              <a:gdLst/>
              <a:ahLst/>
              <a:cxnLst/>
              <a:rect l="l" t="t" r="r" b="b"/>
              <a:pathLst>
                <a:path w="1339850" h="998219">
                  <a:moveTo>
                    <a:pt x="1339596" y="0"/>
                  </a:moveTo>
                  <a:lnTo>
                    <a:pt x="0" y="0"/>
                  </a:lnTo>
                  <a:lnTo>
                    <a:pt x="0" y="998220"/>
                  </a:lnTo>
                  <a:lnTo>
                    <a:pt x="1339596" y="998220"/>
                  </a:lnTo>
                  <a:lnTo>
                    <a:pt x="1339596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9757" y="1080993"/>
              <a:ext cx="499109" cy="134620"/>
            </a:xfrm>
            <a:custGeom>
              <a:avLst/>
              <a:gdLst/>
              <a:ahLst/>
              <a:cxnLst/>
              <a:rect l="l" t="t" r="r" b="b"/>
              <a:pathLst>
                <a:path w="499109" h="134619">
                  <a:moveTo>
                    <a:pt x="0" y="0"/>
                  </a:moveTo>
                  <a:lnTo>
                    <a:pt x="430942" y="0"/>
                  </a:lnTo>
                </a:path>
                <a:path w="499109" h="134619">
                  <a:moveTo>
                    <a:pt x="124749" y="128613"/>
                  </a:moveTo>
                  <a:lnTo>
                    <a:pt x="124749" y="131702"/>
                  </a:lnTo>
                  <a:lnTo>
                    <a:pt x="122207" y="134205"/>
                  </a:lnTo>
                  <a:lnTo>
                    <a:pt x="119079" y="134205"/>
                  </a:lnTo>
                  <a:lnTo>
                    <a:pt x="115941" y="134205"/>
                  </a:lnTo>
                  <a:lnTo>
                    <a:pt x="113409" y="131702"/>
                  </a:lnTo>
                  <a:lnTo>
                    <a:pt x="113409" y="128613"/>
                  </a:lnTo>
                  <a:lnTo>
                    <a:pt x="113409" y="125524"/>
                  </a:lnTo>
                  <a:lnTo>
                    <a:pt x="115941" y="123021"/>
                  </a:lnTo>
                  <a:lnTo>
                    <a:pt x="119079" y="123021"/>
                  </a:lnTo>
                  <a:lnTo>
                    <a:pt x="122207" y="123021"/>
                  </a:lnTo>
                  <a:lnTo>
                    <a:pt x="124749" y="125524"/>
                  </a:lnTo>
                  <a:lnTo>
                    <a:pt x="124749" y="128613"/>
                  </a:lnTo>
                  <a:close/>
                </a:path>
                <a:path w="499109" h="134619">
                  <a:moveTo>
                    <a:pt x="249494" y="128613"/>
                  </a:moveTo>
                  <a:lnTo>
                    <a:pt x="249494" y="131702"/>
                  </a:lnTo>
                  <a:lnTo>
                    <a:pt x="246952" y="134205"/>
                  </a:lnTo>
                  <a:lnTo>
                    <a:pt x="243824" y="134205"/>
                  </a:lnTo>
                  <a:lnTo>
                    <a:pt x="240687" y="134205"/>
                  </a:lnTo>
                  <a:lnTo>
                    <a:pt x="238154" y="131702"/>
                  </a:lnTo>
                  <a:lnTo>
                    <a:pt x="238154" y="128613"/>
                  </a:lnTo>
                  <a:lnTo>
                    <a:pt x="238154" y="125524"/>
                  </a:lnTo>
                  <a:lnTo>
                    <a:pt x="240687" y="123021"/>
                  </a:lnTo>
                  <a:lnTo>
                    <a:pt x="243824" y="123021"/>
                  </a:lnTo>
                  <a:lnTo>
                    <a:pt x="246952" y="123021"/>
                  </a:lnTo>
                  <a:lnTo>
                    <a:pt x="249494" y="125524"/>
                  </a:lnTo>
                  <a:lnTo>
                    <a:pt x="249494" y="128613"/>
                  </a:lnTo>
                  <a:close/>
                </a:path>
                <a:path w="499109" h="134619">
                  <a:moveTo>
                    <a:pt x="374239" y="128613"/>
                  </a:moveTo>
                  <a:lnTo>
                    <a:pt x="374239" y="131702"/>
                  </a:lnTo>
                  <a:lnTo>
                    <a:pt x="371697" y="134205"/>
                  </a:lnTo>
                  <a:lnTo>
                    <a:pt x="368569" y="134205"/>
                  </a:lnTo>
                  <a:lnTo>
                    <a:pt x="365432" y="134205"/>
                  </a:lnTo>
                  <a:lnTo>
                    <a:pt x="362899" y="131702"/>
                  </a:lnTo>
                  <a:lnTo>
                    <a:pt x="362899" y="128613"/>
                  </a:lnTo>
                  <a:lnTo>
                    <a:pt x="362899" y="125524"/>
                  </a:lnTo>
                  <a:lnTo>
                    <a:pt x="365432" y="123021"/>
                  </a:lnTo>
                  <a:lnTo>
                    <a:pt x="368569" y="123021"/>
                  </a:lnTo>
                  <a:lnTo>
                    <a:pt x="371697" y="123021"/>
                  </a:lnTo>
                  <a:lnTo>
                    <a:pt x="374239" y="125524"/>
                  </a:lnTo>
                  <a:lnTo>
                    <a:pt x="374239" y="128613"/>
                  </a:lnTo>
                  <a:close/>
                </a:path>
                <a:path w="499109" h="134619">
                  <a:moveTo>
                    <a:pt x="498984" y="128613"/>
                  </a:moveTo>
                  <a:lnTo>
                    <a:pt x="498984" y="131702"/>
                  </a:lnTo>
                  <a:lnTo>
                    <a:pt x="496442" y="134205"/>
                  </a:lnTo>
                  <a:lnTo>
                    <a:pt x="493314" y="134205"/>
                  </a:lnTo>
                  <a:lnTo>
                    <a:pt x="490177" y="134205"/>
                  </a:lnTo>
                  <a:lnTo>
                    <a:pt x="487644" y="131702"/>
                  </a:lnTo>
                  <a:lnTo>
                    <a:pt x="487644" y="128613"/>
                  </a:lnTo>
                  <a:lnTo>
                    <a:pt x="487644" y="125524"/>
                  </a:lnTo>
                  <a:lnTo>
                    <a:pt x="490177" y="123021"/>
                  </a:lnTo>
                  <a:lnTo>
                    <a:pt x="493314" y="123021"/>
                  </a:lnTo>
                  <a:lnTo>
                    <a:pt x="496442" y="123021"/>
                  </a:lnTo>
                  <a:lnTo>
                    <a:pt x="498984" y="125524"/>
                  </a:lnTo>
                  <a:lnTo>
                    <a:pt x="498984" y="128613"/>
                  </a:lnTo>
                  <a:close/>
                </a:path>
              </a:pathLst>
            </a:custGeom>
            <a:ln w="22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9757" y="1159283"/>
              <a:ext cx="624205" cy="112395"/>
            </a:xfrm>
            <a:custGeom>
              <a:avLst/>
              <a:gdLst/>
              <a:ahLst/>
              <a:cxnLst/>
              <a:rect l="l" t="t" r="r" b="b"/>
              <a:pathLst>
                <a:path w="624205" h="112394">
                  <a:moveTo>
                    <a:pt x="0" y="0"/>
                  </a:moveTo>
                  <a:lnTo>
                    <a:pt x="1240" y="64655"/>
                  </a:lnTo>
                  <a:lnTo>
                    <a:pt x="33491" y="110089"/>
                  </a:lnTo>
                  <a:lnTo>
                    <a:pt x="79387" y="111837"/>
                  </a:lnTo>
                  <a:lnTo>
                    <a:pt x="544346" y="111837"/>
                  </a:lnTo>
                  <a:lnTo>
                    <a:pt x="590239" y="110089"/>
                  </a:lnTo>
                  <a:lnTo>
                    <a:pt x="613806" y="97857"/>
                  </a:lnTo>
                  <a:lnTo>
                    <a:pt x="622489" y="64656"/>
                  </a:lnTo>
                  <a:lnTo>
                    <a:pt x="623729" y="0"/>
                  </a:lnTo>
                </a:path>
              </a:pathLst>
            </a:custGeom>
            <a:ln w="223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6699" y="913202"/>
              <a:ext cx="237894" cy="12308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38018" y="957968"/>
              <a:ext cx="272415" cy="0"/>
            </a:xfrm>
            <a:custGeom>
              <a:avLst/>
              <a:gdLst/>
              <a:ahLst/>
              <a:cxnLst/>
              <a:rect l="l" t="t" r="r" b="b"/>
              <a:pathLst>
                <a:path w="272415">
                  <a:moveTo>
                    <a:pt x="272170" y="0"/>
                  </a:moveTo>
                  <a:lnTo>
                    <a:pt x="0" y="0"/>
                  </a:lnTo>
                </a:path>
              </a:pathLst>
            </a:custGeom>
            <a:ln w="223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7076" y="890863"/>
              <a:ext cx="669290" cy="257810"/>
            </a:xfrm>
            <a:custGeom>
              <a:avLst/>
              <a:gdLst/>
              <a:ahLst/>
              <a:cxnLst/>
              <a:rect l="l" t="t" r="r" b="b"/>
              <a:pathLst>
                <a:path w="669290" h="257809">
                  <a:moveTo>
                    <a:pt x="215473" y="33552"/>
                  </a:moveTo>
                  <a:lnTo>
                    <a:pt x="171849" y="35139"/>
                  </a:lnTo>
                  <a:lnTo>
                    <a:pt x="123615" y="103006"/>
                  </a:lnTo>
                  <a:lnTo>
                    <a:pt x="117964" y="111247"/>
                  </a:lnTo>
                  <a:lnTo>
                    <a:pt x="110049" y="118943"/>
                  </a:lnTo>
                  <a:lnTo>
                    <a:pt x="100922" y="125213"/>
                  </a:lnTo>
                  <a:lnTo>
                    <a:pt x="91635" y="129177"/>
                  </a:lnTo>
                  <a:lnTo>
                    <a:pt x="55908" y="139242"/>
                  </a:lnTo>
                  <a:lnTo>
                    <a:pt x="46917" y="143307"/>
                  </a:lnTo>
                  <a:lnTo>
                    <a:pt x="38585" y="149867"/>
                  </a:lnTo>
                  <a:lnTo>
                    <a:pt x="31827" y="158021"/>
                  </a:lnTo>
                  <a:lnTo>
                    <a:pt x="27557" y="166867"/>
                  </a:lnTo>
                  <a:lnTo>
                    <a:pt x="0" y="257235"/>
                  </a:lnTo>
                  <a:lnTo>
                    <a:pt x="669091" y="257236"/>
                  </a:lnTo>
                  <a:lnTo>
                    <a:pt x="611935" y="153894"/>
                  </a:lnTo>
                  <a:lnTo>
                    <a:pt x="578367" y="134210"/>
                  </a:lnTo>
                  <a:lnTo>
                    <a:pt x="226813" y="134210"/>
                  </a:lnTo>
                </a:path>
                <a:path w="669290" h="257809">
                  <a:moveTo>
                    <a:pt x="215473" y="33552"/>
                  </a:moveTo>
                  <a:lnTo>
                    <a:pt x="238154" y="0"/>
                  </a:lnTo>
                  <a:lnTo>
                    <a:pt x="283516" y="0"/>
                  </a:lnTo>
                  <a:lnTo>
                    <a:pt x="292322" y="1315"/>
                  </a:lnTo>
                  <a:lnTo>
                    <a:pt x="299534" y="4907"/>
                  </a:lnTo>
                  <a:lnTo>
                    <a:pt x="304407" y="10238"/>
                  </a:lnTo>
                  <a:lnTo>
                    <a:pt x="306196" y="16776"/>
                  </a:lnTo>
                  <a:lnTo>
                    <a:pt x="306196" y="33552"/>
                  </a:lnTo>
                </a:path>
              </a:pathLst>
            </a:custGeom>
            <a:ln w="22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7931" y="1525396"/>
              <a:ext cx="11687556" cy="502323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87679" y="1767840"/>
              <a:ext cx="5191125" cy="1932939"/>
            </a:xfrm>
            <a:custGeom>
              <a:avLst/>
              <a:gdLst/>
              <a:ahLst/>
              <a:cxnLst/>
              <a:rect l="l" t="t" r="r" b="b"/>
              <a:pathLst>
                <a:path w="5191125" h="1932939">
                  <a:moveTo>
                    <a:pt x="5190744" y="0"/>
                  </a:moveTo>
                  <a:lnTo>
                    <a:pt x="0" y="0"/>
                  </a:lnTo>
                  <a:lnTo>
                    <a:pt x="0" y="1932431"/>
                  </a:lnTo>
                  <a:lnTo>
                    <a:pt x="5190744" y="1932431"/>
                  </a:lnTo>
                  <a:lnTo>
                    <a:pt x="5190744" y="0"/>
                  </a:lnTo>
                  <a:close/>
                </a:path>
              </a:pathLst>
            </a:custGeom>
            <a:solidFill>
              <a:srgbClr val="FFFFFF">
                <a:alpha val="8784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9713" y="1994154"/>
              <a:ext cx="4643120" cy="0"/>
            </a:xfrm>
            <a:custGeom>
              <a:avLst/>
              <a:gdLst/>
              <a:ahLst/>
              <a:cxnLst/>
              <a:rect l="l" t="t" r="r" b="b"/>
              <a:pathLst>
                <a:path w="4643120">
                  <a:moveTo>
                    <a:pt x="0" y="0"/>
                  </a:moveTo>
                  <a:lnTo>
                    <a:pt x="4642993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5048" y="2066543"/>
              <a:ext cx="279400" cy="452755"/>
            </a:xfrm>
            <a:custGeom>
              <a:avLst/>
              <a:gdLst/>
              <a:ahLst/>
              <a:cxnLst/>
              <a:rect l="l" t="t" r="r" b="b"/>
              <a:pathLst>
                <a:path w="279400" h="452755">
                  <a:moveTo>
                    <a:pt x="278892" y="416052"/>
                  </a:moveTo>
                  <a:lnTo>
                    <a:pt x="0" y="416052"/>
                  </a:lnTo>
                  <a:lnTo>
                    <a:pt x="0" y="452628"/>
                  </a:lnTo>
                  <a:lnTo>
                    <a:pt x="278892" y="452628"/>
                  </a:lnTo>
                  <a:lnTo>
                    <a:pt x="278892" y="416052"/>
                  </a:lnTo>
                  <a:close/>
                </a:path>
                <a:path w="279400" h="452755">
                  <a:moveTo>
                    <a:pt x="278892" y="0"/>
                  </a:moveTo>
                  <a:lnTo>
                    <a:pt x="0" y="0"/>
                  </a:lnTo>
                  <a:lnTo>
                    <a:pt x="0" y="36576"/>
                  </a:lnTo>
                  <a:lnTo>
                    <a:pt x="278892" y="36576"/>
                  </a:lnTo>
                  <a:lnTo>
                    <a:pt x="278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731645" y="492633"/>
            <a:ext cx="44500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>
                <a:solidFill>
                  <a:srgbClr val="88BCFA"/>
                </a:solidFill>
              </a:rPr>
              <a:t>Total</a:t>
            </a:r>
            <a:r>
              <a:rPr spc="-305" dirty="0">
                <a:solidFill>
                  <a:srgbClr val="88BCFA"/>
                </a:solidFill>
              </a:rPr>
              <a:t> </a:t>
            </a:r>
            <a:r>
              <a:rPr dirty="0">
                <a:solidFill>
                  <a:srgbClr val="88BCFA"/>
                </a:solidFill>
              </a:rPr>
              <a:t>Defense</a:t>
            </a:r>
            <a:r>
              <a:rPr spc="-280" dirty="0">
                <a:solidFill>
                  <a:srgbClr val="88BCFA"/>
                </a:solidFill>
              </a:rPr>
              <a:t> </a:t>
            </a:r>
            <a:r>
              <a:rPr spc="-25" dirty="0">
                <a:solidFill>
                  <a:srgbClr val="88BCFA"/>
                </a:solidFill>
              </a:rPr>
              <a:t>Solution</a:t>
            </a:r>
            <a:r>
              <a:rPr spc="-300" dirty="0">
                <a:solidFill>
                  <a:srgbClr val="88BCFA"/>
                </a:solidFill>
              </a:rPr>
              <a:t> </a:t>
            </a:r>
            <a:r>
              <a:rPr spc="-10" dirty="0">
                <a:solidFill>
                  <a:srgbClr val="88BCFA"/>
                </a:solidFill>
              </a:rPr>
              <a:t>Provider</a:t>
            </a:r>
          </a:p>
        </p:txBody>
      </p:sp>
      <p:sp>
        <p:nvSpPr>
          <p:cNvPr id="22" name="object 22"/>
          <p:cNvSpPr/>
          <p:nvPr/>
        </p:nvSpPr>
        <p:spPr>
          <a:xfrm>
            <a:off x="1740407" y="934211"/>
            <a:ext cx="1908175" cy="68580"/>
          </a:xfrm>
          <a:custGeom>
            <a:avLst/>
            <a:gdLst/>
            <a:ahLst/>
            <a:cxnLst/>
            <a:rect l="l" t="t" r="r" b="b"/>
            <a:pathLst>
              <a:path w="1908175" h="68580">
                <a:moveTo>
                  <a:pt x="1908047" y="0"/>
                </a:moveTo>
                <a:lnTo>
                  <a:pt x="0" y="0"/>
                </a:lnTo>
                <a:lnTo>
                  <a:pt x="0" y="68579"/>
                </a:lnTo>
                <a:lnTo>
                  <a:pt x="1908047" y="68579"/>
                </a:lnTo>
                <a:lnTo>
                  <a:pt x="1908047" y="0"/>
                </a:lnTo>
                <a:close/>
              </a:path>
            </a:pathLst>
          </a:custGeom>
          <a:solidFill>
            <a:srgbClr val="88BC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712467" y="1056513"/>
            <a:ext cx="10591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algun Gothic"/>
                <a:cs typeface="Malgun Gothic"/>
              </a:rPr>
              <a:t>K9</a:t>
            </a:r>
            <a:r>
              <a:rPr sz="2000" spc="-225" dirty="0">
                <a:latin typeface="Malgun Gothic"/>
                <a:cs typeface="Malgun Gothic"/>
              </a:rPr>
              <a:t> </a:t>
            </a:r>
            <a:r>
              <a:rPr sz="2000" spc="-195" dirty="0">
                <a:latin typeface="Malgun Gothic"/>
                <a:cs typeface="Malgun Gothic"/>
              </a:rPr>
              <a:t>자주포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15"/>
              </a:spcBef>
            </a:pPr>
            <a:endParaRPr/>
          </a:p>
          <a:p>
            <a:pPr marL="273685">
              <a:lnSpc>
                <a:spcPct val="100000"/>
              </a:lnSpc>
            </a:pPr>
            <a:r>
              <a:rPr spc="-150" dirty="0"/>
              <a:t>자주포</a:t>
            </a:r>
            <a:r>
              <a:rPr spc="-160" dirty="0"/>
              <a:t> </a:t>
            </a:r>
            <a:r>
              <a:rPr spc="-150" dirty="0"/>
              <a:t>점유율</a:t>
            </a:r>
            <a:r>
              <a:rPr spc="-170" dirty="0"/>
              <a:t> </a:t>
            </a:r>
            <a:r>
              <a:rPr spc="-150" dirty="0"/>
              <a:t>세계</a:t>
            </a:r>
            <a:r>
              <a:rPr spc="-160" dirty="0"/>
              <a:t> </a:t>
            </a:r>
            <a:r>
              <a:rPr spc="-25" dirty="0"/>
              <a:t>1위</a:t>
            </a:r>
          </a:p>
          <a:p>
            <a:pPr marL="273685">
              <a:lnSpc>
                <a:spcPct val="100000"/>
              </a:lnSpc>
              <a:spcBef>
                <a:spcPts val="1714"/>
              </a:spcBef>
            </a:pPr>
            <a:r>
              <a:rPr spc="-150" dirty="0"/>
              <a:t>높은</a:t>
            </a:r>
            <a:r>
              <a:rPr spc="-160" dirty="0"/>
              <a:t> </a:t>
            </a:r>
            <a:r>
              <a:rPr spc="-150" dirty="0"/>
              <a:t>명중률과</a:t>
            </a:r>
            <a:r>
              <a:rPr spc="-175" dirty="0"/>
              <a:t> </a:t>
            </a:r>
            <a:r>
              <a:rPr spc="-150" dirty="0"/>
              <a:t>빠른</a:t>
            </a:r>
            <a:r>
              <a:rPr spc="-160" dirty="0"/>
              <a:t> </a:t>
            </a:r>
            <a:r>
              <a:rPr spc="-150" dirty="0"/>
              <a:t>발사</a:t>
            </a:r>
            <a:r>
              <a:rPr spc="-175" dirty="0"/>
              <a:t> </a:t>
            </a:r>
            <a:r>
              <a:rPr spc="-150" dirty="0"/>
              <a:t>속도</a:t>
            </a:r>
            <a:r>
              <a:rPr spc="-165" dirty="0"/>
              <a:t> </a:t>
            </a:r>
            <a:r>
              <a:rPr spc="-150" dirty="0"/>
              <a:t>등</a:t>
            </a:r>
            <a:r>
              <a:rPr spc="-160" dirty="0"/>
              <a:t> </a:t>
            </a:r>
            <a:r>
              <a:rPr spc="-150" dirty="0"/>
              <a:t>우수한</a:t>
            </a:r>
            <a:r>
              <a:rPr spc="-175" dirty="0"/>
              <a:t> </a:t>
            </a:r>
            <a:r>
              <a:rPr spc="-150" dirty="0"/>
              <a:t>성능의</a:t>
            </a:r>
            <a:r>
              <a:rPr spc="-165" dirty="0"/>
              <a:t> </a:t>
            </a:r>
            <a:r>
              <a:rPr spc="-25" dirty="0"/>
              <a:t>자주포</a:t>
            </a:r>
          </a:p>
          <a:p>
            <a:pPr marL="282575">
              <a:lnSpc>
                <a:spcPct val="100000"/>
              </a:lnSpc>
              <a:spcBef>
                <a:spcPts val="745"/>
              </a:spcBef>
            </a:pPr>
            <a:r>
              <a:rPr sz="900" dirty="0"/>
              <a:t>K9</a:t>
            </a:r>
            <a:r>
              <a:rPr sz="900" spc="-114" dirty="0"/>
              <a:t> </a:t>
            </a:r>
            <a:r>
              <a:rPr sz="900" spc="-110" dirty="0"/>
              <a:t>자주포는</a:t>
            </a:r>
            <a:r>
              <a:rPr sz="900" spc="-135" dirty="0"/>
              <a:t> </a:t>
            </a:r>
            <a:r>
              <a:rPr sz="900" spc="-110" dirty="0"/>
              <a:t>화력</a:t>
            </a:r>
            <a:r>
              <a:rPr sz="900" spc="-125" dirty="0"/>
              <a:t> </a:t>
            </a:r>
            <a:r>
              <a:rPr sz="900" spc="-110" dirty="0"/>
              <a:t>전투를</a:t>
            </a:r>
            <a:r>
              <a:rPr sz="900" spc="-120" dirty="0"/>
              <a:t> </a:t>
            </a:r>
            <a:r>
              <a:rPr sz="900" spc="-110" dirty="0"/>
              <a:t>위한</a:t>
            </a:r>
            <a:r>
              <a:rPr sz="900" spc="-120" dirty="0"/>
              <a:t> </a:t>
            </a:r>
            <a:r>
              <a:rPr sz="900" spc="-105" dirty="0"/>
              <a:t>긴</a:t>
            </a:r>
            <a:r>
              <a:rPr sz="900" spc="-120" dirty="0"/>
              <a:t> </a:t>
            </a:r>
            <a:r>
              <a:rPr sz="900" spc="-75" dirty="0"/>
              <a:t>사거리,</a:t>
            </a:r>
            <a:r>
              <a:rPr sz="900" spc="-120" dirty="0"/>
              <a:t> </a:t>
            </a:r>
            <a:r>
              <a:rPr sz="900" spc="-105" dirty="0"/>
              <a:t>빠른</a:t>
            </a:r>
            <a:r>
              <a:rPr sz="900" spc="-120" dirty="0"/>
              <a:t> </a:t>
            </a:r>
            <a:r>
              <a:rPr sz="900" spc="-110" dirty="0"/>
              <a:t>발사</a:t>
            </a:r>
            <a:r>
              <a:rPr sz="900" spc="-120" dirty="0"/>
              <a:t> </a:t>
            </a:r>
            <a:r>
              <a:rPr sz="900" spc="-110" dirty="0"/>
              <a:t>속도</a:t>
            </a:r>
            <a:r>
              <a:rPr sz="900" spc="-125" dirty="0"/>
              <a:t> </a:t>
            </a:r>
            <a:r>
              <a:rPr sz="900" spc="-105" dirty="0"/>
              <a:t>등</a:t>
            </a:r>
            <a:r>
              <a:rPr sz="900" spc="-120" dirty="0"/>
              <a:t> </a:t>
            </a:r>
            <a:r>
              <a:rPr sz="900" spc="-110" dirty="0"/>
              <a:t>우수한</a:t>
            </a:r>
            <a:r>
              <a:rPr sz="900" spc="-120" dirty="0"/>
              <a:t> </a:t>
            </a:r>
            <a:r>
              <a:rPr sz="900" spc="-110" dirty="0"/>
              <a:t>성능을</a:t>
            </a:r>
            <a:r>
              <a:rPr sz="900" spc="-135" dirty="0"/>
              <a:t> </a:t>
            </a:r>
            <a:r>
              <a:rPr sz="900" spc="-110" dirty="0"/>
              <a:t>갖추고</a:t>
            </a:r>
            <a:r>
              <a:rPr sz="900" spc="-120" dirty="0"/>
              <a:t> </a:t>
            </a:r>
            <a:r>
              <a:rPr sz="900" spc="-20" dirty="0"/>
              <a:t>있으며,</a:t>
            </a:r>
            <a:endParaRPr sz="900"/>
          </a:p>
          <a:p>
            <a:pPr marL="282575" marR="661035">
              <a:lnSpc>
                <a:spcPct val="100000"/>
              </a:lnSpc>
            </a:pPr>
            <a:r>
              <a:rPr sz="900" spc="-110" dirty="0"/>
              <a:t>사격</a:t>
            </a:r>
            <a:r>
              <a:rPr sz="900" spc="-120" dirty="0"/>
              <a:t> </a:t>
            </a:r>
            <a:r>
              <a:rPr sz="900" spc="-105" dirty="0"/>
              <a:t>후</a:t>
            </a:r>
            <a:r>
              <a:rPr sz="900" spc="-120" dirty="0"/>
              <a:t> </a:t>
            </a:r>
            <a:r>
              <a:rPr sz="900" spc="-110" dirty="0"/>
              <a:t>신속한</a:t>
            </a:r>
            <a:r>
              <a:rPr sz="900" spc="-114" dirty="0"/>
              <a:t> </a:t>
            </a:r>
            <a:r>
              <a:rPr sz="900" spc="-110" dirty="0"/>
              <a:t>진지</a:t>
            </a:r>
            <a:r>
              <a:rPr sz="900" spc="-120" dirty="0"/>
              <a:t> </a:t>
            </a:r>
            <a:r>
              <a:rPr sz="900" spc="-110" dirty="0"/>
              <a:t>변환이</a:t>
            </a:r>
            <a:r>
              <a:rPr sz="900" spc="-130" dirty="0"/>
              <a:t> </a:t>
            </a:r>
            <a:r>
              <a:rPr sz="900" spc="-110" dirty="0"/>
              <a:t>가능하고</a:t>
            </a:r>
            <a:r>
              <a:rPr sz="900" spc="-114" dirty="0"/>
              <a:t> </a:t>
            </a:r>
            <a:r>
              <a:rPr sz="900" spc="-110" dirty="0"/>
              <a:t>기동성</a:t>
            </a:r>
            <a:r>
              <a:rPr sz="900" spc="-130" dirty="0"/>
              <a:t> </a:t>
            </a:r>
            <a:r>
              <a:rPr sz="900" spc="-105" dirty="0"/>
              <a:t>및</a:t>
            </a:r>
            <a:r>
              <a:rPr sz="900" spc="-110" dirty="0"/>
              <a:t> 생존성이</a:t>
            </a:r>
            <a:r>
              <a:rPr sz="900" spc="-130" dirty="0"/>
              <a:t> </a:t>
            </a:r>
            <a:r>
              <a:rPr sz="900" spc="-110" dirty="0"/>
              <a:t>뛰어난</a:t>
            </a:r>
            <a:r>
              <a:rPr sz="900" spc="-114" dirty="0"/>
              <a:t> </a:t>
            </a:r>
            <a:r>
              <a:rPr sz="900" spc="-85" dirty="0"/>
              <a:t>장비입니다.</a:t>
            </a:r>
            <a:r>
              <a:rPr sz="900" spc="-135" dirty="0"/>
              <a:t> </a:t>
            </a:r>
            <a:r>
              <a:rPr sz="900" spc="-60" dirty="0"/>
              <a:t>또한,</a:t>
            </a:r>
            <a:r>
              <a:rPr sz="900" spc="-114" dirty="0"/>
              <a:t> </a:t>
            </a:r>
            <a:r>
              <a:rPr sz="900" spc="-25" dirty="0"/>
              <a:t>NATO</a:t>
            </a:r>
            <a:r>
              <a:rPr sz="900" spc="-85" dirty="0"/>
              <a:t> </a:t>
            </a:r>
            <a:r>
              <a:rPr sz="900" spc="-25" dirty="0"/>
              <a:t>규격 </a:t>
            </a:r>
            <a:r>
              <a:rPr sz="900" spc="-110" dirty="0"/>
              <a:t>적용</a:t>
            </a:r>
            <a:r>
              <a:rPr sz="900" spc="-120" dirty="0"/>
              <a:t> </a:t>
            </a:r>
            <a:r>
              <a:rPr sz="900" spc="-105" dirty="0"/>
              <a:t>등</a:t>
            </a:r>
            <a:r>
              <a:rPr sz="900" spc="-114" dirty="0"/>
              <a:t> </a:t>
            </a:r>
            <a:r>
              <a:rPr sz="900" spc="-110" dirty="0"/>
              <a:t>각국의</a:t>
            </a:r>
            <a:r>
              <a:rPr sz="900" spc="-114" dirty="0"/>
              <a:t> </a:t>
            </a:r>
            <a:r>
              <a:rPr sz="900" spc="-110" dirty="0"/>
              <a:t>요구사양을</a:t>
            </a:r>
            <a:r>
              <a:rPr sz="900" spc="-125" dirty="0"/>
              <a:t> </a:t>
            </a:r>
            <a:r>
              <a:rPr sz="900" spc="-110" dirty="0"/>
              <a:t>충족하는</a:t>
            </a:r>
            <a:r>
              <a:rPr sz="900" spc="-130" dirty="0"/>
              <a:t> </a:t>
            </a:r>
            <a:r>
              <a:rPr sz="900" spc="-110" dirty="0"/>
              <a:t>맞춤형 자주포를</a:t>
            </a:r>
            <a:r>
              <a:rPr sz="900" spc="-125" dirty="0"/>
              <a:t> </a:t>
            </a:r>
            <a:r>
              <a:rPr sz="900" spc="-60" dirty="0"/>
              <a:t>개발,</a:t>
            </a:r>
            <a:r>
              <a:rPr sz="900" spc="-110" dirty="0"/>
              <a:t> 사막에서</a:t>
            </a:r>
            <a:r>
              <a:rPr sz="900" spc="-125" dirty="0"/>
              <a:t> </a:t>
            </a:r>
            <a:r>
              <a:rPr sz="900" spc="-110" dirty="0"/>
              <a:t>설원까지</a:t>
            </a:r>
            <a:r>
              <a:rPr sz="900" spc="-130" dirty="0"/>
              <a:t> </a:t>
            </a:r>
            <a:r>
              <a:rPr sz="900" spc="-25" dirty="0"/>
              <a:t>다양한 </a:t>
            </a:r>
            <a:r>
              <a:rPr sz="900" spc="-110" dirty="0"/>
              <a:t>작전환경에서</a:t>
            </a:r>
            <a:r>
              <a:rPr sz="900" spc="-135" dirty="0"/>
              <a:t> </a:t>
            </a:r>
            <a:r>
              <a:rPr sz="900" spc="-110" dirty="0"/>
              <a:t>운용이</a:t>
            </a:r>
            <a:r>
              <a:rPr sz="900" spc="-125" dirty="0"/>
              <a:t> </a:t>
            </a:r>
            <a:r>
              <a:rPr sz="900" spc="-80" dirty="0"/>
              <a:t>입증되어,</a:t>
            </a:r>
            <a:r>
              <a:rPr sz="900" spc="-114" dirty="0"/>
              <a:t> </a:t>
            </a:r>
            <a:r>
              <a:rPr sz="900" spc="-110" dirty="0"/>
              <a:t>국내를</a:t>
            </a:r>
            <a:r>
              <a:rPr sz="900" spc="-114" dirty="0"/>
              <a:t> </a:t>
            </a:r>
            <a:r>
              <a:rPr sz="900" spc="-105" dirty="0"/>
              <a:t>넘어</a:t>
            </a:r>
            <a:r>
              <a:rPr sz="900" spc="-114" dirty="0"/>
              <a:t> </a:t>
            </a:r>
            <a:r>
              <a:rPr sz="900" spc="-110" dirty="0"/>
              <a:t>해외로 수출되고</a:t>
            </a:r>
            <a:r>
              <a:rPr sz="900" spc="-125" dirty="0"/>
              <a:t> </a:t>
            </a:r>
            <a:r>
              <a:rPr sz="900" spc="-10" dirty="0"/>
              <a:t>있습니다.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08279" y="70866"/>
            <a:ext cx="19202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Malgun Gothic"/>
                <a:cs typeface="Malgun Gothic"/>
              </a:rPr>
              <a:t>APPENDIX</a:t>
            </a:r>
            <a:r>
              <a:rPr sz="1200" spc="-55" dirty="0">
                <a:latin typeface="Malgun Gothic"/>
                <a:cs typeface="Malgun Gothic"/>
              </a:rPr>
              <a:t> </a:t>
            </a:r>
            <a:r>
              <a:rPr sz="1200" spc="-210" dirty="0">
                <a:latin typeface="Malgun Gothic"/>
                <a:cs typeface="Malgun Gothic"/>
              </a:rPr>
              <a:t>&gt;</a:t>
            </a:r>
            <a:r>
              <a:rPr sz="1200" spc="-175" dirty="0">
                <a:latin typeface="Malgun Gothic"/>
                <a:cs typeface="Malgun Gothic"/>
              </a:rPr>
              <a:t> </a:t>
            </a:r>
            <a:r>
              <a:rPr sz="1200" spc="-135" dirty="0">
                <a:solidFill>
                  <a:srgbClr val="7E7E7E"/>
                </a:solidFill>
                <a:latin typeface="Malgun Gothic"/>
                <a:cs typeface="Malgun Gothic"/>
              </a:rPr>
              <a:t>투자</a:t>
            </a:r>
            <a:r>
              <a:rPr sz="1200" spc="-175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1200" spc="-140" dirty="0">
                <a:solidFill>
                  <a:srgbClr val="7E7E7E"/>
                </a:solidFill>
                <a:latin typeface="Malgun Gothic"/>
                <a:cs typeface="Malgun Gothic"/>
              </a:rPr>
              <a:t>및</a:t>
            </a:r>
            <a:r>
              <a:rPr sz="1200" spc="-180" dirty="0">
                <a:solidFill>
                  <a:srgbClr val="7E7E7E"/>
                </a:solidFill>
                <a:latin typeface="Malgun Gothic"/>
                <a:cs typeface="Malgun Gothic"/>
              </a:rPr>
              <a:t> </a:t>
            </a:r>
            <a:r>
              <a:rPr sz="1200" spc="-100" dirty="0">
                <a:solidFill>
                  <a:srgbClr val="7E7E7E"/>
                </a:solidFill>
                <a:latin typeface="Malgun Gothic"/>
                <a:cs typeface="Malgun Gothic"/>
              </a:rPr>
              <a:t>주주환원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907526" y="65988"/>
            <a:ext cx="27679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한화에어로스페이스</a:t>
            </a:r>
            <a:r>
              <a:rPr sz="1200" spc="-18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2026년</a:t>
            </a:r>
            <a:r>
              <a:rPr sz="1200" spc="-1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Malgun Gothic"/>
                <a:cs typeface="Malgun Gothic"/>
              </a:rPr>
              <a:t>2분기</a:t>
            </a:r>
            <a:r>
              <a:rPr sz="1200" spc="-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Malgun Gothic"/>
                <a:cs typeface="Malgun Gothic"/>
              </a:rPr>
              <a:t>실적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발표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44959" y="74422"/>
            <a:ext cx="1841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26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9244" y="2039111"/>
            <a:ext cx="4229100" cy="539750"/>
          </a:xfrm>
          <a:custGeom>
            <a:avLst/>
            <a:gdLst/>
            <a:ahLst/>
            <a:cxnLst/>
            <a:rect l="l" t="t" r="r" b="b"/>
            <a:pathLst>
              <a:path w="4229100" h="539750">
                <a:moveTo>
                  <a:pt x="0" y="539496"/>
                </a:moveTo>
                <a:lnTo>
                  <a:pt x="4229100" y="539496"/>
                </a:lnTo>
                <a:lnTo>
                  <a:pt x="4229100" y="0"/>
                </a:lnTo>
                <a:lnTo>
                  <a:pt x="0" y="0"/>
                </a:lnTo>
                <a:lnTo>
                  <a:pt x="0" y="539496"/>
                </a:lnTo>
                <a:close/>
              </a:path>
              <a:path w="4229100" h="539750">
                <a:moveTo>
                  <a:pt x="0" y="539496"/>
                </a:moveTo>
                <a:lnTo>
                  <a:pt x="800100" y="539496"/>
                </a:lnTo>
                <a:lnTo>
                  <a:pt x="800100" y="0"/>
                </a:lnTo>
                <a:lnTo>
                  <a:pt x="0" y="0"/>
                </a:lnTo>
                <a:lnTo>
                  <a:pt x="0" y="539496"/>
                </a:lnTo>
                <a:close/>
              </a:path>
            </a:pathLst>
          </a:custGeom>
          <a:ln w="6350">
            <a:solidFill>
              <a:srgbClr val="88BC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6069" y="2035936"/>
            <a:ext cx="806450" cy="546100"/>
          </a:xfrm>
          <a:prstGeom prst="rect">
            <a:avLst/>
          </a:prstGeom>
          <a:solidFill>
            <a:srgbClr val="88BCFA"/>
          </a:solidFill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1050"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</a:pPr>
            <a:r>
              <a:rPr sz="1050" b="1" spc="-20" dirty="0">
                <a:solidFill>
                  <a:srgbClr val="FFFFFF"/>
                </a:solidFill>
                <a:latin typeface="Malgun Gothic"/>
                <a:cs typeface="Malgun Gothic"/>
              </a:rPr>
              <a:t>주주환원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6927" y="2711195"/>
            <a:ext cx="5039995" cy="396240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6921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45"/>
              </a:spcBef>
            </a:pPr>
            <a:r>
              <a:rPr sz="1600" b="1" spc="-10" dirty="0">
                <a:latin typeface="Malgun Gothic"/>
                <a:cs typeface="Malgun Gothic"/>
              </a:rPr>
              <a:t>2025~2028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62229" y="1524000"/>
            <a:ext cx="5677535" cy="4904740"/>
            <a:chOff x="562229" y="1524000"/>
            <a:chExt cx="5677535" cy="490474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6795" y="1524000"/>
              <a:ext cx="632459" cy="490118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65404" y="2717291"/>
              <a:ext cx="5041900" cy="3708400"/>
            </a:xfrm>
            <a:custGeom>
              <a:avLst/>
              <a:gdLst/>
              <a:ahLst/>
              <a:cxnLst/>
              <a:rect l="l" t="t" r="r" b="b"/>
              <a:pathLst>
                <a:path w="5041900" h="3708400">
                  <a:moveTo>
                    <a:pt x="0" y="3707891"/>
                  </a:moveTo>
                  <a:lnTo>
                    <a:pt x="5041392" y="3707891"/>
                  </a:lnTo>
                  <a:lnTo>
                    <a:pt x="5041392" y="0"/>
                  </a:lnTo>
                  <a:lnTo>
                    <a:pt x="0" y="0"/>
                  </a:lnTo>
                  <a:lnTo>
                    <a:pt x="0" y="3707891"/>
                  </a:lnTo>
                  <a:close/>
                </a:path>
              </a:pathLst>
            </a:custGeom>
            <a:ln w="63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52373" y="1572869"/>
            <a:ext cx="4222115" cy="3943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155575" algn="l"/>
              </a:tabLst>
            </a:pPr>
            <a:r>
              <a:rPr sz="1100" spc="-60" dirty="0">
                <a:latin typeface="Malgun Gothic Semilight"/>
                <a:cs typeface="Malgun Gothic Semilight"/>
              </a:rPr>
              <a:t>’28년까지</a:t>
            </a:r>
            <a:r>
              <a:rPr sz="1100" spc="-50" dirty="0">
                <a:latin typeface="Malgun Gothic Semilight"/>
                <a:cs typeface="Malgun Gothic Semilight"/>
              </a:rPr>
              <a:t> 11조원</a:t>
            </a:r>
            <a:r>
              <a:rPr sz="1100" spc="-25" dirty="0">
                <a:latin typeface="Malgun Gothic Semilight"/>
                <a:cs typeface="Malgun Gothic Semilight"/>
              </a:rPr>
              <a:t> </a:t>
            </a:r>
            <a:r>
              <a:rPr sz="1100" spc="-155" dirty="0">
                <a:latin typeface="Malgun Gothic Semilight"/>
                <a:cs typeface="Malgun Gothic Semilight"/>
              </a:rPr>
              <a:t>이상을</a:t>
            </a:r>
            <a:r>
              <a:rPr sz="1100" spc="-50" dirty="0">
                <a:latin typeface="Malgun Gothic Semilight"/>
                <a:cs typeface="Malgun Gothic Semilight"/>
              </a:rPr>
              <a:t> </a:t>
            </a:r>
            <a:r>
              <a:rPr sz="1100" spc="-160" dirty="0">
                <a:latin typeface="Malgun Gothic Semilight"/>
                <a:cs typeface="Malgun Gothic Semilight"/>
              </a:rPr>
              <a:t>투자</a:t>
            </a:r>
            <a:r>
              <a:rPr sz="1100" spc="-20" dirty="0">
                <a:latin typeface="Malgun Gothic Semilight"/>
                <a:cs typeface="Malgun Gothic Semilight"/>
              </a:rPr>
              <a:t> </a:t>
            </a:r>
            <a:r>
              <a:rPr sz="1100" spc="-160" dirty="0">
                <a:latin typeface="Malgun Gothic Semilight"/>
                <a:cs typeface="Malgun Gothic Semilight"/>
              </a:rPr>
              <a:t>및</a:t>
            </a:r>
            <a:r>
              <a:rPr sz="1100" spc="-25" dirty="0">
                <a:latin typeface="Malgun Gothic Semilight"/>
                <a:cs typeface="Malgun Gothic Semilight"/>
              </a:rPr>
              <a:t> </a:t>
            </a:r>
            <a:r>
              <a:rPr sz="1100" spc="-150" dirty="0">
                <a:latin typeface="Malgun Gothic Semilight"/>
                <a:cs typeface="Malgun Gothic Semilight"/>
              </a:rPr>
              <a:t>연구개발에</a:t>
            </a:r>
            <a:r>
              <a:rPr sz="1100" spc="-65" dirty="0">
                <a:latin typeface="Malgun Gothic Semilight"/>
                <a:cs typeface="Malgun Gothic Semilight"/>
              </a:rPr>
              <a:t> </a:t>
            </a:r>
            <a:r>
              <a:rPr sz="1100" spc="-155" dirty="0">
                <a:latin typeface="Malgun Gothic Semilight"/>
                <a:cs typeface="Malgun Gothic Semilight"/>
              </a:rPr>
              <a:t>집중하여</a:t>
            </a:r>
            <a:r>
              <a:rPr sz="1100" spc="-60" dirty="0">
                <a:latin typeface="Malgun Gothic Semilight"/>
                <a:cs typeface="Malgun Gothic Semilight"/>
              </a:rPr>
              <a:t> </a:t>
            </a:r>
            <a:r>
              <a:rPr sz="1100" spc="-160" dirty="0">
                <a:latin typeface="Malgun Gothic Semilight"/>
                <a:cs typeface="Malgun Gothic Semilight"/>
              </a:rPr>
              <a:t>미래</a:t>
            </a:r>
            <a:r>
              <a:rPr sz="1100" spc="-35" dirty="0">
                <a:latin typeface="Malgun Gothic Semilight"/>
                <a:cs typeface="Malgun Gothic Semilight"/>
              </a:rPr>
              <a:t> </a:t>
            </a:r>
            <a:r>
              <a:rPr sz="1100" spc="-160" dirty="0">
                <a:latin typeface="Malgun Gothic Semilight"/>
                <a:cs typeface="Malgun Gothic Semilight"/>
              </a:rPr>
              <a:t>성장</a:t>
            </a:r>
            <a:r>
              <a:rPr sz="1100" spc="-25" dirty="0">
                <a:latin typeface="Malgun Gothic Semilight"/>
                <a:cs typeface="Malgun Gothic Semilight"/>
              </a:rPr>
              <a:t> </a:t>
            </a:r>
            <a:r>
              <a:rPr sz="1100" spc="-160" dirty="0">
                <a:latin typeface="Malgun Gothic Semilight"/>
                <a:cs typeface="Malgun Gothic Semilight"/>
              </a:rPr>
              <a:t>동력</a:t>
            </a:r>
            <a:r>
              <a:rPr sz="1100" spc="-40" dirty="0">
                <a:latin typeface="Malgun Gothic Semilight"/>
                <a:cs typeface="Malgun Gothic Semilight"/>
              </a:rPr>
              <a:t> </a:t>
            </a:r>
            <a:r>
              <a:rPr sz="1100" spc="-25" dirty="0">
                <a:latin typeface="Malgun Gothic Semilight"/>
                <a:cs typeface="Malgun Gothic Semilight"/>
              </a:rPr>
              <a:t>확보</a:t>
            </a:r>
            <a:endParaRPr sz="1100">
              <a:latin typeface="Malgun Gothic Semilight"/>
              <a:cs typeface="Malgun Gothic Semilight"/>
            </a:endParaRPr>
          </a:p>
          <a:p>
            <a:pPr marL="155575" indent="-142875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155575" algn="l"/>
              </a:tabLst>
            </a:pPr>
            <a:r>
              <a:rPr sz="1100" spc="-155" dirty="0">
                <a:latin typeface="Malgun Gothic Semilight"/>
                <a:cs typeface="Malgun Gothic Semilight"/>
              </a:rPr>
              <a:t>장기적인</a:t>
            </a:r>
            <a:r>
              <a:rPr sz="1100" spc="-55" dirty="0">
                <a:latin typeface="Malgun Gothic Semilight"/>
                <a:cs typeface="Malgun Gothic Semilight"/>
              </a:rPr>
              <a:t> </a:t>
            </a:r>
            <a:r>
              <a:rPr sz="1100" spc="-160" dirty="0">
                <a:latin typeface="Malgun Gothic Semilight"/>
                <a:cs typeface="Malgun Gothic Semilight"/>
              </a:rPr>
              <a:t>관점에서</a:t>
            </a:r>
            <a:r>
              <a:rPr sz="1100" spc="-60" dirty="0">
                <a:latin typeface="Malgun Gothic Semilight"/>
                <a:cs typeface="Malgun Gothic Semilight"/>
              </a:rPr>
              <a:t> </a:t>
            </a:r>
            <a:r>
              <a:rPr sz="1100" spc="-155" dirty="0">
                <a:latin typeface="Malgun Gothic Semilight"/>
                <a:cs typeface="Malgun Gothic Semilight"/>
              </a:rPr>
              <a:t>사업성장</a:t>
            </a:r>
            <a:r>
              <a:rPr sz="1100" spc="-45" dirty="0">
                <a:latin typeface="Malgun Gothic Semilight"/>
                <a:cs typeface="Malgun Gothic Semilight"/>
              </a:rPr>
              <a:t> </a:t>
            </a:r>
            <a:r>
              <a:rPr sz="1100" spc="-160" dirty="0">
                <a:latin typeface="Malgun Gothic Semilight"/>
                <a:cs typeface="Malgun Gothic Semilight"/>
              </a:rPr>
              <a:t>대비</a:t>
            </a:r>
            <a:r>
              <a:rPr sz="1100" spc="-30" dirty="0">
                <a:latin typeface="Malgun Gothic Semilight"/>
                <a:cs typeface="Malgun Gothic Semilight"/>
              </a:rPr>
              <a:t> </a:t>
            </a:r>
            <a:r>
              <a:rPr sz="1100" spc="-155" dirty="0">
                <a:latin typeface="Malgun Gothic Semilight"/>
                <a:cs typeface="Malgun Gothic Semilight"/>
              </a:rPr>
              <a:t>주주환원</a:t>
            </a:r>
            <a:r>
              <a:rPr sz="1100" spc="-45" dirty="0">
                <a:latin typeface="Malgun Gothic Semilight"/>
                <a:cs typeface="Malgun Gothic Semilight"/>
              </a:rPr>
              <a:t> </a:t>
            </a:r>
            <a:r>
              <a:rPr sz="1100" spc="-160" dirty="0">
                <a:latin typeface="Malgun Gothic Semilight"/>
                <a:cs typeface="Malgun Gothic Semilight"/>
              </a:rPr>
              <a:t>규모</a:t>
            </a:r>
            <a:r>
              <a:rPr sz="1100" spc="-30" dirty="0">
                <a:latin typeface="Malgun Gothic Semilight"/>
                <a:cs typeface="Malgun Gothic Semilight"/>
              </a:rPr>
              <a:t> </a:t>
            </a:r>
            <a:r>
              <a:rPr sz="1100" spc="-25" dirty="0">
                <a:latin typeface="Malgun Gothic Semilight"/>
                <a:cs typeface="Malgun Gothic Semilight"/>
              </a:rPr>
              <a:t>확대</a:t>
            </a:r>
            <a:endParaRPr sz="1100">
              <a:latin typeface="Malgun Gothic Semilight"/>
              <a:cs typeface="Malgun Gothic Semiligh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248400" y="1524000"/>
            <a:ext cx="5396865" cy="396240"/>
          </a:xfrm>
          <a:custGeom>
            <a:avLst/>
            <a:gdLst/>
            <a:ahLst/>
            <a:cxnLst/>
            <a:rect l="l" t="t" r="r" b="b"/>
            <a:pathLst>
              <a:path w="5396865" h="396239">
                <a:moveTo>
                  <a:pt x="5396484" y="0"/>
                </a:moveTo>
                <a:lnTo>
                  <a:pt x="0" y="0"/>
                </a:lnTo>
                <a:lnTo>
                  <a:pt x="0" y="396239"/>
                </a:lnTo>
                <a:lnTo>
                  <a:pt x="5396484" y="396239"/>
                </a:lnTo>
                <a:lnTo>
                  <a:pt x="5396484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370823" y="1580515"/>
            <a:ext cx="1158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2029~2035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8146" y="3260598"/>
            <a:ext cx="13328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3600" algn="l"/>
              </a:tabLst>
            </a:pPr>
            <a:r>
              <a:rPr sz="1000" b="1" spc="-160" dirty="0">
                <a:latin typeface="Malgun Gothic"/>
                <a:cs typeface="Malgun Gothic"/>
              </a:rPr>
              <a:t>현금</a:t>
            </a:r>
            <a:r>
              <a:rPr sz="1000" b="1" spc="-130" dirty="0">
                <a:latin typeface="Malgun Gothic"/>
                <a:cs typeface="Malgun Gothic"/>
              </a:rPr>
              <a:t> </a:t>
            </a:r>
            <a:r>
              <a:rPr sz="1000" b="1" spc="-25" dirty="0">
                <a:latin typeface="Malgun Gothic"/>
                <a:cs typeface="Malgun Gothic"/>
              </a:rPr>
              <a:t>유입</a:t>
            </a:r>
            <a:r>
              <a:rPr sz="1000" b="1" dirty="0">
                <a:latin typeface="Malgun Gothic"/>
                <a:cs typeface="Malgun Gothic"/>
              </a:rPr>
              <a:t>	</a:t>
            </a:r>
            <a:r>
              <a:rPr sz="1000" b="1" spc="-160" dirty="0">
                <a:latin typeface="Malgun Gothic"/>
                <a:cs typeface="Malgun Gothic"/>
              </a:rPr>
              <a:t>현금</a:t>
            </a:r>
            <a:r>
              <a:rPr sz="1000" b="1" spc="-140" dirty="0">
                <a:latin typeface="Malgun Gothic"/>
                <a:cs typeface="Malgun Gothic"/>
              </a:rPr>
              <a:t> </a:t>
            </a:r>
            <a:r>
              <a:rPr sz="1000" b="1" spc="-135" dirty="0">
                <a:latin typeface="Malgun Gothic"/>
                <a:cs typeface="Malgun Gothic"/>
              </a:rPr>
              <a:t>유출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9244" y="3493008"/>
            <a:ext cx="800100" cy="1344295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1100">
              <a:latin typeface="Times New Roman"/>
              <a:cs typeface="Times New Roman"/>
            </a:endParaRPr>
          </a:p>
          <a:p>
            <a:pPr marL="154940" marR="149225" indent="121920">
              <a:lnSpc>
                <a:spcPct val="120000"/>
              </a:lnSpc>
              <a:spcBef>
                <a:spcPts val="5"/>
              </a:spcBef>
            </a:pPr>
            <a:r>
              <a:rPr sz="1100" b="1" spc="-25" dirty="0">
                <a:solidFill>
                  <a:srgbClr val="7E7E7E"/>
                </a:solidFill>
                <a:latin typeface="Malgun Gothic"/>
                <a:cs typeface="Malgun Gothic"/>
              </a:rPr>
              <a:t>영업 </a:t>
            </a:r>
            <a:r>
              <a:rPr sz="1100" b="1" spc="-155" dirty="0">
                <a:solidFill>
                  <a:srgbClr val="7E7E7E"/>
                </a:solidFill>
                <a:latin typeface="Malgun Gothic"/>
                <a:cs typeface="Malgun Gothic"/>
              </a:rPr>
              <a:t>현금흐름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61160" y="3493008"/>
            <a:ext cx="798830" cy="1018540"/>
          </a:xfrm>
          <a:prstGeom prst="rect">
            <a:avLst/>
          </a:prstGeom>
          <a:solidFill>
            <a:srgbClr val="88BC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100">
              <a:latin typeface="Times New Roman"/>
              <a:cs typeface="Times New Roman"/>
            </a:endParaRPr>
          </a:p>
          <a:p>
            <a:pPr marL="154940">
              <a:lnSpc>
                <a:spcPct val="100000"/>
              </a:lnSpc>
            </a:pPr>
            <a:r>
              <a:rPr sz="1100" b="1" spc="-20" dirty="0">
                <a:latin typeface="Malgun Gothic"/>
                <a:cs typeface="Malgun Gothic"/>
              </a:rPr>
              <a:t>주주환원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97810" y="3376625"/>
            <a:ext cx="2543810" cy="85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780D"/>
                </a:solidFill>
                <a:latin typeface="Malgun Gothic"/>
                <a:cs typeface="Malgun Gothic"/>
              </a:rPr>
              <a:t>’24년</a:t>
            </a:r>
            <a:r>
              <a:rPr sz="1200" b="1" spc="-160" dirty="0">
                <a:solidFill>
                  <a:srgbClr val="FF780D"/>
                </a:solidFill>
                <a:latin typeface="Malgun Gothic"/>
                <a:cs typeface="Malgun Gothic"/>
              </a:rPr>
              <a:t> </a:t>
            </a:r>
            <a:r>
              <a:rPr sz="1200" b="1" spc="-200" dirty="0">
                <a:solidFill>
                  <a:srgbClr val="FF780D"/>
                </a:solidFill>
                <a:latin typeface="Malgun Gothic"/>
                <a:cs typeface="Malgun Gothic"/>
              </a:rPr>
              <a:t>배당금</a:t>
            </a:r>
            <a:r>
              <a:rPr sz="1200" b="1" spc="-145" dirty="0">
                <a:solidFill>
                  <a:srgbClr val="FF780D"/>
                </a:solidFill>
                <a:latin typeface="Malgun Gothic"/>
                <a:cs typeface="Malgun Gothic"/>
              </a:rPr>
              <a:t> </a:t>
            </a:r>
            <a:r>
              <a:rPr sz="1200" b="1" spc="-195" dirty="0">
                <a:solidFill>
                  <a:srgbClr val="FF780D"/>
                </a:solidFill>
                <a:latin typeface="Malgun Gothic"/>
                <a:cs typeface="Malgun Gothic"/>
              </a:rPr>
              <a:t>이상</a:t>
            </a:r>
            <a:r>
              <a:rPr sz="1200" b="1" spc="-155" dirty="0">
                <a:solidFill>
                  <a:srgbClr val="FF780D"/>
                </a:solidFill>
                <a:latin typeface="Malgun Gothic"/>
                <a:cs typeface="Malgun Gothic"/>
              </a:rPr>
              <a:t> </a:t>
            </a:r>
            <a:r>
              <a:rPr sz="1200" b="1" spc="-195" dirty="0">
                <a:solidFill>
                  <a:srgbClr val="FF780D"/>
                </a:solidFill>
                <a:latin typeface="Malgun Gothic"/>
                <a:cs typeface="Malgun Gothic"/>
              </a:rPr>
              <a:t>지급</a:t>
            </a:r>
            <a:r>
              <a:rPr sz="1200" b="1" spc="-170" dirty="0">
                <a:solidFill>
                  <a:srgbClr val="FF780D"/>
                </a:solidFill>
                <a:latin typeface="Malgun Gothic"/>
                <a:cs typeface="Malgun Gothic"/>
              </a:rPr>
              <a:t> </a:t>
            </a:r>
            <a:r>
              <a:rPr sz="1200" b="1" spc="-175" dirty="0">
                <a:solidFill>
                  <a:srgbClr val="FF780D"/>
                </a:solidFill>
                <a:latin typeface="Malgun Gothic"/>
                <a:cs typeface="Malgun Gothic"/>
              </a:rPr>
              <a:t>및</a:t>
            </a:r>
            <a:r>
              <a:rPr sz="1200" b="1" spc="-170" dirty="0">
                <a:solidFill>
                  <a:srgbClr val="FF780D"/>
                </a:solidFill>
                <a:latin typeface="Malgun Gothic"/>
                <a:cs typeface="Malgun Gothic"/>
              </a:rPr>
              <a:t> </a:t>
            </a:r>
            <a:r>
              <a:rPr sz="1200" b="1" spc="-195" dirty="0">
                <a:solidFill>
                  <a:srgbClr val="FF780D"/>
                </a:solidFill>
                <a:latin typeface="Malgun Gothic"/>
                <a:cs typeface="Malgun Gothic"/>
              </a:rPr>
              <a:t>예측</a:t>
            </a:r>
            <a:r>
              <a:rPr sz="1200" b="1" spc="-160" dirty="0">
                <a:solidFill>
                  <a:srgbClr val="FF780D"/>
                </a:solidFill>
                <a:latin typeface="Malgun Gothic"/>
                <a:cs typeface="Malgun Gothic"/>
              </a:rPr>
              <a:t> </a:t>
            </a:r>
            <a:r>
              <a:rPr sz="1200" b="1" spc="-200" dirty="0">
                <a:solidFill>
                  <a:srgbClr val="FF780D"/>
                </a:solidFill>
                <a:latin typeface="Malgun Gothic"/>
                <a:cs typeface="Malgun Gothic"/>
              </a:rPr>
              <a:t>가능성</a:t>
            </a:r>
            <a:r>
              <a:rPr sz="1200" b="1" spc="-140" dirty="0">
                <a:solidFill>
                  <a:srgbClr val="FF780D"/>
                </a:solidFill>
                <a:latin typeface="Malgun Gothic"/>
                <a:cs typeface="Malgun Gothic"/>
              </a:rPr>
              <a:t> </a:t>
            </a:r>
            <a:r>
              <a:rPr sz="1200" b="1" spc="-100" dirty="0">
                <a:solidFill>
                  <a:srgbClr val="FF780D"/>
                </a:solidFill>
                <a:latin typeface="Malgun Gothic"/>
                <a:cs typeface="Malgun Gothic"/>
              </a:rPr>
              <a:t>제고</a:t>
            </a:r>
            <a:endParaRPr sz="1200">
              <a:latin typeface="Malgun Gothic"/>
              <a:cs typeface="Malgun Gothic"/>
            </a:endParaRPr>
          </a:p>
          <a:p>
            <a:pPr marL="118110" marR="593090" indent="-106045">
              <a:lnSpc>
                <a:spcPct val="120000"/>
              </a:lnSpc>
              <a:spcBef>
                <a:spcPts val="615"/>
              </a:spcBef>
              <a:buFont typeface="Arial"/>
              <a:buChar char="•"/>
              <a:tabLst>
                <a:tab pos="120650" algn="l"/>
              </a:tabLst>
            </a:pPr>
            <a:r>
              <a:rPr sz="1050" spc="-165" dirty="0">
                <a:solidFill>
                  <a:srgbClr val="252525"/>
                </a:solidFill>
                <a:latin typeface="Malgun Gothic"/>
                <a:cs typeface="Malgun Gothic"/>
              </a:rPr>
              <a:t>투자</a:t>
            </a:r>
            <a:r>
              <a:rPr sz="1050" spc="-13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65" dirty="0">
                <a:solidFill>
                  <a:srgbClr val="252525"/>
                </a:solidFill>
                <a:latin typeface="Malgun Gothic"/>
                <a:cs typeface="Malgun Gothic"/>
              </a:rPr>
              <a:t>실적</a:t>
            </a:r>
            <a:r>
              <a:rPr sz="1050" spc="-12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55" dirty="0">
                <a:solidFill>
                  <a:srgbClr val="252525"/>
                </a:solidFill>
                <a:latin typeface="Malgun Gothic"/>
                <a:cs typeface="Malgun Gothic"/>
              </a:rPr>
              <a:t>및</a:t>
            </a:r>
            <a:r>
              <a:rPr sz="1050" spc="-13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75" dirty="0">
                <a:solidFill>
                  <a:srgbClr val="252525"/>
                </a:solidFill>
                <a:latin typeface="Malgun Gothic"/>
                <a:cs typeface="Malgun Gothic"/>
              </a:rPr>
              <a:t>잉여현금흐름을</a:t>
            </a:r>
            <a:r>
              <a:rPr sz="1050" spc="-9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40" dirty="0">
                <a:solidFill>
                  <a:srgbClr val="252525"/>
                </a:solidFill>
                <a:latin typeface="Malgun Gothic"/>
                <a:cs typeface="Malgun Gothic"/>
              </a:rPr>
              <a:t>고려한 	</a:t>
            </a:r>
            <a:r>
              <a:rPr sz="1050" spc="-175" dirty="0">
                <a:solidFill>
                  <a:srgbClr val="252525"/>
                </a:solidFill>
                <a:latin typeface="Malgun Gothic"/>
                <a:cs typeface="Malgun Gothic"/>
              </a:rPr>
              <a:t>안정적인</a:t>
            </a:r>
            <a:r>
              <a:rPr sz="1050" spc="-9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75" dirty="0">
                <a:solidFill>
                  <a:srgbClr val="252525"/>
                </a:solidFill>
                <a:latin typeface="Malgun Gothic"/>
                <a:cs typeface="Malgun Gothic"/>
              </a:rPr>
              <a:t>주주환원</a:t>
            </a:r>
            <a:r>
              <a:rPr sz="1050" spc="-1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252525"/>
                </a:solidFill>
                <a:latin typeface="Malgun Gothic"/>
                <a:cs typeface="Malgun Gothic"/>
              </a:rPr>
              <a:t>시행</a:t>
            </a:r>
            <a:endParaRPr sz="1050">
              <a:latin typeface="Malgun Gothic"/>
              <a:cs typeface="Malgun Gothic"/>
            </a:endParaRPr>
          </a:p>
          <a:p>
            <a:pPr marL="118745" indent="-106045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118745" algn="l"/>
              </a:tabLst>
            </a:pPr>
            <a:r>
              <a:rPr sz="1050" b="1" spc="-45" dirty="0">
                <a:solidFill>
                  <a:srgbClr val="252525"/>
                </a:solidFill>
                <a:latin typeface="Malgun Gothic"/>
                <a:cs typeface="Malgun Gothic"/>
              </a:rPr>
              <a:t>’24년</a:t>
            </a:r>
            <a:r>
              <a:rPr sz="1050" b="1" spc="-17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b="1" spc="-25" dirty="0">
                <a:solidFill>
                  <a:srgbClr val="252525"/>
                </a:solidFill>
                <a:latin typeface="Malgun Gothic"/>
                <a:cs typeface="Malgun Gothic"/>
              </a:rPr>
              <a:t>DPS</a:t>
            </a:r>
            <a:r>
              <a:rPr sz="1050" b="1" spc="-19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b="1" spc="-10" dirty="0">
                <a:solidFill>
                  <a:srgbClr val="252525"/>
                </a:solidFill>
                <a:latin typeface="Malgun Gothic"/>
                <a:cs typeface="Malgun Gothic"/>
              </a:rPr>
              <a:t>3,500원</a:t>
            </a:r>
            <a:r>
              <a:rPr sz="1050" b="1" spc="-15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b="1" spc="-170" dirty="0">
                <a:solidFill>
                  <a:srgbClr val="252525"/>
                </a:solidFill>
                <a:latin typeface="Malgun Gothic"/>
                <a:cs typeface="Malgun Gothic"/>
              </a:rPr>
              <a:t>이상 </a:t>
            </a:r>
            <a:r>
              <a:rPr sz="1050" b="1" spc="-175" dirty="0">
                <a:solidFill>
                  <a:srgbClr val="252525"/>
                </a:solidFill>
                <a:latin typeface="Malgun Gothic"/>
                <a:cs typeface="Malgun Gothic"/>
              </a:rPr>
              <a:t>배당 </a:t>
            </a:r>
            <a:r>
              <a:rPr sz="1050" b="1" spc="-25" dirty="0">
                <a:solidFill>
                  <a:srgbClr val="252525"/>
                </a:solidFill>
                <a:latin typeface="Malgun Gothic"/>
                <a:cs typeface="Malgun Gothic"/>
              </a:rPr>
              <a:t>시행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09244" y="4879847"/>
            <a:ext cx="800100" cy="626745"/>
          </a:xfrm>
          <a:custGeom>
            <a:avLst/>
            <a:gdLst/>
            <a:ahLst/>
            <a:cxnLst/>
            <a:rect l="l" t="t" r="r" b="b"/>
            <a:pathLst>
              <a:path w="800100" h="626745">
                <a:moveTo>
                  <a:pt x="0" y="626363"/>
                </a:moveTo>
                <a:lnTo>
                  <a:pt x="800100" y="626363"/>
                </a:lnTo>
                <a:lnTo>
                  <a:pt x="800100" y="0"/>
                </a:lnTo>
                <a:lnTo>
                  <a:pt x="0" y="0"/>
                </a:lnTo>
                <a:lnTo>
                  <a:pt x="0" y="626363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2419" y="5091176"/>
            <a:ext cx="7969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725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latin typeface="Malgun Gothic"/>
                <a:cs typeface="Malgun Gothic"/>
              </a:rPr>
              <a:t>순차입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09244" y="5550408"/>
            <a:ext cx="800100" cy="661670"/>
          </a:xfrm>
          <a:custGeom>
            <a:avLst/>
            <a:gdLst/>
            <a:ahLst/>
            <a:cxnLst/>
            <a:rect l="l" t="t" r="r" b="b"/>
            <a:pathLst>
              <a:path w="800100" h="661670">
                <a:moveTo>
                  <a:pt x="0" y="661416"/>
                </a:moveTo>
                <a:lnTo>
                  <a:pt x="800100" y="661416"/>
                </a:lnTo>
                <a:lnTo>
                  <a:pt x="800100" y="0"/>
                </a:lnTo>
                <a:lnTo>
                  <a:pt x="0" y="0"/>
                </a:lnTo>
                <a:lnTo>
                  <a:pt x="0" y="66141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12419" y="5779414"/>
            <a:ext cx="7969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latin typeface="Malgun Gothic"/>
                <a:cs typeface="Malgun Gothic"/>
              </a:rPr>
              <a:t>유상증자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61160" y="4511040"/>
            <a:ext cx="798830" cy="1701164"/>
          </a:xfrm>
          <a:prstGeom prst="rect">
            <a:avLst/>
          </a:prstGeom>
          <a:solidFill>
            <a:srgbClr val="C6DFF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100">
              <a:latin typeface="Times New Roman"/>
              <a:cs typeface="Times New Roman"/>
            </a:endParaRPr>
          </a:p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z="1100" b="1" spc="-114" dirty="0">
                <a:latin typeface="Malgun Gothic"/>
                <a:cs typeface="Malgun Gothic"/>
              </a:rPr>
              <a:t>미래전략투자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692780" y="4369180"/>
            <a:ext cx="2626995" cy="1812289"/>
            <a:chOff x="2692780" y="4369180"/>
            <a:chExt cx="2626995" cy="1812289"/>
          </a:xfrm>
        </p:grpSpPr>
        <p:sp>
          <p:nvSpPr>
            <p:cNvPr id="23" name="object 23"/>
            <p:cNvSpPr/>
            <p:nvPr/>
          </p:nvSpPr>
          <p:spPr>
            <a:xfrm>
              <a:off x="2695955" y="4372355"/>
              <a:ext cx="2620645" cy="0"/>
            </a:xfrm>
            <a:custGeom>
              <a:avLst/>
              <a:gdLst/>
              <a:ahLst/>
              <a:cxnLst/>
              <a:rect l="l" t="t" r="r" b="b"/>
              <a:pathLst>
                <a:path w="2620645">
                  <a:moveTo>
                    <a:pt x="0" y="0"/>
                  </a:moveTo>
                  <a:lnTo>
                    <a:pt x="2620645" y="0"/>
                  </a:lnTo>
                </a:path>
              </a:pathLst>
            </a:custGeom>
            <a:ln w="635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52343" y="4764023"/>
              <a:ext cx="2506980" cy="1127760"/>
            </a:xfrm>
            <a:custGeom>
              <a:avLst/>
              <a:gdLst/>
              <a:ahLst/>
              <a:cxnLst/>
              <a:rect l="l" t="t" r="r" b="b"/>
              <a:pathLst>
                <a:path w="2506979" h="1127760">
                  <a:moveTo>
                    <a:pt x="0" y="127253"/>
                  </a:moveTo>
                  <a:lnTo>
                    <a:pt x="10007" y="77741"/>
                  </a:lnTo>
                  <a:lnTo>
                    <a:pt x="37290" y="37290"/>
                  </a:lnTo>
                  <a:lnTo>
                    <a:pt x="77741" y="10007"/>
                  </a:lnTo>
                  <a:lnTo>
                    <a:pt x="127254" y="0"/>
                  </a:lnTo>
                  <a:lnTo>
                    <a:pt x="2379726" y="0"/>
                  </a:lnTo>
                  <a:lnTo>
                    <a:pt x="2429238" y="10007"/>
                  </a:lnTo>
                  <a:lnTo>
                    <a:pt x="2469689" y="37290"/>
                  </a:lnTo>
                  <a:lnTo>
                    <a:pt x="2496972" y="77741"/>
                  </a:lnTo>
                  <a:lnTo>
                    <a:pt x="2506980" y="127253"/>
                  </a:lnTo>
                  <a:lnTo>
                    <a:pt x="2496972" y="176766"/>
                  </a:lnTo>
                  <a:lnTo>
                    <a:pt x="2469689" y="217217"/>
                  </a:lnTo>
                  <a:lnTo>
                    <a:pt x="2429238" y="244500"/>
                  </a:lnTo>
                  <a:lnTo>
                    <a:pt x="2379726" y="254507"/>
                  </a:lnTo>
                  <a:lnTo>
                    <a:pt x="127254" y="254507"/>
                  </a:lnTo>
                  <a:lnTo>
                    <a:pt x="77741" y="244500"/>
                  </a:lnTo>
                  <a:lnTo>
                    <a:pt x="37290" y="217217"/>
                  </a:lnTo>
                  <a:lnTo>
                    <a:pt x="10007" y="176766"/>
                  </a:lnTo>
                  <a:lnTo>
                    <a:pt x="0" y="127253"/>
                  </a:lnTo>
                  <a:close/>
                </a:path>
                <a:path w="2506979" h="1127760">
                  <a:moveTo>
                    <a:pt x="0" y="417575"/>
                  </a:moveTo>
                  <a:lnTo>
                    <a:pt x="10054" y="367730"/>
                  </a:lnTo>
                  <a:lnTo>
                    <a:pt x="37480" y="327040"/>
                  </a:lnTo>
                  <a:lnTo>
                    <a:pt x="78170" y="299614"/>
                  </a:lnTo>
                  <a:lnTo>
                    <a:pt x="128016" y="289559"/>
                  </a:lnTo>
                  <a:lnTo>
                    <a:pt x="2378964" y="289559"/>
                  </a:lnTo>
                  <a:lnTo>
                    <a:pt x="2428809" y="299614"/>
                  </a:lnTo>
                  <a:lnTo>
                    <a:pt x="2469499" y="327040"/>
                  </a:lnTo>
                  <a:lnTo>
                    <a:pt x="2496925" y="367730"/>
                  </a:lnTo>
                  <a:lnTo>
                    <a:pt x="2506980" y="417575"/>
                  </a:lnTo>
                  <a:lnTo>
                    <a:pt x="2496925" y="467421"/>
                  </a:lnTo>
                  <a:lnTo>
                    <a:pt x="2469499" y="508111"/>
                  </a:lnTo>
                  <a:lnTo>
                    <a:pt x="2428809" y="535537"/>
                  </a:lnTo>
                  <a:lnTo>
                    <a:pt x="2378964" y="545591"/>
                  </a:lnTo>
                  <a:lnTo>
                    <a:pt x="128016" y="545591"/>
                  </a:lnTo>
                  <a:lnTo>
                    <a:pt x="78170" y="535537"/>
                  </a:lnTo>
                  <a:lnTo>
                    <a:pt x="37480" y="508111"/>
                  </a:lnTo>
                  <a:lnTo>
                    <a:pt x="10054" y="467421"/>
                  </a:lnTo>
                  <a:lnTo>
                    <a:pt x="0" y="417575"/>
                  </a:lnTo>
                  <a:close/>
                </a:path>
                <a:path w="2506979" h="1127760">
                  <a:moveTo>
                    <a:pt x="0" y="708660"/>
                  </a:moveTo>
                  <a:lnTo>
                    <a:pt x="10054" y="658814"/>
                  </a:lnTo>
                  <a:lnTo>
                    <a:pt x="37480" y="618124"/>
                  </a:lnTo>
                  <a:lnTo>
                    <a:pt x="78170" y="590698"/>
                  </a:lnTo>
                  <a:lnTo>
                    <a:pt x="128016" y="580644"/>
                  </a:lnTo>
                  <a:lnTo>
                    <a:pt x="2378964" y="580644"/>
                  </a:lnTo>
                  <a:lnTo>
                    <a:pt x="2428809" y="590698"/>
                  </a:lnTo>
                  <a:lnTo>
                    <a:pt x="2469499" y="618124"/>
                  </a:lnTo>
                  <a:lnTo>
                    <a:pt x="2496925" y="658814"/>
                  </a:lnTo>
                  <a:lnTo>
                    <a:pt x="2506980" y="708660"/>
                  </a:lnTo>
                  <a:lnTo>
                    <a:pt x="2496925" y="758505"/>
                  </a:lnTo>
                  <a:lnTo>
                    <a:pt x="2469499" y="799195"/>
                  </a:lnTo>
                  <a:lnTo>
                    <a:pt x="2428809" y="826621"/>
                  </a:lnTo>
                  <a:lnTo>
                    <a:pt x="2378964" y="836676"/>
                  </a:lnTo>
                  <a:lnTo>
                    <a:pt x="128016" y="836676"/>
                  </a:lnTo>
                  <a:lnTo>
                    <a:pt x="78170" y="826621"/>
                  </a:lnTo>
                  <a:lnTo>
                    <a:pt x="37480" y="799195"/>
                  </a:lnTo>
                  <a:lnTo>
                    <a:pt x="10054" y="758505"/>
                  </a:lnTo>
                  <a:lnTo>
                    <a:pt x="0" y="708660"/>
                  </a:lnTo>
                  <a:close/>
                </a:path>
                <a:path w="2506979" h="1127760">
                  <a:moveTo>
                    <a:pt x="0" y="999744"/>
                  </a:moveTo>
                  <a:lnTo>
                    <a:pt x="10054" y="949914"/>
                  </a:lnTo>
                  <a:lnTo>
                    <a:pt x="37480" y="909223"/>
                  </a:lnTo>
                  <a:lnTo>
                    <a:pt x="78170" y="881788"/>
                  </a:lnTo>
                  <a:lnTo>
                    <a:pt x="128016" y="871728"/>
                  </a:lnTo>
                  <a:lnTo>
                    <a:pt x="2378964" y="871728"/>
                  </a:lnTo>
                  <a:lnTo>
                    <a:pt x="2428809" y="881788"/>
                  </a:lnTo>
                  <a:lnTo>
                    <a:pt x="2469499" y="909223"/>
                  </a:lnTo>
                  <a:lnTo>
                    <a:pt x="2496925" y="949914"/>
                  </a:lnTo>
                  <a:lnTo>
                    <a:pt x="2506980" y="999744"/>
                  </a:lnTo>
                  <a:lnTo>
                    <a:pt x="2496925" y="1049573"/>
                  </a:lnTo>
                  <a:lnTo>
                    <a:pt x="2469499" y="1090264"/>
                  </a:lnTo>
                  <a:lnTo>
                    <a:pt x="2428809" y="1117699"/>
                  </a:lnTo>
                  <a:lnTo>
                    <a:pt x="2378964" y="1127760"/>
                  </a:lnTo>
                  <a:lnTo>
                    <a:pt x="128016" y="1127760"/>
                  </a:lnTo>
                  <a:lnTo>
                    <a:pt x="78170" y="1117699"/>
                  </a:lnTo>
                  <a:lnTo>
                    <a:pt x="37480" y="1090264"/>
                  </a:lnTo>
                  <a:lnTo>
                    <a:pt x="10054" y="1049573"/>
                  </a:lnTo>
                  <a:lnTo>
                    <a:pt x="0" y="999744"/>
                  </a:lnTo>
                  <a:close/>
                </a:path>
              </a:pathLst>
            </a:custGeom>
            <a:ln w="6350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52343" y="5922263"/>
              <a:ext cx="2506980" cy="256540"/>
            </a:xfrm>
            <a:custGeom>
              <a:avLst/>
              <a:gdLst/>
              <a:ahLst/>
              <a:cxnLst/>
              <a:rect l="l" t="t" r="r" b="b"/>
              <a:pathLst>
                <a:path w="2506979" h="256539">
                  <a:moveTo>
                    <a:pt x="0" y="128016"/>
                  </a:moveTo>
                  <a:lnTo>
                    <a:pt x="10054" y="78186"/>
                  </a:lnTo>
                  <a:lnTo>
                    <a:pt x="37480" y="37495"/>
                  </a:lnTo>
                  <a:lnTo>
                    <a:pt x="78170" y="10060"/>
                  </a:lnTo>
                  <a:lnTo>
                    <a:pt x="128016" y="0"/>
                  </a:lnTo>
                  <a:lnTo>
                    <a:pt x="2378964" y="0"/>
                  </a:lnTo>
                  <a:lnTo>
                    <a:pt x="2428809" y="10060"/>
                  </a:lnTo>
                  <a:lnTo>
                    <a:pt x="2469499" y="37495"/>
                  </a:lnTo>
                  <a:lnTo>
                    <a:pt x="2496925" y="78186"/>
                  </a:lnTo>
                  <a:lnTo>
                    <a:pt x="2506980" y="128016"/>
                  </a:lnTo>
                  <a:lnTo>
                    <a:pt x="2496925" y="177845"/>
                  </a:lnTo>
                  <a:lnTo>
                    <a:pt x="2469499" y="218536"/>
                  </a:lnTo>
                  <a:lnTo>
                    <a:pt x="2428809" y="245971"/>
                  </a:lnTo>
                  <a:lnTo>
                    <a:pt x="2378964" y="256032"/>
                  </a:lnTo>
                  <a:lnTo>
                    <a:pt x="128016" y="256032"/>
                  </a:lnTo>
                  <a:lnTo>
                    <a:pt x="78170" y="245971"/>
                  </a:lnTo>
                  <a:lnTo>
                    <a:pt x="37480" y="218536"/>
                  </a:lnTo>
                  <a:lnTo>
                    <a:pt x="10054" y="177845"/>
                  </a:lnTo>
                  <a:lnTo>
                    <a:pt x="0" y="128016"/>
                  </a:lnTo>
                  <a:close/>
                </a:path>
              </a:pathLst>
            </a:custGeom>
            <a:ln w="6349">
              <a:solidFill>
                <a:srgbClr val="E24B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797810" y="4483430"/>
            <a:ext cx="2383790" cy="165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95" dirty="0">
                <a:solidFill>
                  <a:srgbClr val="E24B0E"/>
                </a:solidFill>
                <a:latin typeface="Malgun Gothic"/>
                <a:cs typeface="Malgun Gothic"/>
              </a:rPr>
              <a:t>미래</a:t>
            </a:r>
            <a:r>
              <a:rPr sz="1200" b="1" spc="-160" dirty="0">
                <a:solidFill>
                  <a:srgbClr val="E24B0E"/>
                </a:solidFill>
                <a:latin typeface="Malgun Gothic"/>
                <a:cs typeface="Malgun Gothic"/>
              </a:rPr>
              <a:t> </a:t>
            </a:r>
            <a:r>
              <a:rPr sz="1200" b="1" spc="-200" dirty="0">
                <a:solidFill>
                  <a:srgbClr val="E24B0E"/>
                </a:solidFill>
                <a:latin typeface="Malgun Gothic"/>
                <a:cs typeface="Malgun Gothic"/>
              </a:rPr>
              <a:t>성장동력</a:t>
            </a:r>
            <a:r>
              <a:rPr sz="1200" b="1" spc="-145" dirty="0">
                <a:solidFill>
                  <a:srgbClr val="E24B0E"/>
                </a:solidFill>
                <a:latin typeface="Malgun Gothic"/>
                <a:cs typeface="Malgun Gothic"/>
              </a:rPr>
              <a:t> </a:t>
            </a:r>
            <a:r>
              <a:rPr sz="1200" b="1" spc="-200" dirty="0">
                <a:solidFill>
                  <a:srgbClr val="E24B0E"/>
                </a:solidFill>
                <a:latin typeface="Malgun Gothic"/>
                <a:cs typeface="Malgun Gothic"/>
              </a:rPr>
              <a:t>확보를</a:t>
            </a:r>
            <a:r>
              <a:rPr sz="1200" b="1" spc="-140" dirty="0">
                <a:solidFill>
                  <a:srgbClr val="E24B0E"/>
                </a:solidFill>
                <a:latin typeface="Malgun Gothic"/>
                <a:cs typeface="Malgun Gothic"/>
              </a:rPr>
              <a:t> </a:t>
            </a:r>
            <a:r>
              <a:rPr sz="1200" b="1" spc="-190" dirty="0">
                <a:solidFill>
                  <a:srgbClr val="E24B0E"/>
                </a:solidFill>
                <a:latin typeface="Malgun Gothic"/>
                <a:cs typeface="Malgun Gothic"/>
              </a:rPr>
              <a:t>위한</a:t>
            </a:r>
            <a:r>
              <a:rPr sz="1200" b="1" spc="-160" dirty="0">
                <a:solidFill>
                  <a:srgbClr val="E24B0E"/>
                </a:solidFill>
                <a:latin typeface="Malgun Gothic"/>
                <a:cs typeface="Malgun Gothic"/>
              </a:rPr>
              <a:t> </a:t>
            </a:r>
            <a:r>
              <a:rPr sz="1200" b="1" spc="-200" dirty="0">
                <a:solidFill>
                  <a:srgbClr val="E24B0E"/>
                </a:solidFill>
                <a:latin typeface="Malgun Gothic"/>
                <a:cs typeface="Malgun Gothic"/>
              </a:rPr>
              <a:t>선제적</a:t>
            </a:r>
            <a:r>
              <a:rPr sz="1200" b="1" spc="-160" dirty="0">
                <a:solidFill>
                  <a:srgbClr val="E24B0E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E24B0E"/>
                </a:solidFill>
                <a:latin typeface="Malgun Gothic"/>
                <a:cs typeface="Malgun Gothic"/>
              </a:rPr>
              <a:t>투자</a:t>
            </a:r>
            <a:endParaRPr sz="1200">
              <a:latin typeface="Malgun Gothic"/>
              <a:cs typeface="Malgun Gothic"/>
            </a:endParaRPr>
          </a:p>
          <a:p>
            <a:pPr marL="100330">
              <a:lnSpc>
                <a:spcPct val="100000"/>
              </a:lnSpc>
              <a:spcBef>
                <a:spcPts val="1040"/>
              </a:spcBef>
              <a:tabLst>
                <a:tab pos="1902460" algn="l"/>
              </a:tabLst>
            </a:pPr>
            <a:r>
              <a:rPr sz="1000" spc="-16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매출</a:t>
            </a:r>
            <a:r>
              <a:rPr sz="1000" spc="-8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00" spc="-16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증대를</a:t>
            </a:r>
            <a:r>
              <a:rPr sz="1000" spc="-8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00" spc="-16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위한</a:t>
            </a:r>
            <a:r>
              <a:rPr sz="1000" spc="-8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00" spc="-2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해외투자</a:t>
            </a:r>
            <a:r>
              <a:rPr sz="100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	</a:t>
            </a:r>
            <a:r>
              <a:rPr sz="1000" b="1" spc="-50" dirty="0">
                <a:latin typeface="Malgun Gothic"/>
                <a:cs typeface="Malgun Gothic"/>
              </a:rPr>
              <a:t>6.27조원</a:t>
            </a:r>
            <a:endParaRPr sz="1000">
              <a:latin typeface="Malgun Gothic"/>
              <a:cs typeface="Malgun Gothic"/>
            </a:endParaRPr>
          </a:p>
          <a:p>
            <a:pPr marL="100330">
              <a:lnSpc>
                <a:spcPct val="100000"/>
              </a:lnSpc>
              <a:spcBef>
                <a:spcPts val="1090"/>
              </a:spcBef>
              <a:tabLst>
                <a:tab pos="1915160" algn="l"/>
              </a:tabLst>
            </a:pPr>
            <a:r>
              <a:rPr sz="1000" spc="-16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신규시장</a:t>
            </a:r>
            <a:r>
              <a:rPr sz="1000" spc="-9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00" spc="-16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진출을</a:t>
            </a:r>
            <a:r>
              <a:rPr sz="1000" spc="-9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00" spc="-16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위한</a:t>
            </a:r>
            <a:r>
              <a:rPr sz="1000" spc="-7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00" spc="-2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R&amp;D</a:t>
            </a:r>
            <a:r>
              <a:rPr sz="100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	</a:t>
            </a:r>
            <a:r>
              <a:rPr sz="1000" b="1" spc="-65" dirty="0">
                <a:latin typeface="Malgun Gothic"/>
                <a:cs typeface="Malgun Gothic"/>
              </a:rPr>
              <a:t>1.56조원</a:t>
            </a:r>
            <a:endParaRPr sz="1000">
              <a:latin typeface="Malgun Gothic"/>
              <a:cs typeface="Malgun Gothic"/>
            </a:endParaRPr>
          </a:p>
          <a:p>
            <a:pPr marL="100330">
              <a:lnSpc>
                <a:spcPct val="100000"/>
              </a:lnSpc>
              <a:spcBef>
                <a:spcPts val="1090"/>
              </a:spcBef>
              <a:tabLst>
                <a:tab pos="1898014" algn="l"/>
              </a:tabLst>
            </a:pPr>
            <a:r>
              <a:rPr sz="1000" spc="-16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지상방산</a:t>
            </a:r>
            <a:r>
              <a:rPr sz="1000" spc="-9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00" spc="-16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인프라</a:t>
            </a:r>
            <a:r>
              <a:rPr sz="1000" spc="-9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00" spc="-2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투자</a:t>
            </a:r>
            <a:r>
              <a:rPr sz="100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	</a:t>
            </a:r>
            <a:r>
              <a:rPr sz="1000" b="1" spc="-45" dirty="0">
                <a:latin typeface="Malgun Gothic"/>
                <a:cs typeface="Malgun Gothic"/>
              </a:rPr>
              <a:t>2.29조원</a:t>
            </a:r>
            <a:endParaRPr sz="1000">
              <a:latin typeface="Malgun Gothic"/>
              <a:cs typeface="Malgun Gothic"/>
            </a:endParaRPr>
          </a:p>
          <a:p>
            <a:pPr marL="100330">
              <a:lnSpc>
                <a:spcPct val="100000"/>
              </a:lnSpc>
              <a:spcBef>
                <a:spcPts val="1090"/>
              </a:spcBef>
              <a:tabLst>
                <a:tab pos="1890395" algn="l"/>
              </a:tabLst>
            </a:pPr>
            <a:r>
              <a:rPr sz="1000" spc="-17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항공우주산업</a:t>
            </a:r>
            <a:r>
              <a:rPr sz="1000" spc="-9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00" spc="-16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인프라</a:t>
            </a:r>
            <a:r>
              <a:rPr sz="1000" spc="-7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00" spc="-2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투자</a:t>
            </a:r>
            <a:r>
              <a:rPr sz="100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	</a:t>
            </a:r>
            <a:r>
              <a:rPr sz="1000" b="1" spc="-35" dirty="0">
                <a:latin typeface="Malgun Gothic"/>
                <a:cs typeface="Malgun Gothic"/>
              </a:rPr>
              <a:t>0.95조원</a:t>
            </a:r>
            <a:endParaRPr sz="1000">
              <a:latin typeface="Malgun Gothic"/>
              <a:cs typeface="Malgun Gothic"/>
            </a:endParaRPr>
          </a:p>
          <a:p>
            <a:pPr marL="10033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E24B0E"/>
                </a:solidFill>
                <a:latin typeface="Malgun Gothic"/>
                <a:cs typeface="Malgun Gothic"/>
              </a:rPr>
              <a:t>+</a:t>
            </a:r>
            <a:r>
              <a:rPr sz="1000" spc="55" dirty="0">
                <a:solidFill>
                  <a:srgbClr val="E24B0E"/>
                </a:solidFill>
                <a:latin typeface="Malgun Gothic"/>
                <a:cs typeface="Malgun Gothic"/>
              </a:rPr>
              <a:t> </a:t>
            </a:r>
            <a:r>
              <a:rPr sz="1000" spc="-170" dirty="0">
                <a:solidFill>
                  <a:srgbClr val="E24B0E"/>
                </a:solidFill>
                <a:latin typeface="Malgun Gothic"/>
                <a:cs typeface="Malgun Gothic"/>
              </a:rPr>
              <a:t>조선해양에너지</a:t>
            </a:r>
            <a:r>
              <a:rPr sz="1000" spc="-200" dirty="0">
                <a:solidFill>
                  <a:srgbClr val="E24B0E"/>
                </a:solidFill>
                <a:latin typeface="Malgun Gothic"/>
                <a:cs typeface="Malgun Gothic"/>
              </a:rPr>
              <a:t> </a:t>
            </a:r>
            <a:r>
              <a:rPr sz="1000" spc="-165" dirty="0">
                <a:solidFill>
                  <a:srgbClr val="E24B0E"/>
                </a:solidFill>
                <a:latin typeface="Malgun Gothic"/>
                <a:cs typeface="Malgun Gothic"/>
              </a:rPr>
              <a:t>신규투자</a:t>
            </a:r>
            <a:r>
              <a:rPr sz="1000" spc="-180" dirty="0">
                <a:solidFill>
                  <a:srgbClr val="E24B0E"/>
                </a:solidFill>
                <a:latin typeface="Malgun Gothic"/>
                <a:cs typeface="Malgun Gothic"/>
              </a:rPr>
              <a:t> </a:t>
            </a:r>
            <a:r>
              <a:rPr sz="1000" spc="-160" dirty="0">
                <a:solidFill>
                  <a:srgbClr val="E24B0E"/>
                </a:solidFill>
                <a:latin typeface="Malgun Gothic"/>
                <a:cs typeface="Malgun Gothic"/>
              </a:rPr>
              <a:t>적극 </a:t>
            </a:r>
            <a:r>
              <a:rPr sz="1000" spc="-25" dirty="0">
                <a:solidFill>
                  <a:srgbClr val="E24B0E"/>
                </a:solidFill>
                <a:latin typeface="Malgun Gothic"/>
                <a:cs typeface="Malgun Gothic"/>
              </a:rPr>
              <a:t>검토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248400" y="1524000"/>
            <a:ext cx="5396865" cy="4901565"/>
          </a:xfrm>
          <a:custGeom>
            <a:avLst/>
            <a:gdLst/>
            <a:ahLst/>
            <a:cxnLst/>
            <a:rect l="l" t="t" r="r" b="b"/>
            <a:pathLst>
              <a:path w="5396865" h="4901565">
                <a:moveTo>
                  <a:pt x="0" y="4901184"/>
                </a:moveTo>
                <a:lnTo>
                  <a:pt x="5396484" y="4901184"/>
                </a:lnTo>
                <a:lnTo>
                  <a:pt x="5396484" y="0"/>
                </a:lnTo>
                <a:lnTo>
                  <a:pt x="0" y="0"/>
                </a:lnTo>
                <a:lnTo>
                  <a:pt x="0" y="4901184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699631" y="2109342"/>
            <a:ext cx="481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60" dirty="0">
                <a:latin typeface="Malgun Gothic"/>
                <a:cs typeface="Malgun Gothic"/>
              </a:rPr>
              <a:t>현금</a:t>
            </a:r>
            <a:r>
              <a:rPr sz="1000" b="1" spc="-130" dirty="0">
                <a:latin typeface="Malgun Gothic"/>
                <a:cs typeface="Malgun Gothic"/>
              </a:rPr>
              <a:t> 유입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50911" y="2109342"/>
            <a:ext cx="4819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60" dirty="0">
                <a:latin typeface="Malgun Gothic"/>
                <a:cs typeface="Malgun Gothic"/>
              </a:rPr>
              <a:t>현금</a:t>
            </a:r>
            <a:r>
              <a:rPr sz="1000" b="1" spc="-130" dirty="0">
                <a:latin typeface="Malgun Gothic"/>
                <a:cs typeface="Malgun Gothic"/>
              </a:rPr>
              <a:t> </a:t>
            </a:r>
            <a:r>
              <a:rPr sz="1000" b="1" spc="-135" dirty="0">
                <a:latin typeface="Malgun Gothic"/>
                <a:cs typeface="Malgun Gothic"/>
              </a:rPr>
              <a:t>유출</a:t>
            </a:r>
            <a:endParaRPr sz="1000">
              <a:latin typeface="Malgun Gothic"/>
              <a:cs typeface="Malgun Gothic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6541007" y="2340864"/>
          <a:ext cx="1649730" cy="3870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3606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4940" marR="173990" indent="121920">
                        <a:lnSpc>
                          <a:spcPct val="120000"/>
                        </a:lnSpc>
                        <a:spcBef>
                          <a:spcPts val="5"/>
                        </a:spcBef>
                      </a:pPr>
                      <a:r>
                        <a:rPr sz="1100" b="1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영업 </a:t>
                      </a:r>
                      <a:r>
                        <a:rPr sz="1100" b="1" spc="-15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현금흐름 </a:t>
                      </a:r>
                      <a:r>
                        <a:rPr sz="1100" b="1" spc="-160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100" b="1" spc="-1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7E7E7E"/>
                          </a:solidFill>
                          <a:latin typeface="Malgun Gothic"/>
                          <a:cs typeface="Malgun Gothic"/>
                        </a:rPr>
                        <a:t>기타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6034" algn="ctr">
                        <a:lnSpc>
                          <a:spcPct val="100000"/>
                        </a:lnSpc>
                      </a:pPr>
                      <a:r>
                        <a:rPr sz="1100" b="1" spc="-20" dirty="0">
                          <a:latin typeface="Malgun Gothic"/>
                          <a:cs typeface="Malgun Gothic"/>
                        </a:rPr>
                        <a:t>주주환원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solidFill>
                      <a:srgbClr val="88B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7940" algn="ctr">
                        <a:lnSpc>
                          <a:spcPct val="100000"/>
                        </a:lnSpc>
                      </a:pPr>
                      <a:r>
                        <a:rPr sz="1100" b="1" spc="-70" dirty="0">
                          <a:latin typeface="Malgun Gothic"/>
                          <a:cs typeface="Malgun Gothic"/>
                        </a:rPr>
                        <a:t>미래전략투자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solidFill>
                      <a:srgbClr val="C6D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6034"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latin typeface="Malgun Gothic"/>
                          <a:cs typeface="Malgun Gothic"/>
                        </a:rPr>
                        <a:t>순차입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85090" marB="0">
                    <a:lnL w="5715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8594852" y="2689936"/>
            <a:ext cx="2357755" cy="661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95" dirty="0">
                <a:solidFill>
                  <a:srgbClr val="FF780D"/>
                </a:solidFill>
                <a:latin typeface="Malgun Gothic"/>
                <a:cs typeface="Malgun Gothic"/>
              </a:rPr>
              <a:t>사업</a:t>
            </a:r>
            <a:r>
              <a:rPr sz="1200" b="1" spc="-160" dirty="0">
                <a:solidFill>
                  <a:srgbClr val="FF780D"/>
                </a:solidFill>
                <a:latin typeface="Malgun Gothic"/>
                <a:cs typeface="Malgun Gothic"/>
              </a:rPr>
              <a:t> </a:t>
            </a:r>
            <a:r>
              <a:rPr sz="1200" b="1" spc="-200" dirty="0">
                <a:solidFill>
                  <a:srgbClr val="FF780D"/>
                </a:solidFill>
                <a:latin typeface="Malgun Gothic"/>
                <a:cs typeface="Malgun Gothic"/>
              </a:rPr>
              <a:t>성장에</a:t>
            </a:r>
            <a:r>
              <a:rPr sz="1200" b="1" spc="-160" dirty="0">
                <a:solidFill>
                  <a:srgbClr val="FF780D"/>
                </a:solidFill>
                <a:latin typeface="Malgun Gothic"/>
                <a:cs typeface="Malgun Gothic"/>
              </a:rPr>
              <a:t> </a:t>
            </a:r>
            <a:r>
              <a:rPr sz="1200" b="1" spc="-195" dirty="0">
                <a:solidFill>
                  <a:srgbClr val="FF780D"/>
                </a:solidFill>
                <a:latin typeface="Malgun Gothic"/>
                <a:cs typeface="Malgun Gothic"/>
              </a:rPr>
              <a:t>따른</a:t>
            </a:r>
            <a:r>
              <a:rPr sz="1200" b="1" spc="-160" dirty="0">
                <a:solidFill>
                  <a:srgbClr val="FF780D"/>
                </a:solidFill>
                <a:latin typeface="Malgun Gothic"/>
                <a:cs typeface="Malgun Gothic"/>
              </a:rPr>
              <a:t> </a:t>
            </a:r>
            <a:r>
              <a:rPr sz="1200" b="1" spc="-195" dirty="0">
                <a:solidFill>
                  <a:srgbClr val="FF780D"/>
                </a:solidFill>
                <a:latin typeface="Malgun Gothic"/>
                <a:cs typeface="Malgun Gothic"/>
              </a:rPr>
              <a:t>이익의</a:t>
            </a:r>
            <a:r>
              <a:rPr sz="1200" b="1" spc="-145" dirty="0">
                <a:solidFill>
                  <a:srgbClr val="FF780D"/>
                </a:solidFill>
                <a:latin typeface="Malgun Gothic"/>
                <a:cs typeface="Malgun Gothic"/>
              </a:rPr>
              <a:t> </a:t>
            </a:r>
            <a:r>
              <a:rPr sz="1200" b="1" spc="-200" dirty="0">
                <a:solidFill>
                  <a:srgbClr val="FF780D"/>
                </a:solidFill>
                <a:latin typeface="Malgun Gothic"/>
                <a:cs typeface="Malgun Gothic"/>
              </a:rPr>
              <a:t>주주환원</a:t>
            </a:r>
            <a:r>
              <a:rPr sz="1200" b="1" spc="-145" dirty="0">
                <a:solidFill>
                  <a:srgbClr val="FF780D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FF780D"/>
                </a:solidFill>
                <a:latin typeface="Malgun Gothic"/>
                <a:cs typeface="Malgun Gothic"/>
              </a:rPr>
              <a:t>확대</a:t>
            </a:r>
            <a:endParaRPr sz="1200">
              <a:latin typeface="Malgun Gothic"/>
              <a:cs typeface="Malgun Gothic"/>
            </a:endParaRPr>
          </a:p>
          <a:p>
            <a:pPr marL="119380" indent="-10668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119380" algn="l"/>
              </a:tabLst>
            </a:pPr>
            <a:r>
              <a:rPr sz="1050" spc="-160" dirty="0">
                <a:solidFill>
                  <a:srgbClr val="252525"/>
                </a:solidFill>
                <a:latin typeface="Malgun Gothic"/>
                <a:cs typeface="Malgun Gothic"/>
              </a:rPr>
              <a:t>영업</a:t>
            </a:r>
            <a:r>
              <a:rPr sz="1050" spc="-13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60" dirty="0">
                <a:solidFill>
                  <a:srgbClr val="252525"/>
                </a:solidFill>
                <a:latin typeface="Malgun Gothic"/>
                <a:cs typeface="Malgun Gothic"/>
              </a:rPr>
              <a:t>창출</a:t>
            </a:r>
            <a:r>
              <a:rPr sz="1050" spc="-12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65" dirty="0">
                <a:solidFill>
                  <a:srgbClr val="252525"/>
                </a:solidFill>
                <a:latin typeface="Malgun Gothic"/>
                <a:cs typeface="Malgun Gothic"/>
              </a:rPr>
              <a:t>현금흐름</a:t>
            </a:r>
            <a:r>
              <a:rPr sz="1050" spc="-1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60" dirty="0">
                <a:solidFill>
                  <a:srgbClr val="252525"/>
                </a:solidFill>
                <a:latin typeface="Malgun Gothic"/>
                <a:cs typeface="Malgun Gothic"/>
              </a:rPr>
              <a:t>기반</a:t>
            </a:r>
            <a:r>
              <a:rPr sz="1050" spc="-12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65" dirty="0">
                <a:solidFill>
                  <a:srgbClr val="252525"/>
                </a:solidFill>
                <a:latin typeface="Malgun Gothic"/>
                <a:cs typeface="Malgun Gothic"/>
              </a:rPr>
              <a:t>주주환원</a:t>
            </a:r>
            <a:r>
              <a:rPr sz="1050" spc="-12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60" dirty="0">
                <a:solidFill>
                  <a:srgbClr val="252525"/>
                </a:solidFill>
                <a:latin typeface="Malgun Gothic"/>
                <a:cs typeface="Malgun Gothic"/>
              </a:rPr>
              <a:t>규모</a:t>
            </a:r>
            <a:r>
              <a:rPr sz="1050" spc="-125" dirty="0">
                <a:solidFill>
                  <a:srgbClr val="252525"/>
                </a:solidFill>
                <a:latin typeface="Malgun Gothic"/>
                <a:cs typeface="Malgun Gothic"/>
              </a:rPr>
              <a:t> 확대</a:t>
            </a:r>
            <a:endParaRPr sz="1050">
              <a:latin typeface="Malgun Gothic"/>
              <a:cs typeface="Malgun Gothic"/>
            </a:endParaRPr>
          </a:p>
          <a:p>
            <a:pPr marL="118745" indent="-10604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18745" algn="l"/>
              </a:tabLst>
            </a:pPr>
            <a:r>
              <a:rPr sz="1050" dirty="0">
                <a:solidFill>
                  <a:srgbClr val="252525"/>
                </a:solidFill>
                <a:latin typeface="Malgun Gothic"/>
                <a:cs typeface="Malgun Gothic"/>
              </a:rPr>
              <a:t>’24-’28</a:t>
            </a:r>
            <a:r>
              <a:rPr sz="1050" spc="-1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65" dirty="0">
                <a:solidFill>
                  <a:srgbClr val="252525"/>
                </a:solidFill>
                <a:latin typeface="Malgun Gothic"/>
                <a:cs typeface="Malgun Gothic"/>
              </a:rPr>
              <a:t>평균</a:t>
            </a:r>
            <a:r>
              <a:rPr sz="1050" spc="-1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70" dirty="0">
                <a:solidFill>
                  <a:srgbClr val="252525"/>
                </a:solidFill>
                <a:latin typeface="Malgun Gothic"/>
                <a:cs typeface="Malgun Gothic"/>
              </a:rPr>
              <a:t>배당액</a:t>
            </a:r>
            <a:r>
              <a:rPr sz="1050" spc="-8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65" dirty="0">
                <a:solidFill>
                  <a:srgbClr val="252525"/>
                </a:solidFill>
                <a:latin typeface="Malgun Gothic"/>
                <a:cs typeface="Malgun Gothic"/>
              </a:rPr>
              <a:t>이상</a:t>
            </a:r>
            <a:r>
              <a:rPr sz="1050" spc="-1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7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주주환원</a:t>
            </a:r>
            <a:r>
              <a:rPr sz="1050" spc="-2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목표</a:t>
            </a:r>
            <a:endParaRPr sz="1050">
              <a:latin typeface="Malgun Gothic Semilight"/>
              <a:cs typeface="Malgun Gothic Semiligh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439911" y="3858767"/>
            <a:ext cx="2905125" cy="1760220"/>
          </a:xfrm>
          <a:custGeom>
            <a:avLst/>
            <a:gdLst/>
            <a:ahLst/>
            <a:cxnLst/>
            <a:rect l="l" t="t" r="r" b="b"/>
            <a:pathLst>
              <a:path w="2905125" h="1760220">
                <a:moveTo>
                  <a:pt x="0" y="0"/>
                </a:moveTo>
                <a:lnTo>
                  <a:pt x="2905125" y="0"/>
                </a:lnTo>
              </a:path>
              <a:path w="2905125" h="1760220">
                <a:moveTo>
                  <a:pt x="0" y="1760219"/>
                </a:moveTo>
                <a:lnTo>
                  <a:pt x="2905125" y="1760219"/>
                </a:lnTo>
              </a:path>
            </a:pathLst>
          </a:custGeom>
          <a:ln w="6350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594852" y="4205985"/>
            <a:ext cx="2536190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94585" algn="l"/>
              </a:tabLst>
            </a:pPr>
            <a:r>
              <a:rPr sz="1200" b="1" spc="-45" dirty="0">
                <a:solidFill>
                  <a:srgbClr val="E24B0E"/>
                </a:solidFill>
                <a:latin typeface="Malgun Gothic"/>
                <a:cs typeface="Malgun Gothic"/>
              </a:rPr>
              <a:t>Global</a:t>
            </a:r>
            <a:r>
              <a:rPr sz="1200" b="1" spc="-125" dirty="0">
                <a:solidFill>
                  <a:srgbClr val="E24B0E"/>
                </a:solidFill>
                <a:latin typeface="Malgun Gothic"/>
                <a:cs typeface="Malgun Gothic"/>
              </a:rPr>
              <a:t> </a:t>
            </a:r>
            <a:r>
              <a:rPr sz="1200" b="1" spc="-20" dirty="0">
                <a:solidFill>
                  <a:srgbClr val="E24B0E"/>
                </a:solidFill>
                <a:latin typeface="Malgun Gothic"/>
                <a:cs typeface="Malgun Gothic"/>
              </a:rPr>
              <a:t>Top</a:t>
            </a:r>
            <a:r>
              <a:rPr sz="1200" b="1" spc="-135" dirty="0">
                <a:solidFill>
                  <a:srgbClr val="E24B0E"/>
                </a:solidFill>
                <a:latin typeface="Malgun Gothic"/>
                <a:cs typeface="Malgun Gothic"/>
              </a:rPr>
              <a:t> </a:t>
            </a:r>
            <a:r>
              <a:rPr sz="1200" b="1" spc="-70" dirty="0">
                <a:solidFill>
                  <a:srgbClr val="E24B0E"/>
                </a:solidFill>
                <a:latin typeface="Malgun Gothic"/>
                <a:cs typeface="Malgun Gothic"/>
              </a:rPr>
              <a:t>Player로서</a:t>
            </a:r>
            <a:r>
              <a:rPr sz="1200" b="1" spc="-105" dirty="0">
                <a:solidFill>
                  <a:srgbClr val="E24B0E"/>
                </a:solidFill>
                <a:latin typeface="Malgun Gothic"/>
                <a:cs typeface="Malgun Gothic"/>
              </a:rPr>
              <a:t> </a:t>
            </a:r>
            <a:r>
              <a:rPr sz="1200" b="1" spc="-190" dirty="0">
                <a:solidFill>
                  <a:srgbClr val="E24B0E"/>
                </a:solidFill>
                <a:latin typeface="Malgun Gothic"/>
                <a:cs typeface="Malgun Gothic"/>
              </a:rPr>
              <a:t>투자</a:t>
            </a:r>
            <a:r>
              <a:rPr sz="1200" b="1" spc="-140" dirty="0">
                <a:solidFill>
                  <a:srgbClr val="E24B0E"/>
                </a:solidFill>
                <a:latin typeface="Malgun Gothic"/>
                <a:cs typeface="Malgun Gothic"/>
              </a:rPr>
              <a:t> </a:t>
            </a:r>
            <a:r>
              <a:rPr sz="1200" b="1" spc="-175" dirty="0">
                <a:solidFill>
                  <a:srgbClr val="E24B0E"/>
                </a:solidFill>
                <a:latin typeface="Malgun Gothic"/>
                <a:cs typeface="Malgun Gothic"/>
              </a:rPr>
              <a:t>및</a:t>
            </a:r>
            <a:r>
              <a:rPr sz="1200" b="1" spc="-160" dirty="0">
                <a:solidFill>
                  <a:srgbClr val="E24B0E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E24B0E"/>
                </a:solidFill>
                <a:latin typeface="Malgun Gothic"/>
                <a:cs typeface="Malgun Gothic"/>
              </a:rPr>
              <a:t>연구</a:t>
            </a:r>
            <a:r>
              <a:rPr sz="1200" b="1" dirty="0">
                <a:solidFill>
                  <a:srgbClr val="E24B0E"/>
                </a:solidFill>
                <a:latin typeface="Malgun Gothic"/>
                <a:cs typeface="Malgun Gothic"/>
              </a:rPr>
              <a:t>	</a:t>
            </a:r>
            <a:r>
              <a:rPr sz="1200" b="1" spc="-145" dirty="0">
                <a:solidFill>
                  <a:srgbClr val="E24B0E"/>
                </a:solidFill>
                <a:latin typeface="Malgun Gothic"/>
                <a:cs typeface="Malgun Gothic"/>
              </a:rPr>
              <a:t>화</a:t>
            </a:r>
            <a:endParaRPr sz="1200">
              <a:latin typeface="Malgun Gothic"/>
              <a:cs typeface="Malgun Gothic"/>
            </a:endParaRPr>
          </a:p>
          <a:p>
            <a:pPr marL="118745" indent="-106045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118745" algn="l"/>
              </a:tabLst>
            </a:pPr>
            <a:r>
              <a:rPr sz="1050" spc="-17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장기적</a:t>
            </a:r>
            <a:r>
              <a:rPr sz="1050" spc="-6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50" spc="-17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사업성장을</a:t>
            </a:r>
            <a:r>
              <a:rPr sz="1050" spc="-4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50" spc="-16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위한</a:t>
            </a:r>
            <a:r>
              <a:rPr sz="1050" spc="-5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50" spc="-16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지속</a:t>
            </a:r>
            <a:r>
              <a:rPr sz="1050" spc="-5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50" spc="-35" dirty="0">
                <a:solidFill>
                  <a:srgbClr val="252525"/>
                </a:solidFill>
                <a:latin typeface="Malgun Gothic"/>
                <a:cs typeface="Malgun Gothic"/>
              </a:rPr>
              <a:t>투자</a:t>
            </a:r>
            <a:endParaRPr sz="1050">
              <a:latin typeface="Malgun Gothic"/>
              <a:cs typeface="Malgun Gothic"/>
            </a:endParaRPr>
          </a:p>
          <a:p>
            <a:pPr marL="118745" indent="-10604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8745" algn="l"/>
              </a:tabLst>
            </a:pPr>
            <a:r>
              <a:rPr sz="1050" spc="-155" dirty="0">
                <a:solidFill>
                  <a:srgbClr val="252525"/>
                </a:solidFill>
                <a:latin typeface="Malgun Gothic"/>
                <a:cs typeface="Malgun Gothic"/>
              </a:rPr>
              <a:t>신</a:t>
            </a:r>
            <a:r>
              <a:rPr sz="1050" spc="-14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75" dirty="0">
                <a:solidFill>
                  <a:srgbClr val="252525"/>
                </a:solidFill>
                <a:latin typeface="Malgun Gothic"/>
                <a:cs typeface="Malgun Gothic"/>
              </a:rPr>
              <a:t>방산기술</a:t>
            </a:r>
            <a:r>
              <a:rPr sz="1050" spc="-13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6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확보</a:t>
            </a:r>
            <a:r>
              <a:rPr sz="1050" spc="-5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50" spc="-15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및</a:t>
            </a:r>
            <a:r>
              <a:rPr sz="1050" spc="-5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50" spc="-165" dirty="0">
                <a:solidFill>
                  <a:srgbClr val="252525"/>
                </a:solidFill>
                <a:latin typeface="Malgun Gothic"/>
                <a:cs typeface="Malgun Gothic"/>
              </a:rPr>
              <a:t>해외</a:t>
            </a:r>
            <a:r>
              <a:rPr sz="1050" spc="-13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252525"/>
                </a:solidFill>
                <a:latin typeface="Malgun Gothic"/>
                <a:cs typeface="Malgun Gothic"/>
              </a:rPr>
              <a:t>투자</a:t>
            </a:r>
            <a:endParaRPr sz="1050">
              <a:latin typeface="Malgun Gothic"/>
              <a:cs typeface="Malgun Gothic"/>
            </a:endParaRPr>
          </a:p>
          <a:p>
            <a:pPr marL="118745" indent="-10604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8745" algn="l"/>
              </a:tabLst>
            </a:pPr>
            <a:r>
              <a:rPr sz="1050" spc="-17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차별적</a:t>
            </a:r>
            <a:r>
              <a:rPr sz="1050" spc="-6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50" spc="-16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기술</a:t>
            </a:r>
            <a:r>
              <a:rPr sz="1050" spc="-6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50" spc="-15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및</a:t>
            </a:r>
            <a:r>
              <a:rPr sz="1050" spc="-5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50" spc="-170" dirty="0">
                <a:solidFill>
                  <a:srgbClr val="252525"/>
                </a:solidFill>
                <a:latin typeface="Malgun Gothic"/>
                <a:cs typeface="Malgun Gothic"/>
              </a:rPr>
              <a:t>글로벌</a:t>
            </a:r>
            <a:r>
              <a:rPr sz="1050" spc="-13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65" dirty="0">
                <a:solidFill>
                  <a:srgbClr val="252525"/>
                </a:solidFill>
                <a:latin typeface="Malgun Gothic"/>
                <a:cs typeface="Malgun Gothic"/>
              </a:rPr>
              <a:t>진출</a:t>
            </a:r>
            <a:r>
              <a:rPr sz="1050" spc="-13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165" dirty="0">
                <a:solidFill>
                  <a:srgbClr val="252525"/>
                </a:solidFill>
                <a:latin typeface="Malgun Gothic"/>
                <a:cs typeface="Malgun Gothic"/>
              </a:rPr>
              <a:t>투자</a:t>
            </a:r>
            <a:r>
              <a:rPr sz="1050" spc="-13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252525"/>
                </a:solidFill>
                <a:latin typeface="Malgun Gothic"/>
                <a:cs typeface="Malgun Gothic"/>
              </a:rPr>
              <a:t>확대</a:t>
            </a:r>
            <a:endParaRPr sz="1050">
              <a:latin typeface="Malgun Gothic"/>
              <a:cs typeface="Malgun Gothic"/>
            </a:endParaRPr>
          </a:p>
          <a:p>
            <a:pPr marL="118745" indent="-10604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18745" algn="l"/>
              </a:tabLst>
            </a:pPr>
            <a:r>
              <a:rPr sz="1050" spc="-17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안보환경</a:t>
            </a:r>
            <a:r>
              <a:rPr sz="1050" spc="-4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50" spc="-17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변화에</a:t>
            </a:r>
            <a:r>
              <a:rPr sz="1050" spc="-55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50" spc="-17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대응하는</a:t>
            </a:r>
            <a:r>
              <a:rPr sz="1050" spc="-50" dirty="0">
                <a:solidFill>
                  <a:srgbClr val="252525"/>
                </a:solidFill>
                <a:latin typeface="Malgun Gothic Semilight"/>
                <a:cs typeface="Malgun Gothic Semilight"/>
              </a:rPr>
              <a:t> </a:t>
            </a:r>
            <a:r>
              <a:rPr sz="1050" spc="-165" dirty="0">
                <a:solidFill>
                  <a:srgbClr val="252525"/>
                </a:solidFill>
                <a:latin typeface="Malgun Gothic"/>
                <a:cs typeface="Malgun Gothic"/>
              </a:rPr>
              <a:t>신규</a:t>
            </a:r>
            <a:r>
              <a:rPr sz="1050" spc="-13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252525"/>
                </a:solidFill>
                <a:latin typeface="Malgun Gothic"/>
                <a:cs typeface="Malgun Gothic"/>
              </a:rPr>
              <a:t>투자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14756" y="530351"/>
            <a:ext cx="11693525" cy="4178935"/>
            <a:chOff x="214756" y="530351"/>
            <a:chExt cx="11693525" cy="4178935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4976" y="4247261"/>
              <a:ext cx="127000" cy="1397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67755" y="3732275"/>
              <a:ext cx="399288" cy="28041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67755" y="4081272"/>
              <a:ext cx="399288" cy="28041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7755" y="4430267"/>
              <a:ext cx="399288" cy="27889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17931" y="530351"/>
              <a:ext cx="1339850" cy="998219"/>
            </a:xfrm>
            <a:custGeom>
              <a:avLst/>
              <a:gdLst/>
              <a:ahLst/>
              <a:cxnLst/>
              <a:rect l="l" t="t" r="r" b="b"/>
              <a:pathLst>
                <a:path w="1339850" h="998219">
                  <a:moveTo>
                    <a:pt x="1339596" y="0"/>
                  </a:moveTo>
                  <a:lnTo>
                    <a:pt x="0" y="0"/>
                  </a:lnTo>
                  <a:lnTo>
                    <a:pt x="0" y="998220"/>
                  </a:lnTo>
                  <a:lnTo>
                    <a:pt x="1339596" y="998220"/>
                  </a:lnTo>
                  <a:lnTo>
                    <a:pt x="1339596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17931" y="1528571"/>
              <a:ext cx="11687175" cy="0"/>
            </a:xfrm>
            <a:custGeom>
              <a:avLst/>
              <a:gdLst/>
              <a:ahLst/>
              <a:cxnLst/>
              <a:rect l="l" t="t" r="r" b="b"/>
              <a:pathLst>
                <a:path w="11687175">
                  <a:moveTo>
                    <a:pt x="0" y="0"/>
                  </a:moveTo>
                  <a:lnTo>
                    <a:pt x="1168666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740407" y="934211"/>
              <a:ext cx="2304415" cy="68580"/>
            </a:xfrm>
            <a:custGeom>
              <a:avLst/>
              <a:gdLst/>
              <a:ahLst/>
              <a:cxnLst/>
              <a:rect l="l" t="t" r="r" b="b"/>
              <a:pathLst>
                <a:path w="2304415" h="68580">
                  <a:moveTo>
                    <a:pt x="2304288" y="0"/>
                  </a:moveTo>
                  <a:lnTo>
                    <a:pt x="0" y="0"/>
                  </a:lnTo>
                  <a:lnTo>
                    <a:pt x="0" y="68579"/>
                  </a:lnTo>
                  <a:lnTo>
                    <a:pt x="2304288" y="68579"/>
                  </a:lnTo>
                  <a:lnTo>
                    <a:pt x="2304288" y="0"/>
                  </a:lnTo>
                  <a:close/>
                </a:path>
              </a:pathLst>
            </a:custGeom>
            <a:solidFill>
              <a:srgbClr val="88B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712467" y="492633"/>
            <a:ext cx="5344795" cy="894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95"/>
              </a:spcBef>
            </a:pPr>
            <a:r>
              <a:rPr sz="2500" spc="-280" dirty="0">
                <a:solidFill>
                  <a:srgbClr val="88BCFA"/>
                </a:solidFill>
                <a:latin typeface="Malgun Gothic"/>
                <a:cs typeface="Malgun Gothic"/>
              </a:rPr>
              <a:t>투자</a:t>
            </a:r>
            <a:r>
              <a:rPr sz="2500" spc="-34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2500" spc="-275" dirty="0">
                <a:solidFill>
                  <a:srgbClr val="88BCFA"/>
                </a:solidFill>
                <a:latin typeface="Malgun Gothic"/>
                <a:cs typeface="Malgun Gothic"/>
              </a:rPr>
              <a:t>및</a:t>
            </a:r>
            <a:r>
              <a:rPr sz="2500" spc="-350" dirty="0">
                <a:solidFill>
                  <a:srgbClr val="88BCFA"/>
                </a:solidFill>
                <a:latin typeface="Malgun Gothic"/>
                <a:cs typeface="Malgun Gothic"/>
              </a:rPr>
              <a:t> </a:t>
            </a:r>
            <a:r>
              <a:rPr sz="2500" spc="-300" dirty="0">
                <a:solidFill>
                  <a:srgbClr val="88BCFA"/>
                </a:solidFill>
                <a:latin typeface="Malgun Gothic"/>
                <a:cs typeface="Malgun Gothic"/>
              </a:rPr>
              <a:t>주주환원</a:t>
            </a:r>
            <a:endParaRPr sz="25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spc="-235" dirty="0">
                <a:latin typeface="Malgun Gothic"/>
                <a:cs typeface="Malgun Gothic"/>
              </a:rPr>
              <a:t>기업가치</a:t>
            </a:r>
            <a:r>
              <a:rPr sz="2000" spc="-280" dirty="0">
                <a:latin typeface="Malgun Gothic"/>
                <a:cs typeface="Malgun Gothic"/>
              </a:rPr>
              <a:t> </a:t>
            </a:r>
            <a:r>
              <a:rPr sz="2000" spc="-235" dirty="0">
                <a:latin typeface="Malgun Gothic"/>
                <a:cs typeface="Malgun Gothic"/>
              </a:rPr>
              <a:t>제고와</a:t>
            </a:r>
            <a:r>
              <a:rPr sz="2000" spc="-250" dirty="0">
                <a:latin typeface="Malgun Gothic"/>
                <a:cs typeface="Malgun Gothic"/>
              </a:rPr>
              <a:t> </a:t>
            </a:r>
            <a:r>
              <a:rPr sz="2000" spc="-225" dirty="0">
                <a:latin typeface="Malgun Gothic"/>
                <a:cs typeface="Malgun Gothic"/>
              </a:rPr>
              <a:t>배당</a:t>
            </a:r>
            <a:r>
              <a:rPr sz="2000" spc="-270" dirty="0">
                <a:latin typeface="Malgun Gothic"/>
                <a:cs typeface="Malgun Gothic"/>
              </a:rPr>
              <a:t> </a:t>
            </a:r>
            <a:r>
              <a:rPr sz="2000" spc="-235" dirty="0">
                <a:latin typeface="Malgun Gothic"/>
                <a:cs typeface="Malgun Gothic"/>
              </a:rPr>
              <a:t>성장에</a:t>
            </a:r>
            <a:r>
              <a:rPr sz="2000" spc="-270" dirty="0">
                <a:latin typeface="Malgun Gothic"/>
                <a:cs typeface="Malgun Gothic"/>
              </a:rPr>
              <a:t> </a:t>
            </a:r>
            <a:r>
              <a:rPr sz="2000" spc="-235" dirty="0">
                <a:latin typeface="Malgun Gothic"/>
                <a:cs typeface="Malgun Gothic"/>
              </a:rPr>
              <a:t>기반한</a:t>
            </a:r>
            <a:r>
              <a:rPr sz="2000" spc="-265" dirty="0">
                <a:latin typeface="Malgun Gothic"/>
                <a:cs typeface="Malgun Gothic"/>
              </a:rPr>
              <a:t> </a:t>
            </a:r>
            <a:r>
              <a:rPr sz="2000" spc="-235" dirty="0">
                <a:latin typeface="Malgun Gothic"/>
                <a:cs typeface="Malgun Gothic"/>
              </a:rPr>
              <a:t>주주이익</a:t>
            </a:r>
            <a:r>
              <a:rPr sz="2000" spc="-250" dirty="0">
                <a:latin typeface="Malgun Gothic"/>
                <a:cs typeface="Malgun Gothic"/>
              </a:rPr>
              <a:t> </a:t>
            </a:r>
            <a:r>
              <a:rPr sz="2000" spc="-90" dirty="0">
                <a:latin typeface="Malgun Gothic"/>
                <a:cs typeface="Malgun Gothic"/>
              </a:rPr>
              <a:t>극대화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17931" y="779443"/>
            <a:ext cx="11687175" cy="752475"/>
            <a:chOff x="217931" y="779443"/>
            <a:chExt cx="11687175" cy="752475"/>
          </a:xfrm>
        </p:grpSpPr>
        <p:sp>
          <p:nvSpPr>
            <p:cNvPr id="48" name="object 48"/>
            <p:cNvSpPr/>
            <p:nvPr/>
          </p:nvSpPr>
          <p:spPr>
            <a:xfrm>
              <a:off x="217931" y="1528572"/>
              <a:ext cx="11687175" cy="0"/>
            </a:xfrm>
            <a:custGeom>
              <a:avLst/>
              <a:gdLst/>
              <a:ahLst/>
              <a:cxnLst/>
              <a:rect l="l" t="t" r="r" b="b"/>
              <a:pathLst>
                <a:path w="11687175">
                  <a:moveTo>
                    <a:pt x="0" y="0"/>
                  </a:moveTo>
                  <a:lnTo>
                    <a:pt x="1168666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0362" y="932443"/>
              <a:ext cx="475615" cy="376555"/>
            </a:xfrm>
            <a:custGeom>
              <a:avLst/>
              <a:gdLst/>
              <a:ahLst/>
              <a:cxnLst/>
              <a:rect l="l" t="t" r="r" b="b"/>
              <a:pathLst>
                <a:path w="475615" h="376555">
                  <a:moveTo>
                    <a:pt x="293665" y="116348"/>
                  </a:moveTo>
                  <a:lnTo>
                    <a:pt x="387303" y="16067"/>
                  </a:lnTo>
                  <a:lnTo>
                    <a:pt x="424131" y="0"/>
                  </a:lnTo>
                  <a:lnTo>
                    <a:pt x="434004" y="1189"/>
                  </a:lnTo>
                  <a:lnTo>
                    <a:pt x="443532" y="4483"/>
                  </a:lnTo>
                  <a:lnTo>
                    <a:pt x="452430" y="9864"/>
                  </a:lnTo>
                  <a:lnTo>
                    <a:pt x="460414" y="17315"/>
                  </a:lnTo>
                  <a:lnTo>
                    <a:pt x="466916" y="26361"/>
                  </a:lnTo>
                  <a:lnTo>
                    <a:pt x="471545" y="36335"/>
                  </a:lnTo>
                  <a:lnTo>
                    <a:pt x="474282" y="46903"/>
                  </a:lnTo>
                  <a:lnTo>
                    <a:pt x="475110" y="57733"/>
                  </a:lnTo>
                  <a:lnTo>
                    <a:pt x="474042" y="68539"/>
                  </a:lnTo>
                  <a:lnTo>
                    <a:pt x="471081" y="79013"/>
                  </a:lnTo>
                  <a:lnTo>
                    <a:pt x="466196" y="88823"/>
                  </a:lnTo>
                  <a:lnTo>
                    <a:pt x="459354" y="97637"/>
                  </a:lnTo>
                  <a:lnTo>
                    <a:pt x="365716" y="197919"/>
                  </a:lnTo>
                  <a:lnTo>
                    <a:pt x="272078" y="298205"/>
                  </a:lnTo>
                  <a:lnTo>
                    <a:pt x="86731" y="298205"/>
                  </a:lnTo>
                  <a:lnTo>
                    <a:pt x="0" y="376418"/>
                  </a:lnTo>
                </a:path>
              </a:pathLst>
            </a:custGeom>
            <a:ln w="2635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91233" y="1012603"/>
              <a:ext cx="391795" cy="139700"/>
            </a:xfrm>
            <a:custGeom>
              <a:avLst/>
              <a:gdLst/>
              <a:ahLst/>
              <a:cxnLst/>
              <a:rect l="l" t="t" r="r" b="b"/>
              <a:pathLst>
                <a:path w="391794" h="139700">
                  <a:moveTo>
                    <a:pt x="232068" y="110342"/>
                  </a:moveTo>
                  <a:lnTo>
                    <a:pt x="335793" y="110342"/>
                  </a:lnTo>
                  <a:lnTo>
                    <a:pt x="374984" y="94188"/>
                  </a:lnTo>
                  <a:lnTo>
                    <a:pt x="391204" y="55266"/>
                  </a:lnTo>
                  <a:lnTo>
                    <a:pt x="374984" y="16177"/>
                  </a:lnTo>
                  <a:lnTo>
                    <a:pt x="335793" y="0"/>
                  </a:lnTo>
                  <a:lnTo>
                    <a:pt x="160548" y="0"/>
                  </a:lnTo>
                  <a:lnTo>
                    <a:pt x="0" y="139304"/>
                  </a:lnTo>
                </a:path>
              </a:pathLst>
            </a:custGeom>
            <a:ln w="2633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8341" y="779443"/>
              <a:ext cx="172585" cy="172188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1612519" y="2121814"/>
            <a:ext cx="3422650" cy="3721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200"/>
              </a:spcBef>
              <a:tabLst>
                <a:tab pos="1320800" algn="l"/>
              </a:tabLst>
            </a:pPr>
            <a:r>
              <a:rPr sz="1050" spc="-155" dirty="0">
                <a:latin typeface="Malgun Gothic"/>
                <a:cs typeface="Malgun Gothic"/>
              </a:rPr>
              <a:t>현금</a:t>
            </a:r>
            <a:r>
              <a:rPr sz="1050" spc="-100" dirty="0">
                <a:latin typeface="Malgun Gothic"/>
                <a:cs typeface="Malgun Gothic"/>
              </a:rPr>
              <a:t> </a:t>
            </a:r>
            <a:r>
              <a:rPr sz="1050" spc="-25" dirty="0">
                <a:latin typeface="Malgun Gothic"/>
                <a:cs typeface="Malgun Gothic"/>
              </a:rPr>
              <a:t>배당</a:t>
            </a:r>
            <a:r>
              <a:rPr sz="1050" dirty="0">
                <a:latin typeface="Malgun Gothic"/>
                <a:cs typeface="Malgun Gothic"/>
              </a:rPr>
              <a:t>	</a:t>
            </a:r>
            <a:r>
              <a:rPr sz="1000" dirty="0">
                <a:latin typeface="Malgun Gothic Semilight"/>
                <a:cs typeface="Malgun Gothic Semilight"/>
              </a:rPr>
              <a:t>-</a:t>
            </a:r>
            <a:r>
              <a:rPr sz="1000" spc="-25" dirty="0">
                <a:latin typeface="Malgun Gothic Semilight"/>
                <a:cs typeface="Malgun Gothic Semilight"/>
              </a:rPr>
              <a:t> </a:t>
            </a:r>
            <a:r>
              <a:rPr sz="1000" spc="-140" dirty="0">
                <a:latin typeface="Malgun Gothic Semilight"/>
                <a:cs typeface="Malgun Gothic Semilight"/>
              </a:rPr>
              <a:t>선</a:t>
            </a:r>
            <a:r>
              <a:rPr sz="1000" spc="-25" dirty="0">
                <a:latin typeface="Malgun Gothic Semilight"/>
                <a:cs typeface="Malgun Gothic Semilight"/>
              </a:rPr>
              <a:t> </a:t>
            </a:r>
            <a:r>
              <a:rPr sz="1000" spc="-140" dirty="0">
                <a:latin typeface="Malgun Gothic Semilight"/>
                <a:cs typeface="Malgun Gothic Semilight"/>
              </a:rPr>
              <a:t>배당금</a:t>
            </a:r>
            <a:r>
              <a:rPr sz="1000" spc="-35" dirty="0">
                <a:latin typeface="Malgun Gothic Semilight"/>
                <a:cs typeface="Malgun Gothic Semilight"/>
              </a:rPr>
              <a:t> </a:t>
            </a:r>
            <a:r>
              <a:rPr sz="1000" spc="-90" dirty="0">
                <a:latin typeface="Malgun Gothic Semilight"/>
                <a:cs typeface="Malgun Gothic Semilight"/>
              </a:rPr>
              <a:t>확정,</a:t>
            </a:r>
            <a:r>
              <a:rPr sz="1000" spc="-15" dirty="0">
                <a:latin typeface="Malgun Gothic Semilight"/>
                <a:cs typeface="Malgun Gothic Semilight"/>
              </a:rPr>
              <a:t> </a:t>
            </a:r>
            <a:r>
              <a:rPr sz="1000" spc="-140" dirty="0">
                <a:latin typeface="Malgun Gothic Semilight"/>
                <a:cs typeface="Malgun Gothic Semilight"/>
              </a:rPr>
              <a:t>후</a:t>
            </a:r>
            <a:r>
              <a:rPr sz="1000" spc="-25" dirty="0">
                <a:latin typeface="Malgun Gothic Semilight"/>
                <a:cs typeface="Malgun Gothic Semilight"/>
              </a:rPr>
              <a:t> </a:t>
            </a:r>
            <a:r>
              <a:rPr sz="1000" spc="-140" dirty="0">
                <a:latin typeface="Malgun Gothic Semilight"/>
                <a:cs typeface="Malgun Gothic Semilight"/>
              </a:rPr>
              <a:t>배당기준일</a:t>
            </a:r>
            <a:r>
              <a:rPr sz="1000" spc="-35" dirty="0">
                <a:latin typeface="Malgun Gothic Semilight"/>
                <a:cs typeface="Malgun Gothic Semilight"/>
              </a:rPr>
              <a:t> </a:t>
            </a:r>
            <a:r>
              <a:rPr sz="1000" spc="-25" dirty="0">
                <a:latin typeface="Malgun Gothic Semilight"/>
                <a:cs typeface="Malgun Gothic Semilight"/>
              </a:rPr>
              <a:t>설정</a:t>
            </a:r>
            <a:endParaRPr sz="1000">
              <a:latin typeface="Malgun Gothic Semilight"/>
              <a:cs typeface="Malgun Gothic Semilight"/>
            </a:endParaRPr>
          </a:p>
          <a:p>
            <a:pPr marL="199390">
              <a:lnSpc>
                <a:spcPct val="100000"/>
              </a:lnSpc>
              <a:spcBef>
                <a:spcPts val="105"/>
              </a:spcBef>
              <a:tabLst>
                <a:tab pos="1320800" algn="l"/>
              </a:tabLst>
            </a:pPr>
            <a:r>
              <a:rPr sz="1050" spc="-155" dirty="0">
                <a:latin typeface="Malgun Gothic"/>
                <a:cs typeface="Malgun Gothic"/>
              </a:rPr>
              <a:t>예측</a:t>
            </a:r>
            <a:r>
              <a:rPr sz="1050" spc="-100" dirty="0">
                <a:latin typeface="Malgun Gothic"/>
                <a:cs typeface="Malgun Gothic"/>
              </a:rPr>
              <a:t> </a:t>
            </a:r>
            <a:r>
              <a:rPr sz="1050" spc="-160" dirty="0">
                <a:latin typeface="Malgun Gothic"/>
                <a:cs typeface="Malgun Gothic"/>
              </a:rPr>
              <a:t>가능성</a:t>
            </a:r>
            <a:r>
              <a:rPr sz="1050" spc="-90" dirty="0">
                <a:latin typeface="Malgun Gothic"/>
                <a:cs typeface="Malgun Gothic"/>
              </a:rPr>
              <a:t> </a:t>
            </a:r>
            <a:r>
              <a:rPr sz="1050" spc="-25" dirty="0">
                <a:latin typeface="Malgun Gothic"/>
                <a:cs typeface="Malgun Gothic"/>
              </a:rPr>
              <a:t>제고</a:t>
            </a:r>
            <a:r>
              <a:rPr sz="1050" dirty="0">
                <a:latin typeface="Malgun Gothic"/>
                <a:cs typeface="Malgun Gothic"/>
              </a:rPr>
              <a:t>	</a:t>
            </a:r>
            <a:r>
              <a:rPr sz="1500" baseline="2777" dirty="0">
                <a:latin typeface="Malgun Gothic Semilight"/>
                <a:cs typeface="Malgun Gothic Semilight"/>
              </a:rPr>
              <a:t>-</a:t>
            </a:r>
            <a:r>
              <a:rPr sz="1500" spc="-44" baseline="2777" dirty="0">
                <a:latin typeface="Malgun Gothic Semilight"/>
                <a:cs typeface="Malgun Gothic Semilight"/>
              </a:rPr>
              <a:t> </a:t>
            </a:r>
            <a:r>
              <a:rPr sz="1500" spc="-209" baseline="2777" dirty="0">
                <a:latin typeface="Malgun Gothic Semilight"/>
                <a:cs typeface="Malgun Gothic Semilight"/>
              </a:rPr>
              <a:t>배당정책</a:t>
            </a:r>
            <a:r>
              <a:rPr sz="1500" spc="-37" baseline="2777" dirty="0">
                <a:latin typeface="Malgun Gothic Semilight"/>
                <a:cs typeface="Malgun Gothic Semilight"/>
              </a:rPr>
              <a:t> </a:t>
            </a:r>
            <a:r>
              <a:rPr sz="1500" spc="-209" baseline="2777" dirty="0">
                <a:latin typeface="Malgun Gothic Semilight"/>
                <a:cs typeface="Malgun Gothic Semilight"/>
              </a:rPr>
              <a:t>및</a:t>
            </a:r>
            <a:r>
              <a:rPr sz="1500" spc="-60" baseline="2777" dirty="0">
                <a:latin typeface="Malgun Gothic Semilight"/>
                <a:cs typeface="Malgun Gothic Semilight"/>
              </a:rPr>
              <a:t> </a:t>
            </a:r>
            <a:r>
              <a:rPr sz="1500" spc="-209" baseline="2777" dirty="0">
                <a:latin typeface="Malgun Gothic Semilight"/>
                <a:cs typeface="Malgun Gothic Semilight"/>
              </a:rPr>
              <a:t>계획</a:t>
            </a:r>
            <a:r>
              <a:rPr sz="1500" spc="-37" baseline="2777" dirty="0">
                <a:latin typeface="Malgun Gothic Semilight"/>
                <a:cs typeface="Malgun Gothic Semilight"/>
              </a:rPr>
              <a:t> </a:t>
            </a:r>
            <a:r>
              <a:rPr sz="1500" spc="-209" baseline="2777" dirty="0">
                <a:latin typeface="Malgun Gothic Semilight"/>
                <a:cs typeface="Malgun Gothic Semilight"/>
              </a:rPr>
              <a:t>사전</a:t>
            </a:r>
            <a:r>
              <a:rPr sz="1500" spc="-52" baseline="2777" dirty="0">
                <a:latin typeface="Malgun Gothic Semilight"/>
                <a:cs typeface="Malgun Gothic Semilight"/>
              </a:rPr>
              <a:t> </a:t>
            </a:r>
            <a:r>
              <a:rPr sz="1500" spc="-37" baseline="2777" dirty="0">
                <a:latin typeface="Malgun Gothic Semilight"/>
                <a:cs typeface="Malgun Gothic Semilight"/>
              </a:rPr>
              <a:t>통지</a:t>
            </a:r>
            <a:endParaRPr sz="1500" baseline="2777">
              <a:latin typeface="Malgun Gothic Semilight"/>
              <a:cs typeface="Malgun Gothic Semiligh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594852" y="5886094"/>
            <a:ext cx="23818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0" dirty="0">
                <a:latin typeface="Malgun Gothic"/>
                <a:cs typeface="Malgun Gothic"/>
              </a:rPr>
              <a:t>차입금</a:t>
            </a:r>
            <a:r>
              <a:rPr sz="1200" b="1" spc="-150" dirty="0">
                <a:latin typeface="Malgun Gothic"/>
                <a:cs typeface="Malgun Gothic"/>
              </a:rPr>
              <a:t> </a:t>
            </a:r>
            <a:r>
              <a:rPr sz="1200" b="1" spc="-195" dirty="0">
                <a:latin typeface="Malgun Gothic"/>
                <a:cs typeface="Malgun Gothic"/>
              </a:rPr>
              <a:t>지속</a:t>
            </a:r>
            <a:r>
              <a:rPr sz="1200" b="1" spc="-165" dirty="0">
                <a:latin typeface="Malgun Gothic"/>
                <a:cs typeface="Malgun Gothic"/>
              </a:rPr>
              <a:t> </a:t>
            </a:r>
            <a:r>
              <a:rPr sz="1200" b="1" spc="-200" dirty="0">
                <a:latin typeface="Malgun Gothic"/>
                <a:cs typeface="Malgun Gothic"/>
              </a:rPr>
              <a:t>상환을</a:t>
            </a:r>
            <a:r>
              <a:rPr sz="1200" b="1" spc="-135" dirty="0">
                <a:latin typeface="Malgun Gothic"/>
                <a:cs typeface="Malgun Gothic"/>
              </a:rPr>
              <a:t> </a:t>
            </a:r>
            <a:r>
              <a:rPr sz="1200" b="1" spc="-195" dirty="0">
                <a:latin typeface="Malgun Gothic"/>
                <a:cs typeface="Malgun Gothic"/>
              </a:rPr>
              <a:t>통한</a:t>
            </a:r>
            <a:r>
              <a:rPr sz="1200" b="1" spc="-155" dirty="0">
                <a:latin typeface="Malgun Gothic"/>
                <a:cs typeface="Malgun Gothic"/>
              </a:rPr>
              <a:t> </a:t>
            </a:r>
            <a:r>
              <a:rPr sz="1200" b="1" spc="-204" dirty="0">
                <a:latin typeface="Malgun Gothic"/>
                <a:cs typeface="Malgun Gothic"/>
              </a:rPr>
              <a:t>재무건전성</a:t>
            </a:r>
            <a:r>
              <a:rPr sz="1200" b="1" spc="-125" dirty="0">
                <a:latin typeface="Malgun Gothic"/>
                <a:cs typeface="Malgun Gothic"/>
              </a:rPr>
              <a:t> </a:t>
            </a:r>
            <a:r>
              <a:rPr sz="1200" b="1" spc="-105" dirty="0">
                <a:latin typeface="Malgun Gothic"/>
                <a:cs typeface="Malgun Gothic"/>
              </a:rPr>
              <a:t>개선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7931" y="6678168"/>
            <a:ext cx="11687175" cy="0"/>
          </a:xfrm>
          <a:custGeom>
            <a:avLst/>
            <a:gdLst/>
            <a:ahLst/>
            <a:cxnLst/>
            <a:rect l="l" t="t" r="r" b="b"/>
            <a:pathLst>
              <a:path w="11687175">
                <a:moveTo>
                  <a:pt x="0" y="0"/>
                </a:moveTo>
                <a:lnTo>
                  <a:pt x="1168666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1449</Words>
  <Application>Microsoft Office PowerPoint</Application>
  <PresentationFormat>와이드스크린</PresentationFormat>
  <Paragraphs>653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Malgun Gothic Semilight</vt:lpstr>
      <vt:lpstr>Malgun Gothic</vt:lpstr>
      <vt:lpstr>Batang</vt:lpstr>
      <vt:lpstr>Arial</vt:lpstr>
      <vt:lpstr>Lucida Sans</vt:lpstr>
      <vt:lpstr>Times New Roman</vt:lpstr>
      <vt:lpstr>Office Theme</vt:lpstr>
      <vt:lpstr>The innovating pioneer for a sustainable tomorrow</vt:lpstr>
      <vt:lpstr>PowerPoint 프레젠테이션</vt:lpstr>
      <vt:lpstr>PowerPoint 프레젠테이션</vt:lpstr>
      <vt:lpstr>2Q26 재무현황</vt:lpstr>
      <vt:lpstr>PowerPoint 프레젠테이션</vt:lpstr>
      <vt:lpstr>PowerPoint 프레젠테이션</vt:lpstr>
      <vt:lpstr>PowerPoint 프레젠테이션</vt:lpstr>
      <vt:lpstr>PowerPoint 프레젠테이션</vt:lpstr>
      <vt:lpstr>Total Defense Solution Provider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2Q26 한화에어로스페이스 IR Presentation(국문)_V5.5_(1).pptx</dc:title>
  <dc:creator>lee brett</dc:creator>
  <cp:lastModifiedBy>user</cp:lastModifiedBy>
  <cp:revision>1</cp:revision>
  <dcterms:created xsi:type="dcterms:W3CDTF">2026-09-03T11:06:41Z</dcterms:created>
  <dcterms:modified xsi:type="dcterms:W3CDTF">2026-09-03T11:22:53Z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2026-08-19T00:00:00Z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2026-09-03T00:00:00Z</vt:filetime>
  </property>
  <property fmtid="{D5CDD505-2E9C-101B-9397-08002B2CF9AE}" pid="6" name="Producer">
    <vt:lpwstr>3-Heights(TM) PDF Security Shell 4.8.25.2 (http://www.pdf-tools.com)</vt:lpwstr>
  </property>
</Properties>
</file>